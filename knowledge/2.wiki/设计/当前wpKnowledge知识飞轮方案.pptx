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WIDE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07084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07084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5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B7C9"/>
          </a:solidFill>
          <a:ln w="12700">
            <a:solidFill>
              <a:srgbClr val="16B7C9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7132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B7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WPKNOWLEDGE · PR #20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170432"/>
            <a:ext cx="10789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当前wpKnowledge知识飞轮方案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57984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C5D3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代码评审结论 · 多 Agent demo 进度 · 语义分块方案 · 下一步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5800" y="3035808"/>
            <a:ext cx="10835640" cy="1481328"/>
          </a:xfrm>
          <a:prstGeom prst="roundRect">
            <a:avLst>
              <a:gd name="adj" fmla="val 4321"/>
            </a:avLst>
          </a:prstGeom>
          <a:solidFill>
            <a:srgbClr val="173A5E"/>
          </a:solidFill>
          <a:ln w="12700">
            <a:solidFill>
              <a:srgbClr val="3151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33375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B7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本次基线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67588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 #20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776dac5 → b6973a8（代码修复）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224528" y="33375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B7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验证结果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224528" y="367588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typecheck / specs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 / 50 tests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479792" y="33375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B7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汇报日期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479792" y="367588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2026-09-02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Asia / Beijing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6099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9FB2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范围：wpKnowledge 当前分支 codex/embedded-domain-knowledge；domain-knowledge 仅作只读对照。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9454896" y="6044184"/>
            <a:ext cx="960120" cy="265176"/>
          </a:xfrm>
          <a:prstGeom prst="roundRect">
            <a:avLst>
              <a:gd name="adj" fmla="val 24138"/>
            </a:avLst>
          </a:prstGeom>
          <a:solidFill>
            <a:srgbClr val="229B6A"/>
          </a:solidFill>
          <a:ln w="12700">
            <a:solidFill>
              <a:srgbClr val="229B6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528048" y="6080760"/>
            <a:ext cx="8138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IMPLEMENTED</a:t>
            </a:r>
            <a:endParaRPr lang="en-US" sz="730" dirty="0"/>
          </a:p>
        </p:txBody>
      </p:sp>
      <p:sp>
        <p:nvSpPr>
          <p:cNvPr id="16" name="Shape 14"/>
          <p:cNvSpPr/>
          <p:nvPr/>
        </p:nvSpPr>
        <p:spPr>
          <a:xfrm>
            <a:off x="10515600" y="6044184"/>
            <a:ext cx="603504" cy="265176"/>
          </a:xfrm>
          <a:prstGeom prst="roundRect">
            <a:avLst>
              <a:gd name="adj" fmla="val 24138"/>
            </a:avLst>
          </a:prstGeom>
          <a:solidFill>
            <a:srgbClr val="E8892E"/>
          </a:solidFill>
          <a:ln w="12700">
            <a:solidFill>
              <a:srgbClr val="E889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88752" y="6080760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11219688" y="6044184"/>
            <a:ext cx="749808" cy="265176"/>
          </a:xfrm>
          <a:prstGeom prst="roundRect">
            <a:avLst>
              <a:gd name="adj" fmla="val 24138"/>
            </a:avLst>
          </a:prstGeom>
          <a:solidFill>
            <a:srgbClr val="7656D6"/>
          </a:solidFill>
          <a:ln w="12700">
            <a:solidFill>
              <a:srgbClr val="7656D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1292840" y="6080760"/>
            <a:ext cx="60350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PLANNED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07084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6517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6B7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 REVIEW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466344"/>
            <a:ext cx="9738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5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评审结论：边界方向正确，两处事实源问题已修复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10405872" y="402336"/>
            <a:ext cx="1261872" cy="265176"/>
          </a:xfrm>
          <a:prstGeom prst="roundRect">
            <a:avLst>
              <a:gd name="adj" fmla="val 24138"/>
            </a:avLst>
          </a:prstGeom>
          <a:solidFill>
            <a:srgbClr val="229B6A"/>
          </a:solidFill>
          <a:ln w="12700">
            <a:solidFill>
              <a:srgbClr val="229B6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79024" y="438912"/>
            <a:ext cx="11155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IMPLEMENTED</a:t>
            </a:r>
            <a:endParaRPr lang="en-US" sz="770" dirty="0"/>
          </a:p>
        </p:txBody>
      </p:sp>
      <p:sp>
        <p:nvSpPr>
          <p:cNvPr id="6" name="Shape 4"/>
          <p:cNvSpPr/>
          <p:nvPr/>
        </p:nvSpPr>
        <p:spPr>
          <a:xfrm>
            <a:off x="502920" y="1069848"/>
            <a:ext cx="1118311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6501384"/>
            <a:ext cx="106253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1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代码：packages/application/src/automated-project-workflow.ts；packages/domain/src/index.ts；commit b6973a8</a:t>
            </a:r>
            <a:endParaRPr lang="en-US" sz="710" dirty="0"/>
          </a:p>
        </p:txBody>
      </p:sp>
      <p:sp>
        <p:nvSpPr>
          <p:cNvPr id="8" name="Shape 6"/>
          <p:cNvSpPr/>
          <p:nvPr/>
        </p:nvSpPr>
        <p:spPr>
          <a:xfrm>
            <a:off x="548640" y="1344168"/>
            <a:ext cx="3493008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344168"/>
            <a:ext cx="64008" cy="1828800"/>
          </a:xfrm>
          <a:prstGeom prst="rect">
            <a:avLst/>
          </a:prstGeom>
          <a:solidFill>
            <a:srgbClr val="229B6A"/>
          </a:solidFill>
          <a:ln w="12700">
            <a:solidFill>
              <a:srgbClr val="229B6A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145389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边界合理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68096" y="1938528"/>
            <a:ext cx="64008" cy="64008"/>
          </a:xfrm>
          <a:prstGeom prst="ellipse">
            <a:avLst/>
          </a:prstGeom>
          <a:solidFill>
            <a:srgbClr val="229B6A"/>
          </a:solidFill>
          <a:ln w="12700">
            <a:solidFill>
              <a:srgbClr val="229B6A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96112" y="1856232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LangGraph 负责节点调度、重试、取消与 checkpoint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68096" y="2249424"/>
            <a:ext cx="64008" cy="64008"/>
          </a:xfrm>
          <a:prstGeom prst="ellipse">
            <a:avLst/>
          </a:prstGeom>
          <a:solidFill>
            <a:srgbClr val="229B6A"/>
          </a:solidFill>
          <a:ln w="12700">
            <a:solidFill>
              <a:srgbClr val="229B6A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6112" y="2167128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wpKnowledge 保留 Run、版本、证据、Gate 与 Publication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68096" y="2560320"/>
            <a:ext cx="64008" cy="64008"/>
          </a:xfrm>
          <a:prstGeom prst="ellipse">
            <a:avLst/>
          </a:prstGeom>
          <a:solidFill>
            <a:srgbClr val="229B6A"/>
          </a:solidFill>
          <a:ln w="12700">
            <a:solidFill>
              <a:srgbClr val="229B6A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2478024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Infrastructure → Ports → Application / Domain 的依赖方向未反转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43400" y="1344168"/>
            <a:ext cx="3493008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43400" y="1344168"/>
            <a:ext cx="64008" cy="1828800"/>
          </a:xfrm>
          <a:prstGeom prst="rect">
            <a:avLst/>
          </a:prstGeom>
          <a:solidFill>
            <a:srgbClr val="D95852"/>
          </a:solidFill>
          <a:ln w="12700">
            <a:solidFill>
              <a:srgbClr val="D9585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44568" y="145389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 01 · Gate 顺序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4562856" y="1938528"/>
            <a:ext cx="64008" cy="64008"/>
          </a:xfrm>
          <a:prstGeom prst="ellipse">
            <a:avLst/>
          </a:prstGeom>
          <a:solidFill>
            <a:srgbClr val="D95852"/>
          </a:solidFill>
          <a:ln w="12700">
            <a:solidFill>
              <a:srgbClr val="D95852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90872" y="1856232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原实现先产生 GateDecision，再运行 Review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62856" y="2249424"/>
            <a:ext cx="64008" cy="64008"/>
          </a:xfrm>
          <a:prstGeom prst="ellipse">
            <a:avLst/>
          </a:prstGeom>
          <a:solidFill>
            <a:srgbClr val="D95852"/>
          </a:solidFill>
          <a:ln w="12700">
            <a:solidFill>
              <a:srgbClr val="D95852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90872" y="2167128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 Review 后绑定 Oracle / Check / Review 产物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62856" y="2560320"/>
            <a:ext cx="64008" cy="64008"/>
          </a:xfrm>
          <a:prstGeom prst="ellipse">
            <a:avLst/>
          </a:prstGeom>
          <a:solidFill>
            <a:srgbClr val="D95852"/>
          </a:solidFill>
          <a:ln w="12700">
            <a:solidFill>
              <a:srgbClr val="D95852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690872" y="2478024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 或 Review blocking 会触发 ITERATE / STOPPED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138160" y="1344168"/>
            <a:ext cx="3493008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0" y="1344168"/>
            <a:ext cx="64008" cy="1828800"/>
          </a:xfrm>
          <a:prstGeom prst="rect">
            <a:avLst/>
          </a:prstGeom>
          <a:solidFill>
            <a:srgbClr val="D95852"/>
          </a:solidFill>
          <a:ln w="12700">
            <a:solidFill>
              <a:srgbClr val="D95852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339328" y="145389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 02 · 单一事实源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8357616" y="1938528"/>
            <a:ext cx="64008" cy="64008"/>
          </a:xfrm>
          <a:prstGeom prst="ellipse">
            <a:avLst/>
          </a:prstGeom>
          <a:solidFill>
            <a:srgbClr val="D95852"/>
          </a:solidFill>
          <a:ln w="12700">
            <a:solidFill>
              <a:srgbClr val="D95852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485632" y="1856232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GraphState 与 FlywheelRun 都从 iteration 0 起步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357616" y="2249424"/>
            <a:ext cx="64008" cy="64008"/>
          </a:xfrm>
          <a:prstGeom prst="ellipse">
            <a:avLst/>
          </a:prstGeom>
          <a:solidFill>
            <a:srgbClr val="D95852"/>
          </a:solidFill>
          <a:ln w="12700">
            <a:solidFill>
              <a:srgbClr val="D95852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485632" y="2167128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workflow_router 不再私自改写业务 Gate 决定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357616" y="2560320"/>
            <a:ext cx="64008" cy="64008"/>
          </a:xfrm>
          <a:prstGeom prst="ellipse">
            <a:avLst/>
          </a:prstGeom>
          <a:solidFill>
            <a:srgbClr val="D95852"/>
          </a:solidFill>
          <a:ln w="12700">
            <a:solidFill>
              <a:srgbClr val="D95852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485632" y="2478024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 Domain Gate 决定 PASS / ITERATE / STOPPED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3502152"/>
            <a:ext cx="11082528" cy="1645920"/>
          </a:xfrm>
          <a:prstGeom prst="roundRect">
            <a:avLst>
              <a:gd name="adj" fmla="val 3889"/>
            </a:avLst>
          </a:prstGeom>
          <a:solidFill>
            <a:srgbClr val="10253F"/>
          </a:solidFill>
          <a:ln w="12700">
            <a:solidFill>
              <a:srgbClr val="10253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2960" y="37307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B7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最终权威链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22960" y="4114800"/>
            <a:ext cx="1325880" cy="502920"/>
          </a:xfrm>
          <a:prstGeom prst="roundRect">
            <a:avLst>
              <a:gd name="adj" fmla="val 12727"/>
            </a:avLst>
          </a:prstGeom>
          <a:solidFill>
            <a:srgbClr val="173A5E"/>
          </a:solidFill>
          <a:ln w="12700">
            <a:solidFill>
              <a:srgbClr val="3976E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96112" y="4151376"/>
            <a:ext cx="11795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CANDIDATE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2212848" y="4197096"/>
            <a:ext cx="201168" cy="310896"/>
          </a:xfrm>
          <a:prstGeom prst="chevron">
            <a:avLst/>
          </a:prstGeom>
          <a:solidFill>
            <a:srgbClr val="16B7C9"/>
          </a:solidFill>
          <a:ln w="12700">
            <a:solidFill>
              <a:srgbClr val="16B7C9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41448" y="4114800"/>
            <a:ext cx="1572768" cy="502920"/>
          </a:xfrm>
          <a:prstGeom prst="roundRect">
            <a:avLst>
              <a:gd name="adj" fmla="val 12727"/>
            </a:avLst>
          </a:prstGeom>
          <a:solidFill>
            <a:srgbClr val="173A5E"/>
          </a:solidFill>
          <a:ln w="12700">
            <a:solidFill>
              <a:srgbClr val="7656D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514600" y="4151376"/>
            <a:ext cx="14264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EvaluationReport</a:t>
            </a:r>
            <a:endParaRPr lang="en-US" sz="1080" dirty="0"/>
          </a:p>
        </p:txBody>
      </p:sp>
      <p:sp>
        <p:nvSpPr>
          <p:cNvPr id="42" name="Shape 40"/>
          <p:cNvSpPr/>
          <p:nvPr/>
        </p:nvSpPr>
        <p:spPr>
          <a:xfrm>
            <a:off x="4078224" y="4197096"/>
            <a:ext cx="201168" cy="310896"/>
          </a:xfrm>
          <a:prstGeom prst="chevron">
            <a:avLst/>
          </a:prstGeom>
          <a:solidFill>
            <a:srgbClr val="16B7C9"/>
          </a:solidFill>
          <a:ln w="12700">
            <a:solidFill>
              <a:srgbClr val="16B7C9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306824" y="4114800"/>
            <a:ext cx="1444752" cy="502920"/>
          </a:xfrm>
          <a:prstGeom prst="roundRect">
            <a:avLst>
              <a:gd name="adj" fmla="val 12727"/>
            </a:avLst>
          </a:prstGeom>
          <a:solidFill>
            <a:srgbClr val="173A5E"/>
          </a:solidFill>
          <a:ln w="12700">
            <a:solidFill>
              <a:srgbClr val="E8892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379976" y="4151376"/>
            <a:ext cx="12984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GateDecision</a:t>
            </a:r>
            <a:endParaRPr lang="en-US" sz="1080" dirty="0"/>
          </a:p>
        </p:txBody>
      </p:sp>
      <p:sp>
        <p:nvSpPr>
          <p:cNvPr id="45" name="Shape 43"/>
          <p:cNvSpPr/>
          <p:nvPr/>
        </p:nvSpPr>
        <p:spPr>
          <a:xfrm>
            <a:off x="5815584" y="4197096"/>
            <a:ext cx="201168" cy="310896"/>
          </a:xfrm>
          <a:prstGeom prst="chevron">
            <a:avLst/>
          </a:prstGeom>
          <a:solidFill>
            <a:srgbClr val="16B7C9"/>
          </a:solidFill>
          <a:ln w="12700">
            <a:solidFill>
              <a:srgbClr val="16B7C9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044184" y="4114800"/>
            <a:ext cx="1508760" cy="502920"/>
          </a:xfrm>
          <a:prstGeom prst="roundRect">
            <a:avLst>
              <a:gd name="adj" fmla="val 12727"/>
            </a:avLst>
          </a:prstGeom>
          <a:solidFill>
            <a:srgbClr val="173A5E"/>
          </a:solidFill>
          <a:ln w="12700">
            <a:solidFill>
              <a:srgbClr val="229B6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117336" y="4151376"/>
            <a:ext cx="13624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wp Publication</a:t>
            </a:r>
            <a:endParaRPr lang="en-US" sz="1080" dirty="0"/>
          </a:p>
        </p:txBody>
      </p:sp>
      <p:sp>
        <p:nvSpPr>
          <p:cNvPr id="48" name="Shape 46"/>
          <p:cNvSpPr/>
          <p:nvPr/>
        </p:nvSpPr>
        <p:spPr>
          <a:xfrm>
            <a:off x="7616952" y="4197096"/>
            <a:ext cx="201168" cy="310896"/>
          </a:xfrm>
          <a:prstGeom prst="chevron">
            <a:avLst/>
          </a:prstGeom>
          <a:solidFill>
            <a:srgbClr val="16B7C9"/>
          </a:solidFill>
          <a:ln w="12700">
            <a:solidFill>
              <a:srgbClr val="16B7C9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845552" y="4114800"/>
            <a:ext cx="1188720" cy="502920"/>
          </a:xfrm>
          <a:prstGeom prst="roundRect">
            <a:avLst>
              <a:gd name="adj" fmla="val 12727"/>
            </a:avLst>
          </a:prstGeom>
          <a:solidFill>
            <a:srgbClr val="173A5E"/>
          </a:solidFill>
          <a:ln w="12700">
            <a:solidFill>
              <a:srgbClr val="229B6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918704" y="4151376"/>
            <a:ext cx="10424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VERIFIED</a:t>
            </a:r>
            <a:endParaRPr lang="en-US" sz="1080" dirty="0"/>
          </a:p>
        </p:txBody>
      </p:sp>
      <p:sp>
        <p:nvSpPr>
          <p:cNvPr id="51" name="Text 49"/>
          <p:cNvSpPr txBox="1"/>
          <p:nvPr/>
        </p:nvSpPr>
        <p:spPr>
          <a:xfrm>
            <a:off x="9189720" y="3831336"/>
            <a:ext cx="21031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只有最后一步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可以写入 VERIFIED</a:t>
            </a:r>
            <a:endParaRPr lang="en-US" sz="1350" dirty="0"/>
          </a:p>
        </p:txBody>
      </p:sp>
      <p:sp>
        <p:nvSpPr>
          <p:cNvPr id="52" name="Text 50"/>
          <p:cNvSpPr txBox="1"/>
          <p:nvPr/>
        </p:nvSpPr>
        <p:spPr>
          <a:xfrm>
            <a:off x="7479792" y="6089904"/>
            <a:ext cx="621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状态口径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8156448" y="6071616"/>
            <a:ext cx="932688" cy="265176"/>
          </a:xfrm>
          <a:prstGeom prst="roundRect">
            <a:avLst>
              <a:gd name="adj" fmla="val 24138"/>
            </a:avLst>
          </a:prstGeom>
          <a:solidFill>
            <a:srgbClr val="229B6A"/>
          </a:solidFill>
          <a:ln w="12700">
            <a:solidFill>
              <a:srgbClr val="229B6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229600" y="6108192"/>
            <a:ext cx="7863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IMPLEMENTED</a:t>
            </a:r>
            <a:endParaRPr lang="en-US" sz="730" dirty="0"/>
          </a:p>
        </p:txBody>
      </p:sp>
      <p:sp>
        <p:nvSpPr>
          <p:cNvPr id="55" name="Shape 53"/>
          <p:cNvSpPr/>
          <p:nvPr/>
        </p:nvSpPr>
        <p:spPr>
          <a:xfrm>
            <a:off x="9189720" y="6071616"/>
            <a:ext cx="603504" cy="265176"/>
          </a:xfrm>
          <a:prstGeom prst="roundRect">
            <a:avLst>
              <a:gd name="adj" fmla="val 24138"/>
            </a:avLst>
          </a:prstGeom>
          <a:solidFill>
            <a:srgbClr val="E8892E"/>
          </a:solidFill>
          <a:ln w="12700">
            <a:solidFill>
              <a:srgbClr val="E8892E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262872" y="6108192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</a:t>
            </a:r>
            <a:endParaRPr lang="en-US" sz="730" dirty="0"/>
          </a:p>
        </p:txBody>
      </p:sp>
      <p:sp>
        <p:nvSpPr>
          <p:cNvPr id="57" name="Shape 55"/>
          <p:cNvSpPr/>
          <p:nvPr/>
        </p:nvSpPr>
        <p:spPr>
          <a:xfrm>
            <a:off x="9893808" y="6071616"/>
            <a:ext cx="786384" cy="265176"/>
          </a:xfrm>
          <a:prstGeom prst="roundRect">
            <a:avLst>
              <a:gd name="adj" fmla="val 24138"/>
            </a:avLst>
          </a:prstGeom>
          <a:solidFill>
            <a:srgbClr val="7656D6"/>
          </a:solidFill>
          <a:ln w="12700">
            <a:solidFill>
              <a:srgbClr val="7656D6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9966960" y="6108192"/>
            <a:ext cx="640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PLANNED</a:t>
            </a:r>
            <a:endParaRPr lang="en-US" sz="730" dirty="0"/>
          </a:p>
        </p:txBody>
      </p:sp>
      <p:sp>
        <p:nvSpPr>
          <p:cNvPr id="59" name="Text 57"/>
          <p:cNvSpPr txBox="1"/>
          <p:nvPr/>
        </p:nvSpPr>
        <p:spPr>
          <a:xfrm>
            <a:off x="10789920" y="6089904"/>
            <a:ext cx="8412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以实际代码为准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07084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5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6517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6B7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466344"/>
            <a:ext cx="9738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职责边界：执行状态与业务事实并行，但不互相冒充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10405872" y="402336"/>
            <a:ext cx="1261872" cy="265176"/>
          </a:xfrm>
          <a:prstGeom prst="roundRect">
            <a:avLst>
              <a:gd name="adj" fmla="val 24138"/>
            </a:avLst>
          </a:prstGeom>
          <a:solidFill>
            <a:srgbClr val="229B6A"/>
          </a:solidFill>
          <a:ln w="12700">
            <a:solidFill>
              <a:srgbClr val="229B6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79024" y="438912"/>
            <a:ext cx="11155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IMPLEMENTED</a:t>
            </a:r>
            <a:endParaRPr lang="en-US" sz="770" dirty="0"/>
          </a:p>
        </p:txBody>
      </p:sp>
      <p:sp>
        <p:nvSpPr>
          <p:cNvPr id="6" name="Shape 4"/>
          <p:cNvSpPr/>
          <p:nvPr/>
        </p:nvSpPr>
        <p:spPr>
          <a:xfrm>
            <a:off x="502920" y="1069848"/>
            <a:ext cx="11183112" cy="0"/>
          </a:xfrm>
          <a:prstGeom prst="line">
            <a:avLst/>
          </a:prstGeom>
          <a:noFill/>
          <a:ln w="12700">
            <a:solidFill>
              <a:srgbClr val="3151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6501384"/>
            <a:ext cx="106253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10" dirty="0">
                <a:solidFill>
                  <a:srgbClr val="B9C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代码：infrastructure/domain-knowledge/src/{graph,state,runtime}.ts；apps/runner/src/composition.ts:72-129</a:t>
            </a:r>
            <a:endParaRPr lang="en-US" sz="710" dirty="0"/>
          </a:p>
        </p:txBody>
      </p:sp>
      <p:sp>
        <p:nvSpPr>
          <p:cNvPr id="8" name="Text 6"/>
          <p:cNvSpPr txBox="1"/>
          <p:nvPr/>
        </p:nvSpPr>
        <p:spPr>
          <a:xfrm>
            <a:off x="576072" y="1298448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B7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LANGGRAPH · 执行控制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1618488"/>
            <a:ext cx="5285232" cy="3657600"/>
          </a:xfrm>
          <a:prstGeom prst="roundRect">
            <a:avLst>
              <a:gd name="adj" fmla="val 1750"/>
            </a:avLst>
          </a:prstGeom>
          <a:solidFill>
            <a:srgbClr val="173A5E"/>
          </a:solidFill>
          <a:ln w="12700">
            <a:solidFill>
              <a:srgbClr val="3151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1984248"/>
            <a:ext cx="2057400" cy="841248"/>
          </a:xfrm>
          <a:prstGeom prst="roundRect">
            <a:avLst>
              <a:gd name="adj" fmla="val 7609"/>
            </a:avLst>
          </a:prstGeom>
          <a:solidFill>
            <a:srgbClr val="10253F"/>
          </a:solidFill>
          <a:ln w="16510">
            <a:solidFill>
              <a:srgbClr val="3976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32688" y="2048256"/>
            <a:ext cx="1874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GraphState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233172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9C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currentNode · route · iteration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18688" y="1984248"/>
            <a:ext cx="2057400" cy="841248"/>
          </a:xfrm>
          <a:prstGeom prst="roundRect">
            <a:avLst>
              <a:gd name="adj" fmla="val 7609"/>
            </a:avLst>
          </a:prstGeom>
          <a:solidFill>
            <a:srgbClr val="10253F"/>
          </a:solidFill>
          <a:ln w="16510">
            <a:solidFill>
              <a:srgbClr val="7656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10128" y="2048256"/>
            <a:ext cx="1874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Checkpoint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310128" y="233172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9C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thread_id · resume · attempts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41248" y="3264408"/>
            <a:ext cx="2057400" cy="841248"/>
          </a:xfrm>
          <a:prstGeom prst="roundRect">
            <a:avLst>
              <a:gd name="adj" fmla="val 7609"/>
            </a:avLst>
          </a:prstGeom>
          <a:solidFill>
            <a:srgbClr val="10253F"/>
          </a:solidFill>
          <a:ln w="16510">
            <a:solidFill>
              <a:srgbClr val="16B7C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2688" y="3328416"/>
            <a:ext cx="1874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361188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9C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RUNNING / COMPLETED / FAILED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18688" y="3264408"/>
            <a:ext cx="2057400" cy="841248"/>
          </a:xfrm>
          <a:prstGeom prst="roundRect">
            <a:avLst>
              <a:gd name="adj" fmla="val 7609"/>
            </a:avLst>
          </a:prstGeom>
          <a:solidFill>
            <a:srgbClr val="10253F"/>
          </a:solidFill>
          <a:ln w="16510">
            <a:solidFill>
              <a:srgbClr val="E889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310128" y="3328416"/>
            <a:ext cx="1874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AbortSignal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310128" y="361188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9C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协作式取消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841248" y="4754880"/>
            <a:ext cx="4617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5D3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不持有 KnowledgeVersion / GateDecision / Publication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345936" y="1298448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B7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WPKNOWLEDGE REGISTRY · 业务事实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09360" y="1618488"/>
            <a:ext cx="5321808" cy="3657600"/>
          </a:xfrm>
          <a:prstGeom prst="roundRect">
            <a:avLst>
              <a:gd name="adj" fmla="val 1750"/>
            </a:avLst>
          </a:prstGeom>
          <a:solidFill>
            <a:srgbClr val="F7FAFC"/>
          </a:solidFill>
          <a:ln w="12700">
            <a:solidFill>
              <a:srgbClr val="3151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01968" y="1984248"/>
            <a:ext cx="205740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6510">
            <a:solidFill>
              <a:srgbClr val="3976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93408" y="2048256"/>
            <a:ext cx="1874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FlywheelRun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693408" y="233172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 + 业务 iteration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979408" y="1984248"/>
            <a:ext cx="205740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6510">
            <a:solidFill>
              <a:srgbClr val="7656D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070848" y="2048256"/>
            <a:ext cx="1874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 / Evidence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070848" y="233172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sha256 不可变引用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601968" y="3264408"/>
            <a:ext cx="205740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6510">
            <a:solidFill>
              <a:srgbClr val="E8892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693408" y="3328416"/>
            <a:ext cx="1874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GateDecision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693408" y="361188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 + reasonCodes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979408" y="3264408"/>
            <a:ext cx="205740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6510">
            <a:solidFill>
              <a:srgbClr val="229B6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070848" y="3328416"/>
            <a:ext cx="1874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Publication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070848" y="361188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原子写入 VERIFIED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6620256" y="4754880"/>
            <a:ext cx="4617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业务事件与 SQLite 投影由同一 Application Service 写入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925312" y="3090672"/>
            <a:ext cx="274320" cy="438912"/>
          </a:xfrm>
          <a:prstGeom prst="chevron">
            <a:avLst/>
          </a:prstGeom>
          <a:solidFill>
            <a:srgbClr val="16B7C9"/>
          </a:solidFill>
          <a:ln w="12700">
            <a:solidFill>
              <a:srgbClr val="16B7C9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394960" y="35661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9C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Ports / contracts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7479792" y="6089904"/>
            <a:ext cx="621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9C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状态口径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8156448" y="6071616"/>
            <a:ext cx="932688" cy="265176"/>
          </a:xfrm>
          <a:prstGeom prst="roundRect">
            <a:avLst>
              <a:gd name="adj" fmla="val 24138"/>
            </a:avLst>
          </a:prstGeom>
          <a:solidFill>
            <a:srgbClr val="229B6A"/>
          </a:solidFill>
          <a:ln w="12700">
            <a:solidFill>
              <a:srgbClr val="229B6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229600" y="6108192"/>
            <a:ext cx="7863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IMPLEMENTED</a:t>
            </a:r>
            <a:endParaRPr lang="en-US" sz="730" dirty="0"/>
          </a:p>
        </p:txBody>
      </p:sp>
      <p:sp>
        <p:nvSpPr>
          <p:cNvPr id="43" name="Shape 41"/>
          <p:cNvSpPr/>
          <p:nvPr/>
        </p:nvSpPr>
        <p:spPr>
          <a:xfrm>
            <a:off x="9189720" y="6071616"/>
            <a:ext cx="603504" cy="265176"/>
          </a:xfrm>
          <a:prstGeom prst="roundRect">
            <a:avLst>
              <a:gd name="adj" fmla="val 24138"/>
            </a:avLst>
          </a:prstGeom>
          <a:solidFill>
            <a:srgbClr val="E8892E"/>
          </a:solidFill>
          <a:ln w="12700">
            <a:solidFill>
              <a:srgbClr val="E8892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262872" y="6108192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</a:t>
            </a:r>
            <a:endParaRPr lang="en-US" sz="730" dirty="0"/>
          </a:p>
        </p:txBody>
      </p:sp>
      <p:sp>
        <p:nvSpPr>
          <p:cNvPr id="45" name="Shape 43"/>
          <p:cNvSpPr/>
          <p:nvPr/>
        </p:nvSpPr>
        <p:spPr>
          <a:xfrm>
            <a:off x="9893808" y="6071616"/>
            <a:ext cx="786384" cy="265176"/>
          </a:xfrm>
          <a:prstGeom prst="roundRect">
            <a:avLst>
              <a:gd name="adj" fmla="val 24138"/>
            </a:avLst>
          </a:prstGeom>
          <a:solidFill>
            <a:srgbClr val="7656D6"/>
          </a:solidFill>
          <a:ln w="12700">
            <a:solidFill>
              <a:srgbClr val="7656D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966960" y="6108192"/>
            <a:ext cx="640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PLANNED</a:t>
            </a:r>
            <a:endParaRPr lang="en-US" sz="730" dirty="0"/>
          </a:p>
        </p:txBody>
      </p:sp>
      <p:sp>
        <p:nvSpPr>
          <p:cNvPr id="47" name="Text 45"/>
          <p:cNvSpPr txBox="1"/>
          <p:nvPr/>
        </p:nvSpPr>
        <p:spPr>
          <a:xfrm>
            <a:off x="10789920" y="6089904"/>
            <a:ext cx="8412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B9C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以实际代码为准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07084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6517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6B7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PROGRESS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466344"/>
            <a:ext cx="9738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5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当前进度：编排骨架已落地，真实 Agent 与语义分块仍未接入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10405872" y="402336"/>
            <a:ext cx="1261872" cy="265176"/>
          </a:xfrm>
          <a:prstGeom prst="roundRect">
            <a:avLst>
              <a:gd name="adj" fmla="val 24138"/>
            </a:avLst>
          </a:prstGeom>
          <a:solidFill>
            <a:srgbClr val="3976E8"/>
          </a:solidFill>
          <a:ln w="12700">
            <a:solidFill>
              <a:srgbClr val="3976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79024" y="438912"/>
            <a:ext cx="11155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IMPLEMENTED + DEMO</a:t>
            </a:r>
            <a:endParaRPr lang="en-US" sz="770" dirty="0"/>
          </a:p>
        </p:txBody>
      </p:sp>
      <p:sp>
        <p:nvSpPr>
          <p:cNvPr id="6" name="Shape 4"/>
          <p:cNvSpPr/>
          <p:nvPr/>
        </p:nvSpPr>
        <p:spPr>
          <a:xfrm>
            <a:off x="502920" y="1069848"/>
            <a:ext cx="1118311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6501384"/>
            <a:ext cx="106253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1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代码：contracts/src/index.ts:200-216；composition.ts:97-114；tests/acceptance/automated-langgraph-flow.test.ts</a:t>
            </a:r>
            <a:endParaRPr lang="en-US" sz="710" dirty="0"/>
          </a:p>
        </p:txBody>
      </p:sp>
      <p:sp>
        <p:nvSpPr>
          <p:cNvPr id="8" name="Shape 6"/>
          <p:cNvSpPr/>
          <p:nvPr/>
        </p:nvSpPr>
        <p:spPr>
          <a:xfrm>
            <a:off x="594360" y="1316736"/>
            <a:ext cx="3977640" cy="393192"/>
          </a:xfrm>
          <a:prstGeom prst="rect">
            <a:avLst/>
          </a:prstGeom>
          <a:solidFill>
            <a:srgbClr val="10253F"/>
          </a:solidFill>
          <a:ln w="12700">
            <a:solidFill>
              <a:srgbClr val="1025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7512" y="1353312"/>
            <a:ext cx="3831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90288" y="1316736"/>
            <a:ext cx="1536192" cy="393192"/>
          </a:xfrm>
          <a:prstGeom prst="rect">
            <a:avLst/>
          </a:prstGeom>
          <a:solidFill>
            <a:srgbClr val="10253F"/>
          </a:solidFill>
          <a:ln w="12700">
            <a:solidFill>
              <a:srgbClr val="1025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1353312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IMPLEMENTED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63056" y="1316736"/>
            <a:ext cx="1207008" cy="393192"/>
          </a:xfrm>
          <a:prstGeom prst="rect">
            <a:avLst/>
          </a:prstGeom>
          <a:solidFill>
            <a:srgbClr val="10253F"/>
          </a:solidFill>
          <a:ln w="12700">
            <a:solidFill>
              <a:srgbClr val="1025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36208" y="1353312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406640" y="1316736"/>
            <a:ext cx="1335024" cy="393192"/>
          </a:xfrm>
          <a:prstGeom prst="rect">
            <a:avLst/>
          </a:prstGeom>
          <a:solidFill>
            <a:srgbClr val="10253F"/>
          </a:solidFill>
          <a:ln w="12700">
            <a:solidFill>
              <a:srgbClr val="10253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79792" y="13533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PLANNED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778240" y="1316736"/>
            <a:ext cx="2788920" cy="393192"/>
          </a:xfrm>
          <a:prstGeom prst="rect">
            <a:avLst/>
          </a:prstGeom>
          <a:solidFill>
            <a:srgbClr val="10253F"/>
          </a:solidFill>
          <a:ln w="12700">
            <a:solidFill>
              <a:srgbClr val="10253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851392" y="1353312"/>
            <a:ext cx="2642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" y="1764792"/>
            <a:ext cx="3977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7512" y="1801368"/>
            <a:ext cx="3831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Agent 节点 + LangGraph 路由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4590288" y="1764792"/>
            <a:ext cx="153619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63440" y="180136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163056" y="1764792"/>
            <a:ext cx="120700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36208" y="1801368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7406640" y="1764792"/>
            <a:ext cx="133502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79792" y="180136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8778240" y="1764792"/>
            <a:ext cx="2788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851392" y="1801368"/>
            <a:ext cx="2642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节点、投影、fan-out/join 可运行</a:t>
            </a:r>
            <a:endParaRPr lang="en-US" sz="920" dirty="0"/>
          </a:p>
        </p:txBody>
      </p:sp>
      <p:sp>
        <p:nvSpPr>
          <p:cNvPr id="28" name="Text 26"/>
          <p:cNvSpPr txBox="1"/>
          <p:nvPr/>
        </p:nvSpPr>
        <p:spPr>
          <a:xfrm>
            <a:off x="4590288" y="1810512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9B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94360" y="2276856"/>
            <a:ext cx="3977640" cy="457200"/>
          </a:xfrm>
          <a:prstGeom prst="rect">
            <a:avLst/>
          </a:prstGeom>
          <a:solidFill>
            <a:srgbClr val="EDF2F6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7512" y="2313432"/>
            <a:ext cx="3831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 graph checkpoint + Registry/CAS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4590288" y="2276856"/>
            <a:ext cx="1536192" cy="457200"/>
          </a:xfrm>
          <a:prstGeom prst="rect">
            <a:avLst/>
          </a:prstGeom>
          <a:solidFill>
            <a:srgbClr val="EDF2F6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663440" y="2313432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6163056" y="2276856"/>
            <a:ext cx="1207008" cy="457200"/>
          </a:xfrm>
          <a:prstGeom prst="rect">
            <a:avLst/>
          </a:prstGeom>
          <a:solidFill>
            <a:srgbClr val="EDF2F6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36208" y="2313432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7406640" y="2276856"/>
            <a:ext cx="1335024" cy="457200"/>
          </a:xfrm>
          <a:prstGeom prst="rect">
            <a:avLst/>
          </a:prstGeom>
          <a:solidFill>
            <a:srgbClr val="EDF2F6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479792" y="231343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8778240" y="2276856"/>
            <a:ext cx="2788920" cy="457200"/>
          </a:xfrm>
          <a:prstGeom prst="rect">
            <a:avLst/>
          </a:prstGeom>
          <a:solidFill>
            <a:srgbClr val="EDF2F6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851392" y="2313432"/>
            <a:ext cx="2642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两类状态分层持久化</a:t>
            </a:r>
            <a:endParaRPr lang="en-US" sz="920" dirty="0"/>
          </a:p>
        </p:txBody>
      </p:sp>
      <p:sp>
        <p:nvSpPr>
          <p:cNvPr id="39" name="Text 37"/>
          <p:cNvSpPr txBox="1"/>
          <p:nvPr/>
        </p:nvSpPr>
        <p:spPr>
          <a:xfrm>
            <a:off x="4590288" y="2322576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9B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94360" y="2788920"/>
            <a:ext cx="3977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67512" y="2825496"/>
            <a:ext cx="3831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ohMyWorkPanel 两轮闭环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4590288" y="2788920"/>
            <a:ext cx="153619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663440" y="2825496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920" dirty="0"/>
          </a:p>
        </p:txBody>
      </p:sp>
      <p:sp>
        <p:nvSpPr>
          <p:cNvPr id="44" name="Shape 42"/>
          <p:cNvSpPr/>
          <p:nvPr/>
        </p:nvSpPr>
        <p:spPr>
          <a:xfrm>
            <a:off x="6163056" y="2788920"/>
            <a:ext cx="120700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236208" y="2825496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920" dirty="0"/>
          </a:p>
        </p:txBody>
      </p:sp>
      <p:sp>
        <p:nvSpPr>
          <p:cNvPr id="46" name="Shape 44"/>
          <p:cNvSpPr/>
          <p:nvPr/>
        </p:nvSpPr>
        <p:spPr>
          <a:xfrm>
            <a:off x="7406640" y="2788920"/>
            <a:ext cx="133502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479792" y="282549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920" dirty="0"/>
          </a:p>
        </p:txBody>
      </p:sp>
      <p:sp>
        <p:nvSpPr>
          <p:cNvPr id="48" name="Shape 46"/>
          <p:cNvSpPr/>
          <p:nvPr/>
        </p:nvSpPr>
        <p:spPr>
          <a:xfrm>
            <a:off x="8778240" y="2788920"/>
            <a:ext cx="2788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851392" y="2825496"/>
            <a:ext cx="2642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静态资产驱动，不是 live Agent</a:t>
            </a:r>
            <a:endParaRPr lang="en-US" sz="920" dirty="0"/>
          </a:p>
        </p:txBody>
      </p:sp>
      <p:sp>
        <p:nvSpPr>
          <p:cNvPr id="50" name="Text 48"/>
          <p:cNvSpPr txBox="1"/>
          <p:nvPr/>
        </p:nvSpPr>
        <p:spPr>
          <a:xfrm>
            <a:off x="6163056" y="2834640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8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94360" y="3300984"/>
            <a:ext cx="3977640" cy="457200"/>
          </a:xfrm>
          <a:prstGeom prst="rect">
            <a:avLst/>
          </a:prstGeom>
          <a:solidFill>
            <a:srgbClr val="EDF2F6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67512" y="3337560"/>
            <a:ext cx="3831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TrustedProjectEvaluator</a:t>
            </a:r>
            <a:endParaRPr lang="en-US" sz="920" dirty="0"/>
          </a:p>
        </p:txBody>
      </p:sp>
      <p:sp>
        <p:nvSpPr>
          <p:cNvPr id="53" name="Shape 51"/>
          <p:cNvSpPr/>
          <p:nvPr/>
        </p:nvSpPr>
        <p:spPr>
          <a:xfrm>
            <a:off x="4590288" y="3300984"/>
            <a:ext cx="1536192" cy="457200"/>
          </a:xfrm>
          <a:prstGeom prst="rect">
            <a:avLst/>
          </a:prstGeom>
          <a:solidFill>
            <a:srgbClr val="EDF2F6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663440" y="3337560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920" dirty="0"/>
          </a:p>
        </p:txBody>
      </p:sp>
      <p:sp>
        <p:nvSpPr>
          <p:cNvPr id="55" name="Shape 53"/>
          <p:cNvSpPr/>
          <p:nvPr/>
        </p:nvSpPr>
        <p:spPr>
          <a:xfrm>
            <a:off x="6163056" y="3300984"/>
            <a:ext cx="1207008" cy="457200"/>
          </a:xfrm>
          <a:prstGeom prst="rect">
            <a:avLst/>
          </a:prstGeom>
          <a:solidFill>
            <a:srgbClr val="EDF2F6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236208" y="3337560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920" dirty="0"/>
          </a:p>
        </p:txBody>
      </p:sp>
      <p:sp>
        <p:nvSpPr>
          <p:cNvPr id="57" name="Shape 55"/>
          <p:cNvSpPr/>
          <p:nvPr/>
        </p:nvSpPr>
        <p:spPr>
          <a:xfrm>
            <a:off x="7406640" y="3300984"/>
            <a:ext cx="1335024" cy="457200"/>
          </a:xfrm>
          <a:prstGeom prst="rect">
            <a:avLst/>
          </a:prstGeom>
          <a:solidFill>
            <a:srgbClr val="EDF2F6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479792" y="33375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920" dirty="0"/>
          </a:p>
        </p:txBody>
      </p:sp>
      <p:sp>
        <p:nvSpPr>
          <p:cNvPr id="59" name="Shape 57"/>
          <p:cNvSpPr/>
          <p:nvPr/>
        </p:nvSpPr>
        <p:spPr>
          <a:xfrm>
            <a:off x="8778240" y="3300984"/>
            <a:ext cx="2788920" cy="457200"/>
          </a:xfrm>
          <a:prstGeom prst="rect">
            <a:avLst/>
          </a:prstGeom>
          <a:solidFill>
            <a:srgbClr val="EDF2F6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851392" y="3337560"/>
            <a:ext cx="2642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真实命令执行；不是敌对沙箱</a:t>
            </a:r>
            <a:endParaRPr lang="en-US" sz="920" dirty="0"/>
          </a:p>
        </p:txBody>
      </p:sp>
      <p:sp>
        <p:nvSpPr>
          <p:cNvPr id="61" name="Text 59"/>
          <p:cNvSpPr txBox="1"/>
          <p:nvPr/>
        </p:nvSpPr>
        <p:spPr>
          <a:xfrm>
            <a:off x="4590288" y="3346704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9B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6163056" y="3346704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8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594360" y="3813048"/>
            <a:ext cx="3977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67512" y="3849624"/>
            <a:ext cx="3831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promptAddon-only 配置</a:t>
            </a:r>
            <a:endParaRPr lang="en-US" sz="920" dirty="0"/>
          </a:p>
        </p:txBody>
      </p:sp>
      <p:sp>
        <p:nvSpPr>
          <p:cNvPr id="65" name="Shape 63"/>
          <p:cNvSpPr/>
          <p:nvPr/>
        </p:nvSpPr>
        <p:spPr>
          <a:xfrm>
            <a:off x="4590288" y="3813048"/>
            <a:ext cx="153619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4663440" y="3849624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920" dirty="0"/>
          </a:p>
        </p:txBody>
      </p:sp>
      <p:sp>
        <p:nvSpPr>
          <p:cNvPr id="67" name="Shape 65"/>
          <p:cNvSpPr/>
          <p:nvPr/>
        </p:nvSpPr>
        <p:spPr>
          <a:xfrm>
            <a:off x="6163056" y="3813048"/>
            <a:ext cx="120700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6236208" y="3849624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920" dirty="0"/>
          </a:p>
        </p:txBody>
      </p:sp>
      <p:sp>
        <p:nvSpPr>
          <p:cNvPr id="69" name="Shape 67"/>
          <p:cNvSpPr/>
          <p:nvPr/>
        </p:nvSpPr>
        <p:spPr>
          <a:xfrm>
            <a:off x="7406640" y="3813048"/>
            <a:ext cx="133502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7479792" y="384962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920" dirty="0"/>
          </a:p>
        </p:txBody>
      </p:sp>
      <p:sp>
        <p:nvSpPr>
          <p:cNvPr id="71" name="Shape 69"/>
          <p:cNvSpPr/>
          <p:nvPr/>
        </p:nvSpPr>
        <p:spPr>
          <a:xfrm>
            <a:off x="8778240" y="3813048"/>
            <a:ext cx="2788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8851392" y="3849624"/>
            <a:ext cx="2642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字段边界安全；fixture 不消费 prompt</a:t>
            </a:r>
            <a:endParaRPr lang="en-US" sz="920" dirty="0"/>
          </a:p>
        </p:txBody>
      </p:sp>
      <p:sp>
        <p:nvSpPr>
          <p:cNvPr id="73" name="Text 71"/>
          <p:cNvSpPr txBox="1"/>
          <p:nvPr/>
        </p:nvSpPr>
        <p:spPr>
          <a:xfrm>
            <a:off x="4590288" y="3858768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9B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594360" y="4325112"/>
            <a:ext cx="3977640" cy="457200"/>
          </a:xfrm>
          <a:prstGeom prst="rect">
            <a:avLst/>
          </a:prstGeom>
          <a:solidFill>
            <a:srgbClr val="EDF2F6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667512" y="4361688"/>
            <a:ext cx="3831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Agent / CodeAgent provider</a:t>
            </a:r>
            <a:endParaRPr lang="en-US" sz="920" dirty="0"/>
          </a:p>
        </p:txBody>
      </p:sp>
      <p:sp>
        <p:nvSpPr>
          <p:cNvPr id="76" name="Shape 74"/>
          <p:cNvSpPr/>
          <p:nvPr/>
        </p:nvSpPr>
        <p:spPr>
          <a:xfrm>
            <a:off x="4590288" y="4325112"/>
            <a:ext cx="1536192" cy="457200"/>
          </a:xfrm>
          <a:prstGeom prst="rect">
            <a:avLst/>
          </a:prstGeom>
          <a:solidFill>
            <a:srgbClr val="EDF2F6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4663440" y="436168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920" dirty="0"/>
          </a:p>
        </p:txBody>
      </p:sp>
      <p:sp>
        <p:nvSpPr>
          <p:cNvPr id="78" name="Shape 76"/>
          <p:cNvSpPr/>
          <p:nvPr/>
        </p:nvSpPr>
        <p:spPr>
          <a:xfrm>
            <a:off x="6163056" y="4325112"/>
            <a:ext cx="1207008" cy="457200"/>
          </a:xfrm>
          <a:prstGeom prst="rect">
            <a:avLst/>
          </a:prstGeom>
          <a:solidFill>
            <a:srgbClr val="EDF2F6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6236208" y="4361688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920" dirty="0"/>
          </a:p>
        </p:txBody>
      </p:sp>
      <p:sp>
        <p:nvSpPr>
          <p:cNvPr id="80" name="Shape 78"/>
          <p:cNvSpPr/>
          <p:nvPr/>
        </p:nvSpPr>
        <p:spPr>
          <a:xfrm>
            <a:off x="7406640" y="4325112"/>
            <a:ext cx="1335024" cy="457200"/>
          </a:xfrm>
          <a:prstGeom prst="rect">
            <a:avLst/>
          </a:prstGeom>
          <a:solidFill>
            <a:srgbClr val="EDF2F6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7479792" y="43616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920" dirty="0"/>
          </a:p>
        </p:txBody>
      </p:sp>
      <p:sp>
        <p:nvSpPr>
          <p:cNvPr id="82" name="Shape 80"/>
          <p:cNvSpPr/>
          <p:nvPr/>
        </p:nvSpPr>
        <p:spPr>
          <a:xfrm>
            <a:off x="8778240" y="4325112"/>
            <a:ext cx="2788920" cy="457200"/>
          </a:xfrm>
          <a:prstGeom prst="rect">
            <a:avLst/>
          </a:prstGeom>
          <a:solidFill>
            <a:srgbClr val="EDF2F6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8851392" y="4361688"/>
            <a:ext cx="2642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自动路径尚未接入</a:t>
            </a:r>
            <a:endParaRPr lang="en-US" sz="920" dirty="0"/>
          </a:p>
        </p:txBody>
      </p:sp>
      <p:sp>
        <p:nvSpPr>
          <p:cNvPr id="84" name="Text 82"/>
          <p:cNvSpPr txBox="1"/>
          <p:nvPr/>
        </p:nvSpPr>
        <p:spPr>
          <a:xfrm>
            <a:off x="7406640" y="4370832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65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594360" y="4837176"/>
            <a:ext cx="3977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667512" y="4873752"/>
            <a:ext cx="3831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拓扑 + 语义切块与增量上下文</a:t>
            </a:r>
            <a:endParaRPr lang="en-US" sz="920" dirty="0"/>
          </a:p>
        </p:txBody>
      </p:sp>
      <p:sp>
        <p:nvSpPr>
          <p:cNvPr id="87" name="Shape 85"/>
          <p:cNvSpPr/>
          <p:nvPr/>
        </p:nvSpPr>
        <p:spPr>
          <a:xfrm>
            <a:off x="4590288" y="4837176"/>
            <a:ext cx="153619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4663440" y="4873752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920" dirty="0"/>
          </a:p>
        </p:txBody>
      </p:sp>
      <p:sp>
        <p:nvSpPr>
          <p:cNvPr id="89" name="Shape 87"/>
          <p:cNvSpPr/>
          <p:nvPr/>
        </p:nvSpPr>
        <p:spPr>
          <a:xfrm>
            <a:off x="6163056" y="4837176"/>
            <a:ext cx="120700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6236208" y="4873752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920" dirty="0"/>
          </a:p>
        </p:txBody>
      </p:sp>
      <p:sp>
        <p:nvSpPr>
          <p:cNvPr id="91" name="Shape 89"/>
          <p:cNvSpPr/>
          <p:nvPr/>
        </p:nvSpPr>
        <p:spPr>
          <a:xfrm>
            <a:off x="7406640" y="4837176"/>
            <a:ext cx="133502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7479792" y="487375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920" dirty="0"/>
          </a:p>
        </p:txBody>
      </p:sp>
      <p:sp>
        <p:nvSpPr>
          <p:cNvPr id="93" name="Shape 91"/>
          <p:cNvSpPr/>
          <p:nvPr/>
        </p:nvSpPr>
        <p:spPr>
          <a:xfrm>
            <a:off x="8778240" y="4837176"/>
            <a:ext cx="2788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8851392" y="4873752"/>
            <a:ext cx="2642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 worker 只是机械 fixture</a:t>
            </a:r>
            <a:endParaRPr lang="en-US" sz="920" dirty="0"/>
          </a:p>
        </p:txBody>
      </p:sp>
      <p:sp>
        <p:nvSpPr>
          <p:cNvPr id="95" name="Text 93"/>
          <p:cNvSpPr txBox="1"/>
          <p:nvPr/>
        </p:nvSpPr>
        <p:spPr>
          <a:xfrm>
            <a:off x="7406640" y="4882896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65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594360" y="5349240"/>
            <a:ext cx="3977640" cy="457200"/>
          </a:xfrm>
          <a:prstGeom prst="rect">
            <a:avLst/>
          </a:prstGeom>
          <a:solidFill>
            <a:srgbClr val="EDF2F6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667512" y="5385816"/>
            <a:ext cx="3831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进程级取消 / RUNNING 恢复</a:t>
            </a:r>
            <a:endParaRPr lang="en-US" sz="920" dirty="0"/>
          </a:p>
        </p:txBody>
      </p:sp>
      <p:sp>
        <p:nvSpPr>
          <p:cNvPr id="98" name="Shape 96"/>
          <p:cNvSpPr/>
          <p:nvPr/>
        </p:nvSpPr>
        <p:spPr>
          <a:xfrm>
            <a:off x="4590288" y="5349240"/>
            <a:ext cx="1536192" cy="457200"/>
          </a:xfrm>
          <a:prstGeom prst="rect">
            <a:avLst/>
          </a:prstGeom>
          <a:solidFill>
            <a:srgbClr val="EDF2F6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4663440" y="5385816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920" dirty="0"/>
          </a:p>
        </p:txBody>
      </p:sp>
      <p:sp>
        <p:nvSpPr>
          <p:cNvPr id="100" name="Shape 98"/>
          <p:cNvSpPr/>
          <p:nvPr/>
        </p:nvSpPr>
        <p:spPr>
          <a:xfrm>
            <a:off x="6163056" y="5349240"/>
            <a:ext cx="1207008" cy="457200"/>
          </a:xfrm>
          <a:prstGeom prst="rect">
            <a:avLst/>
          </a:prstGeom>
          <a:solidFill>
            <a:srgbClr val="EDF2F6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6236208" y="5385816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920" dirty="0"/>
          </a:p>
        </p:txBody>
      </p:sp>
      <p:sp>
        <p:nvSpPr>
          <p:cNvPr id="102" name="Shape 100"/>
          <p:cNvSpPr/>
          <p:nvPr/>
        </p:nvSpPr>
        <p:spPr>
          <a:xfrm>
            <a:off x="7406640" y="5349240"/>
            <a:ext cx="1335024" cy="457200"/>
          </a:xfrm>
          <a:prstGeom prst="rect">
            <a:avLst/>
          </a:prstGeom>
          <a:solidFill>
            <a:srgbClr val="EDF2F6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7479792" y="538581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920" dirty="0"/>
          </a:p>
        </p:txBody>
      </p:sp>
      <p:sp>
        <p:nvSpPr>
          <p:cNvPr id="104" name="Shape 102"/>
          <p:cNvSpPr/>
          <p:nvPr/>
        </p:nvSpPr>
        <p:spPr>
          <a:xfrm>
            <a:off x="8778240" y="5349240"/>
            <a:ext cx="2788920" cy="457200"/>
          </a:xfrm>
          <a:prstGeom prst="rect">
            <a:avLst/>
          </a:prstGeom>
          <a:solidFill>
            <a:srgbClr val="EDF2F6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8851392" y="5385816"/>
            <a:ext cx="2642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只证明协作式取消、部分恢复</a:t>
            </a:r>
            <a:endParaRPr lang="en-US" sz="920" dirty="0"/>
          </a:p>
        </p:txBody>
      </p:sp>
      <p:sp>
        <p:nvSpPr>
          <p:cNvPr id="106" name="Text 104"/>
          <p:cNvSpPr txBox="1"/>
          <p:nvPr/>
        </p:nvSpPr>
        <p:spPr>
          <a:xfrm>
            <a:off x="7406640" y="5394960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65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1200" dirty="0"/>
          </a:p>
        </p:txBody>
      </p:sp>
      <p:sp>
        <p:nvSpPr>
          <p:cNvPr id="107" name="Text 105"/>
          <p:cNvSpPr txBox="1"/>
          <p:nvPr/>
        </p:nvSpPr>
        <p:spPr>
          <a:xfrm>
            <a:off x="7479792" y="6089904"/>
            <a:ext cx="621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状态口径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8156448" y="6071616"/>
            <a:ext cx="932688" cy="265176"/>
          </a:xfrm>
          <a:prstGeom prst="roundRect">
            <a:avLst>
              <a:gd name="adj" fmla="val 24138"/>
            </a:avLst>
          </a:prstGeom>
          <a:solidFill>
            <a:srgbClr val="229B6A"/>
          </a:solidFill>
          <a:ln w="12700">
            <a:solidFill>
              <a:srgbClr val="229B6A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8229600" y="6108192"/>
            <a:ext cx="7863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IMPLEMENTED</a:t>
            </a:r>
            <a:endParaRPr lang="en-US" sz="730" dirty="0"/>
          </a:p>
        </p:txBody>
      </p:sp>
      <p:sp>
        <p:nvSpPr>
          <p:cNvPr id="110" name="Shape 108"/>
          <p:cNvSpPr/>
          <p:nvPr/>
        </p:nvSpPr>
        <p:spPr>
          <a:xfrm>
            <a:off x="9189720" y="6071616"/>
            <a:ext cx="603504" cy="265176"/>
          </a:xfrm>
          <a:prstGeom prst="roundRect">
            <a:avLst>
              <a:gd name="adj" fmla="val 24138"/>
            </a:avLst>
          </a:prstGeom>
          <a:solidFill>
            <a:srgbClr val="E8892E"/>
          </a:solidFill>
          <a:ln w="12700">
            <a:solidFill>
              <a:srgbClr val="E8892E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9262872" y="6108192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</a:t>
            </a:r>
            <a:endParaRPr lang="en-US" sz="730" dirty="0"/>
          </a:p>
        </p:txBody>
      </p:sp>
      <p:sp>
        <p:nvSpPr>
          <p:cNvPr id="112" name="Shape 110"/>
          <p:cNvSpPr/>
          <p:nvPr/>
        </p:nvSpPr>
        <p:spPr>
          <a:xfrm>
            <a:off x="9893808" y="6071616"/>
            <a:ext cx="786384" cy="265176"/>
          </a:xfrm>
          <a:prstGeom prst="roundRect">
            <a:avLst>
              <a:gd name="adj" fmla="val 24138"/>
            </a:avLst>
          </a:prstGeom>
          <a:solidFill>
            <a:srgbClr val="7656D6"/>
          </a:solidFill>
          <a:ln w="12700">
            <a:solidFill>
              <a:srgbClr val="7656D6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9966960" y="6108192"/>
            <a:ext cx="640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PLANNED</a:t>
            </a:r>
            <a:endParaRPr lang="en-US" sz="730" dirty="0"/>
          </a:p>
        </p:txBody>
      </p:sp>
      <p:sp>
        <p:nvSpPr>
          <p:cNvPr id="114" name="Text 112"/>
          <p:cNvSpPr txBox="1"/>
          <p:nvPr/>
        </p:nvSpPr>
        <p:spPr>
          <a:xfrm>
            <a:off x="10789920" y="6089904"/>
            <a:ext cx="8412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以实际代码为准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07084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5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6517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6B7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ORCHESTRATION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466344"/>
            <a:ext cx="9738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预期编排：七个 Agent 节点全部保留，评测与发布 Gate 不是 Agent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10405872" y="402336"/>
            <a:ext cx="1261872" cy="265176"/>
          </a:xfrm>
          <a:prstGeom prst="roundRect">
            <a:avLst>
              <a:gd name="adj" fmla="val 24138"/>
            </a:avLst>
          </a:prstGeom>
          <a:solidFill>
            <a:srgbClr val="7656D6"/>
          </a:solidFill>
          <a:ln w="12700">
            <a:solidFill>
              <a:srgbClr val="7656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79024" y="438912"/>
            <a:ext cx="11155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IMPLEMENTED + PLANNED</a:t>
            </a:r>
            <a:endParaRPr lang="en-US" sz="770" dirty="0"/>
          </a:p>
        </p:txBody>
      </p:sp>
      <p:sp>
        <p:nvSpPr>
          <p:cNvPr id="6" name="Shape 4"/>
          <p:cNvSpPr/>
          <p:nvPr/>
        </p:nvSpPr>
        <p:spPr>
          <a:xfrm>
            <a:off x="502920" y="1069848"/>
            <a:ext cx="11183112" cy="0"/>
          </a:xfrm>
          <a:prstGeom prst="line">
            <a:avLst/>
          </a:prstGeom>
          <a:noFill/>
          <a:ln w="12700">
            <a:solidFill>
              <a:srgbClr val="3151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6501384"/>
            <a:ext cx="106253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10" dirty="0">
                <a:solidFill>
                  <a:srgbClr val="B9C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代码：infrastructure/domain-knowledge/src/graph.ts:13-27,106-188；对照 domain-knowledge/docs/report/01-Agent输入输出总览.md</a:t>
            </a:r>
            <a:endParaRPr lang="en-US" sz="710" dirty="0"/>
          </a:p>
        </p:txBody>
      </p:sp>
      <p:sp>
        <p:nvSpPr>
          <p:cNvPr id="8" name="Shape 6"/>
          <p:cNvSpPr/>
          <p:nvPr/>
        </p:nvSpPr>
        <p:spPr>
          <a:xfrm>
            <a:off x="502920" y="2633472"/>
            <a:ext cx="1280160" cy="731520"/>
          </a:xfrm>
          <a:prstGeom prst="roundRect">
            <a:avLst>
              <a:gd name="adj" fmla="val 8750"/>
            </a:avLst>
          </a:prstGeom>
          <a:solidFill>
            <a:srgbClr val="173A5E"/>
          </a:solidFill>
          <a:ln w="16510">
            <a:solidFill>
              <a:srgbClr val="16B7C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697480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Orchestrator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98094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9C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拆任务 / 组装上下文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56232" y="2807208"/>
            <a:ext cx="219456" cy="329184"/>
          </a:xfrm>
          <a:prstGeom prst="chevron">
            <a:avLst/>
          </a:prstGeom>
          <a:solidFill>
            <a:srgbClr val="16B7C9"/>
          </a:solidFill>
          <a:ln w="12700">
            <a:solidFill>
              <a:srgbClr val="16B7C9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48840" y="1490472"/>
            <a:ext cx="1280160" cy="731520"/>
          </a:xfrm>
          <a:prstGeom prst="roundRect">
            <a:avLst>
              <a:gd name="adj" fmla="val 8750"/>
            </a:avLst>
          </a:prstGeom>
          <a:solidFill>
            <a:srgbClr val="173A5E"/>
          </a:solidFill>
          <a:ln w="16510">
            <a:solidFill>
              <a:srgbClr val="3976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40280" y="1554480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DocWorker × 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240280" y="183794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9C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分块证据片段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148840" y="3813048"/>
            <a:ext cx="1280160" cy="731520"/>
          </a:xfrm>
          <a:prstGeom prst="roundRect">
            <a:avLst>
              <a:gd name="adj" fmla="val 8750"/>
            </a:avLst>
          </a:prstGeom>
          <a:solidFill>
            <a:srgbClr val="173A5E"/>
          </a:solidFill>
          <a:ln w="16510">
            <a:solidFill>
              <a:srgbClr val="7656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240280" y="3877056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TestGen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240280" y="416052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9C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oracle / 测试意图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40480" y="1490472"/>
            <a:ext cx="1234440" cy="731520"/>
          </a:xfrm>
          <a:prstGeom prst="roundRect">
            <a:avLst>
              <a:gd name="adj" fmla="val 8750"/>
            </a:avLst>
          </a:prstGeom>
          <a:solidFill>
            <a:srgbClr val="173A5E"/>
          </a:solidFill>
          <a:ln w="16510">
            <a:solidFill>
              <a:srgbClr val="3976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931920" y="1554480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DocGen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931920" y="1837944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9C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候选知识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840480" y="3813048"/>
            <a:ext cx="1234440" cy="731520"/>
          </a:xfrm>
          <a:prstGeom prst="roundRect">
            <a:avLst>
              <a:gd name="adj" fmla="val 8750"/>
            </a:avLst>
          </a:prstGeom>
          <a:solidFill>
            <a:srgbClr val="10253F"/>
          </a:solidFill>
          <a:ln w="16510">
            <a:solidFill>
              <a:srgbClr val="E8892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931920" y="3877056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Oracle 校验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931920" y="416052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9C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 Agent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532120" y="1490472"/>
            <a:ext cx="1143000" cy="731520"/>
          </a:xfrm>
          <a:prstGeom prst="roundRect">
            <a:avLst>
              <a:gd name="adj" fmla="val 8750"/>
            </a:avLst>
          </a:prstGeom>
          <a:solidFill>
            <a:srgbClr val="173A5E"/>
          </a:solidFill>
          <a:ln w="16510">
            <a:solidFill>
              <a:srgbClr val="229B6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23560" y="1554480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623560" y="1837944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9C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fresh 实现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114032" y="1490472"/>
            <a:ext cx="1143000" cy="731520"/>
          </a:xfrm>
          <a:prstGeom prst="roundRect">
            <a:avLst>
              <a:gd name="adj" fmla="val 8750"/>
            </a:avLst>
          </a:prstGeom>
          <a:solidFill>
            <a:srgbClr val="173A5E"/>
          </a:solidFill>
          <a:ln w="16510">
            <a:solidFill>
              <a:srgbClr val="E8892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205472" y="1554480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205472" y="1837944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9C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只读检查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437376" y="3209544"/>
            <a:ext cx="1508760" cy="731520"/>
          </a:xfrm>
          <a:prstGeom prst="roundRect">
            <a:avLst>
              <a:gd name="adj" fmla="val 8750"/>
            </a:avLst>
          </a:prstGeom>
          <a:solidFill>
            <a:srgbClr val="10253F"/>
          </a:solidFill>
          <a:ln w="16510">
            <a:solidFill>
              <a:srgbClr val="D9585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28816" y="3273552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EvalRunner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528816" y="355701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9C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独立确定性评测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9C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 Agent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668512" y="3209544"/>
            <a:ext cx="1234440" cy="731520"/>
          </a:xfrm>
          <a:prstGeom prst="roundRect">
            <a:avLst>
              <a:gd name="adj" fmla="val 8750"/>
            </a:avLst>
          </a:prstGeom>
          <a:solidFill>
            <a:srgbClr val="173A5E"/>
          </a:solidFill>
          <a:ln w="16510">
            <a:solidFill>
              <a:srgbClr val="7656D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759952" y="3273552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8759952" y="355701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9C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归因 / Correction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0314432" y="3209544"/>
            <a:ext cx="1298448" cy="731520"/>
          </a:xfrm>
          <a:prstGeom prst="roundRect">
            <a:avLst>
              <a:gd name="adj" fmla="val 8750"/>
            </a:avLst>
          </a:prstGeom>
          <a:solidFill>
            <a:srgbClr val="10253F"/>
          </a:solidFill>
          <a:ln w="16510">
            <a:solidFill>
              <a:srgbClr val="229B6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405872" y="3273552"/>
            <a:ext cx="11155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Publication Gate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0405872" y="3557016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9C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确定性策略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9C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 Agent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493008" y="1682496"/>
            <a:ext cx="210312" cy="310896"/>
          </a:xfrm>
          <a:prstGeom prst="chevron">
            <a:avLst/>
          </a:prstGeom>
          <a:solidFill>
            <a:srgbClr val="3976E8"/>
          </a:solidFill>
          <a:ln w="12700">
            <a:solidFill>
              <a:srgbClr val="3976E8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75504" y="1682496"/>
            <a:ext cx="210312" cy="310896"/>
          </a:xfrm>
          <a:prstGeom prst="chevron">
            <a:avLst/>
          </a:prstGeom>
          <a:solidFill>
            <a:srgbClr val="229B6A"/>
          </a:solidFill>
          <a:ln w="12700">
            <a:solidFill>
              <a:srgbClr val="229B6A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75704" y="1682496"/>
            <a:ext cx="210312" cy="310896"/>
          </a:xfrm>
          <a:prstGeom prst="chevron">
            <a:avLst/>
          </a:prstGeom>
          <a:solidFill>
            <a:srgbClr val="E8892E"/>
          </a:solidFill>
          <a:ln w="12700">
            <a:solidFill>
              <a:srgbClr val="E8892E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493008" y="4005072"/>
            <a:ext cx="210312" cy="310896"/>
          </a:xfrm>
          <a:prstGeom prst="chevron">
            <a:avLst/>
          </a:prstGeom>
          <a:solidFill>
            <a:srgbClr val="7656D6"/>
          </a:solidFill>
          <a:ln w="12700">
            <a:solidFill>
              <a:srgbClr val="7656D6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19872" y="3401568"/>
            <a:ext cx="210312" cy="310896"/>
          </a:xfrm>
          <a:prstGeom prst="chevron">
            <a:avLst/>
          </a:prstGeom>
          <a:solidFill>
            <a:srgbClr val="7656D6"/>
          </a:solidFill>
          <a:ln w="12700">
            <a:solidFill>
              <a:srgbClr val="7656D6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003536" y="3401568"/>
            <a:ext cx="210312" cy="310896"/>
          </a:xfrm>
          <a:prstGeom prst="chevron">
            <a:avLst/>
          </a:prstGeom>
          <a:solidFill>
            <a:srgbClr val="229B6A"/>
          </a:solidFill>
          <a:ln w="12700">
            <a:solidFill>
              <a:srgbClr val="229B6A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662672" y="2267712"/>
            <a:ext cx="-329184" cy="877824"/>
          </a:xfrm>
          <a:prstGeom prst="line">
            <a:avLst/>
          </a:prstGeom>
          <a:noFill/>
          <a:ln w="22860">
            <a:solidFill>
              <a:srgbClr val="E8892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462272" y="4590288"/>
            <a:ext cx="2368296" cy="-576072"/>
          </a:xfrm>
          <a:prstGeom prst="line">
            <a:avLst/>
          </a:prstGeom>
          <a:noFill/>
          <a:ln w="22860">
            <a:solidFill>
              <a:srgbClr val="7656D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991088" y="3986784"/>
            <a:ext cx="0" cy="1143000"/>
          </a:xfrm>
          <a:prstGeom prst="line">
            <a:avLst/>
          </a:prstGeom>
          <a:noFill/>
          <a:ln w="22860">
            <a:solidFill>
              <a:srgbClr val="E8892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991088" y="5129784"/>
            <a:ext cx="-9848088" cy="0"/>
          </a:xfrm>
          <a:prstGeom prst="line">
            <a:avLst/>
          </a:prstGeom>
          <a:noFill/>
          <a:ln w="22860">
            <a:solidFill>
              <a:srgbClr val="E8892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43000" y="5129784"/>
            <a:ext cx="0" cy="-1682496"/>
          </a:xfrm>
          <a:prstGeom prst="line">
            <a:avLst/>
          </a:prstGeom>
          <a:noFill/>
          <a:ln w="22860">
            <a:solidFill>
              <a:srgbClr val="E8892E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886200" y="523951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E88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ITERATE / ROLLBACK：回到新一轮 Orchestrator</a:t>
            </a:r>
            <a:endParaRPr lang="en-US" sz="930" dirty="0"/>
          </a:p>
        </p:txBody>
      </p:sp>
      <p:sp>
        <p:nvSpPr>
          <p:cNvPr id="51" name="Text 49"/>
          <p:cNvSpPr txBox="1"/>
          <p:nvPr/>
        </p:nvSpPr>
        <p:spPr>
          <a:xfrm>
            <a:off x="7479792" y="6089904"/>
            <a:ext cx="621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9C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状态口径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8156448" y="6071616"/>
            <a:ext cx="932688" cy="265176"/>
          </a:xfrm>
          <a:prstGeom prst="roundRect">
            <a:avLst>
              <a:gd name="adj" fmla="val 24138"/>
            </a:avLst>
          </a:prstGeom>
          <a:solidFill>
            <a:srgbClr val="229B6A"/>
          </a:solidFill>
          <a:ln w="12700">
            <a:solidFill>
              <a:srgbClr val="229B6A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229600" y="6108192"/>
            <a:ext cx="7863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IMPLEMENTED</a:t>
            </a:r>
            <a:endParaRPr lang="en-US" sz="730" dirty="0"/>
          </a:p>
        </p:txBody>
      </p:sp>
      <p:sp>
        <p:nvSpPr>
          <p:cNvPr id="54" name="Shape 52"/>
          <p:cNvSpPr/>
          <p:nvPr/>
        </p:nvSpPr>
        <p:spPr>
          <a:xfrm>
            <a:off x="9189720" y="6071616"/>
            <a:ext cx="603504" cy="265176"/>
          </a:xfrm>
          <a:prstGeom prst="roundRect">
            <a:avLst>
              <a:gd name="adj" fmla="val 24138"/>
            </a:avLst>
          </a:prstGeom>
          <a:solidFill>
            <a:srgbClr val="E8892E"/>
          </a:solidFill>
          <a:ln w="12700">
            <a:solidFill>
              <a:srgbClr val="E8892E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9262872" y="6108192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</a:t>
            </a:r>
            <a:endParaRPr lang="en-US" sz="730" dirty="0"/>
          </a:p>
        </p:txBody>
      </p:sp>
      <p:sp>
        <p:nvSpPr>
          <p:cNvPr id="56" name="Shape 54"/>
          <p:cNvSpPr/>
          <p:nvPr/>
        </p:nvSpPr>
        <p:spPr>
          <a:xfrm>
            <a:off x="9893808" y="6071616"/>
            <a:ext cx="786384" cy="265176"/>
          </a:xfrm>
          <a:prstGeom prst="roundRect">
            <a:avLst>
              <a:gd name="adj" fmla="val 24138"/>
            </a:avLst>
          </a:prstGeom>
          <a:solidFill>
            <a:srgbClr val="7656D6"/>
          </a:solidFill>
          <a:ln w="12700">
            <a:solidFill>
              <a:srgbClr val="7656D6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9966960" y="6108192"/>
            <a:ext cx="640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PLANNED</a:t>
            </a:r>
            <a:endParaRPr lang="en-US" sz="730" dirty="0"/>
          </a:p>
        </p:txBody>
      </p:sp>
      <p:sp>
        <p:nvSpPr>
          <p:cNvPr id="58" name="Text 56"/>
          <p:cNvSpPr txBox="1"/>
          <p:nvPr/>
        </p:nvSpPr>
        <p:spPr>
          <a:xfrm>
            <a:off x="10789920" y="6089904"/>
            <a:ext cx="8412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B9C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以实际代码为准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07084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6517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6B7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CONTRACTS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466344"/>
            <a:ext cx="9738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5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七个 Agent 输入输出：职责没有简化，交接只通过受约束产物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10405872" y="402336"/>
            <a:ext cx="1261872" cy="265176"/>
          </a:xfrm>
          <a:prstGeom prst="roundRect">
            <a:avLst>
              <a:gd name="adj" fmla="val 24138"/>
            </a:avLst>
          </a:prstGeom>
          <a:solidFill>
            <a:srgbClr val="7656D6"/>
          </a:solidFill>
          <a:ln w="12700">
            <a:solidFill>
              <a:srgbClr val="7656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79024" y="438912"/>
            <a:ext cx="11155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IMPLEMENTED + PLANNED</a:t>
            </a:r>
            <a:endParaRPr lang="en-US" sz="770" dirty="0"/>
          </a:p>
        </p:txBody>
      </p:sp>
      <p:sp>
        <p:nvSpPr>
          <p:cNvPr id="6" name="Shape 4"/>
          <p:cNvSpPr/>
          <p:nvPr/>
        </p:nvSpPr>
        <p:spPr>
          <a:xfrm>
            <a:off x="502920" y="1069848"/>
            <a:ext cx="1118311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6501384"/>
            <a:ext cx="106253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1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对照：contracts/src/index.ts:200-216；infrastructure/domain-knowledge/src/agent-definitions.ts；domain-knowledge 报告 Agent 总表</a:t>
            </a:r>
            <a:endParaRPr lang="en-US" sz="710" dirty="0"/>
          </a:p>
        </p:txBody>
      </p:sp>
      <p:sp>
        <p:nvSpPr>
          <p:cNvPr id="8" name="Shape 6"/>
          <p:cNvSpPr/>
          <p:nvPr/>
        </p:nvSpPr>
        <p:spPr>
          <a:xfrm>
            <a:off x="530352" y="1307592"/>
            <a:ext cx="1298448" cy="402336"/>
          </a:xfrm>
          <a:prstGeom prst="rect">
            <a:avLst/>
          </a:prstGeom>
          <a:solidFill>
            <a:srgbClr val="10253F"/>
          </a:solidFill>
          <a:ln w="12700">
            <a:solidFill>
              <a:srgbClr val="1025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" y="1344168"/>
            <a:ext cx="1152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1828800" y="1307592"/>
            <a:ext cx="3703320" cy="402336"/>
          </a:xfrm>
          <a:prstGeom prst="rect">
            <a:avLst/>
          </a:prstGeom>
          <a:solidFill>
            <a:srgbClr val="10253F"/>
          </a:solidFill>
          <a:ln w="12700">
            <a:solidFill>
              <a:srgbClr val="1025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901952" y="1344168"/>
            <a:ext cx="3557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主要输入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5532120" y="1307592"/>
            <a:ext cx="3886200" cy="402336"/>
          </a:xfrm>
          <a:prstGeom prst="rect">
            <a:avLst/>
          </a:prstGeom>
          <a:solidFill>
            <a:srgbClr val="10253F"/>
          </a:solidFill>
          <a:ln w="12700">
            <a:solidFill>
              <a:srgbClr val="1025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05272" y="1344168"/>
            <a:ext cx="3739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主要输出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9418320" y="1307592"/>
            <a:ext cx="2221992" cy="402336"/>
          </a:xfrm>
          <a:prstGeom prst="rect">
            <a:avLst/>
          </a:prstGeom>
          <a:solidFill>
            <a:srgbClr val="10253F"/>
          </a:solidFill>
          <a:ln w="12700">
            <a:solidFill>
              <a:srgbClr val="10253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491472" y="1344168"/>
            <a:ext cx="2075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530352" y="1755648"/>
            <a:ext cx="129844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3504" y="1792224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1025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Orchestrator</a:t>
            </a:r>
            <a:endParaRPr lang="en-US" sz="910" dirty="0"/>
          </a:p>
        </p:txBody>
      </p:sp>
      <p:sp>
        <p:nvSpPr>
          <p:cNvPr id="18" name="Shape 16"/>
          <p:cNvSpPr/>
          <p:nvPr/>
        </p:nvSpPr>
        <p:spPr>
          <a:xfrm>
            <a:off x="1828800" y="1755648"/>
            <a:ext cx="3703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901952" y="1792224"/>
            <a:ext cx="3557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1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RunPolicy、snapshot、历史 Correction</a:t>
            </a:r>
            <a:endParaRPr lang="en-US" sz="910" dirty="0"/>
          </a:p>
        </p:txBody>
      </p:sp>
      <p:sp>
        <p:nvSpPr>
          <p:cNvPr id="20" name="Shape 18"/>
          <p:cNvSpPr/>
          <p:nvPr/>
        </p:nvSpPr>
        <p:spPr>
          <a:xfrm>
            <a:off x="5532120" y="1755648"/>
            <a:ext cx="3886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05272" y="1792224"/>
            <a:ext cx="3739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1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DAG、worker 划分、上下文计划</a:t>
            </a:r>
            <a:endParaRPr lang="en-US" sz="910" dirty="0"/>
          </a:p>
        </p:txBody>
      </p:sp>
      <p:sp>
        <p:nvSpPr>
          <p:cNvPr id="22" name="Shape 20"/>
          <p:cNvSpPr/>
          <p:nvPr/>
        </p:nvSpPr>
        <p:spPr>
          <a:xfrm>
            <a:off x="9418320" y="1755648"/>
            <a:ext cx="222199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491472" y="1792224"/>
            <a:ext cx="207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1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不生成最终知识</a:t>
            </a:r>
            <a:endParaRPr lang="en-US" sz="910" dirty="0"/>
          </a:p>
        </p:txBody>
      </p:sp>
      <p:sp>
        <p:nvSpPr>
          <p:cNvPr id="24" name="Shape 22"/>
          <p:cNvSpPr/>
          <p:nvPr/>
        </p:nvSpPr>
        <p:spPr>
          <a:xfrm>
            <a:off x="530352" y="2340864"/>
            <a:ext cx="1298448" cy="530352"/>
          </a:xfrm>
          <a:prstGeom prst="rect">
            <a:avLst/>
          </a:prstGeom>
          <a:solidFill>
            <a:srgbClr val="EDF2F6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03504" y="237744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1025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DocWorker</a:t>
            </a:r>
            <a:endParaRPr lang="en-US" sz="910" dirty="0"/>
          </a:p>
        </p:txBody>
      </p:sp>
      <p:sp>
        <p:nvSpPr>
          <p:cNvPr id="26" name="Shape 24"/>
          <p:cNvSpPr/>
          <p:nvPr/>
        </p:nvSpPr>
        <p:spPr>
          <a:xfrm>
            <a:off x="1828800" y="2340864"/>
            <a:ext cx="3703320" cy="530352"/>
          </a:xfrm>
          <a:prstGeom prst="rect">
            <a:avLst/>
          </a:prstGeom>
          <a:solidFill>
            <a:srgbClr val="EDF2F6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901952" y="2377440"/>
            <a:ext cx="3557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1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语义块、依赖摘要、公开接口</a:t>
            </a:r>
            <a:endParaRPr lang="en-US" sz="910" dirty="0"/>
          </a:p>
        </p:txBody>
      </p:sp>
      <p:sp>
        <p:nvSpPr>
          <p:cNvPr id="28" name="Shape 26"/>
          <p:cNvSpPr/>
          <p:nvPr/>
        </p:nvSpPr>
        <p:spPr>
          <a:xfrm>
            <a:off x="5532120" y="2340864"/>
            <a:ext cx="3886200" cy="530352"/>
          </a:xfrm>
          <a:prstGeom prst="rect">
            <a:avLst/>
          </a:prstGeom>
          <a:solidFill>
            <a:srgbClr val="EDF2F6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05272" y="2377440"/>
            <a:ext cx="3739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1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证据片段、provenance、未决问题</a:t>
            </a:r>
            <a:endParaRPr lang="en-US" sz="910" dirty="0"/>
          </a:p>
        </p:txBody>
      </p:sp>
      <p:sp>
        <p:nvSpPr>
          <p:cNvPr id="30" name="Shape 28"/>
          <p:cNvSpPr/>
          <p:nvPr/>
        </p:nvSpPr>
        <p:spPr>
          <a:xfrm>
            <a:off x="9418320" y="2340864"/>
            <a:ext cx="2221992" cy="530352"/>
          </a:xfrm>
          <a:prstGeom prst="rect">
            <a:avLst/>
          </a:prstGeom>
          <a:solidFill>
            <a:srgbClr val="EDF2F6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491472" y="2377440"/>
            <a:ext cx="207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1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不跨块猜测</a:t>
            </a:r>
            <a:endParaRPr lang="en-US" sz="910" dirty="0"/>
          </a:p>
        </p:txBody>
      </p:sp>
      <p:sp>
        <p:nvSpPr>
          <p:cNvPr id="32" name="Shape 30"/>
          <p:cNvSpPr/>
          <p:nvPr/>
        </p:nvSpPr>
        <p:spPr>
          <a:xfrm>
            <a:off x="530352" y="2926080"/>
            <a:ext cx="129844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03504" y="2962656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1025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DocGen</a:t>
            </a:r>
            <a:endParaRPr lang="en-US" sz="910" dirty="0"/>
          </a:p>
        </p:txBody>
      </p:sp>
      <p:sp>
        <p:nvSpPr>
          <p:cNvPr id="34" name="Shape 32"/>
          <p:cNvSpPr/>
          <p:nvPr/>
        </p:nvSpPr>
        <p:spPr>
          <a:xfrm>
            <a:off x="1828800" y="2926080"/>
            <a:ext cx="3703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901952" y="2962656"/>
            <a:ext cx="3557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1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 worker 片段、写作规范、历史版本</a:t>
            </a:r>
            <a:endParaRPr lang="en-US" sz="910" dirty="0"/>
          </a:p>
        </p:txBody>
      </p:sp>
      <p:sp>
        <p:nvSpPr>
          <p:cNvPr id="36" name="Shape 34"/>
          <p:cNvSpPr/>
          <p:nvPr/>
        </p:nvSpPr>
        <p:spPr>
          <a:xfrm>
            <a:off x="5532120" y="2926080"/>
            <a:ext cx="3886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605272" y="2962656"/>
            <a:ext cx="3739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1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候选知识 + 事实引用</a:t>
            </a:r>
            <a:endParaRPr lang="en-US" sz="910" dirty="0"/>
          </a:p>
        </p:txBody>
      </p:sp>
      <p:sp>
        <p:nvSpPr>
          <p:cNvPr id="38" name="Shape 36"/>
          <p:cNvSpPr/>
          <p:nvPr/>
        </p:nvSpPr>
        <p:spPr>
          <a:xfrm>
            <a:off x="9418320" y="2926080"/>
            <a:ext cx="222199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491472" y="2962656"/>
            <a:ext cx="207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1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不发布</a:t>
            </a:r>
            <a:endParaRPr lang="en-US" sz="910" dirty="0"/>
          </a:p>
        </p:txBody>
      </p:sp>
      <p:sp>
        <p:nvSpPr>
          <p:cNvPr id="40" name="Shape 38"/>
          <p:cNvSpPr/>
          <p:nvPr/>
        </p:nvSpPr>
        <p:spPr>
          <a:xfrm>
            <a:off x="530352" y="3511296"/>
            <a:ext cx="1298448" cy="530352"/>
          </a:xfrm>
          <a:prstGeom prst="rect">
            <a:avLst/>
          </a:prstGeom>
          <a:solidFill>
            <a:srgbClr val="EDF2F6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03504" y="3547872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1025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TestGen</a:t>
            </a:r>
            <a:endParaRPr lang="en-US" sz="910" dirty="0"/>
          </a:p>
        </p:txBody>
      </p:sp>
      <p:sp>
        <p:nvSpPr>
          <p:cNvPr id="42" name="Shape 40"/>
          <p:cNvSpPr/>
          <p:nvPr/>
        </p:nvSpPr>
        <p:spPr>
          <a:xfrm>
            <a:off x="1828800" y="3511296"/>
            <a:ext cx="3703320" cy="530352"/>
          </a:xfrm>
          <a:prstGeom prst="rect">
            <a:avLst/>
          </a:prstGeom>
          <a:solidFill>
            <a:srgbClr val="EDF2F6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901952" y="3547872"/>
            <a:ext cx="3557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1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知识契约、公开接口、风险项</a:t>
            </a:r>
            <a:endParaRPr lang="en-US" sz="910" dirty="0"/>
          </a:p>
        </p:txBody>
      </p:sp>
      <p:sp>
        <p:nvSpPr>
          <p:cNvPr id="44" name="Shape 42"/>
          <p:cNvSpPr/>
          <p:nvPr/>
        </p:nvSpPr>
        <p:spPr>
          <a:xfrm>
            <a:off x="5532120" y="3511296"/>
            <a:ext cx="3886200" cy="530352"/>
          </a:xfrm>
          <a:prstGeom prst="rect">
            <a:avLst/>
          </a:prstGeom>
          <a:solidFill>
            <a:srgbClr val="EDF2F6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605272" y="3547872"/>
            <a:ext cx="3739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1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oracle 意图、候选命令/用例</a:t>
            </a:r>
            <a:endParaRPr lang="en-US" sz="910" dirty="0"/>
          </a:p>
        </p:txBody>
      </p:sp>
      <p:sp>
        <p:nvSpPr>
          <p:cNvPr id="46" name="Shape 44"/>
          <p:cNvSpPr/>
          <p:nvPr/>
        </p:nvSpPr>
        <p:spPr>
          <a:xfrm>
            <a:off x="9418320" y="3511296"/>
            <a:ext cx="2221992" cy="530352"/>
          </a:xfrm>
          <a:prstGeom prst="rect">
            <a:avLst/>
          </a:prstGeom>
          <a:solidFill>
            <a:srgbClr val="EDF2F6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491472" y="3547872"/>
            <a:ext cx="207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1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不读候选实现</a:t>
            </a:r>
            <a:endParaRPr lang="en-US" sz="910" dirty="0"/>
          </a:p>
        </p:txBody>
      </p:sp>
      <p:sp>
        <p:nvSpPr>
          <p:cNvPr id="48" name="Shape 46"/>
          <p:cNvSpPr/>
          <p:nvPr/>
        </p:nvSpPr>
        <p:spPr>
          <a:xfrm>
            <a:off x="530352" y="4096512"/>
            <a:ext cx="129844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03504" y="4133088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1025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</a:t>
            </a:r>
            <a:endParaRPr lang="en-US" sz="910" dirty="0"/>
          </a:p>
        </p:txBody>
      </p:sp>
      <p:sp>
        <p:nvSpPr>
          <p:cNvPr id="50" name="Shape 48"/>
          <p:cNvSpPr/>
          <p:nvPr/>
        </p:nvSpPr>
        <p:spPr>
          <a:xfrm>
            <a:off x="1828800" y="4096512"/>
            <a:ext cx="3703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901952" y="4133088"/>
            <a:ext cx="3557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1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候选知识、接口约束、allowed paths</a:t>
            </a:r>
            <a:endParaRPr lang="en-US" sz="910" dirty="0"/>
          </a:p>
        </p:txBody>
      </p:sp>
      <p:sp>
        <p:nvSpPr>
          <p:cNvPr id="52" name="Shape 50"/>
          <p:cNvSpPr/>
          <p:nvPr/>
        </p:nvSpPr>
        <p:spPr>
          <a:xfrm>
            <a:off x="5532120" y="4096512"/>
            <a:ext cx="3886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605272" y="4133088"/>
            <a:ext cx="3739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1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fresh generated files</a:t>
            </a:r>
            <a:endParaRPr lang="en-US" sz="910" dirty="0"/>
          </a:p>
        </p:txBody>
      </p:sp>
      <p:sp>
        <p:nvSpPr>
          <p:cNvPr id="54" name="Shape 52"/>
          <p:cNvSpPr/>
          <p:nvPr/>
        </p:nvSpPr>
        <p:spPr>
          <a:xfrm>
            <a:off x="9418320" y="4096512"/>
            <a:ext cx="222199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9491472" y="4133088"/>
            <a:ext cx="207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1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不读参考实现</a:t>
            </a:r>
            <a:endParaRPr lang="en-US" sz="910" dirty="0"/>
          </a:p>
        </p:txBody>
      </p:sp>
      <p:sp>
        <p:nvSpPr>
          <p:cNvPr id="56" name="Shape 54"/>
          <p:cNvSpPr/>
          <p:nvPr/>
        </p:nvSpPr>
        <p:spPr>
          <a:xfrm>
            <a:off x="530352" y="4681728"/>
            <a:ext cx="1298448" cy="530352"/>
          </a:xfrm>
          <a:prstGeom prst="rect">
            <a:avLst/>
          </a:prstGeom>
          <a:solidFill>
            <a:srgbClr val="EDF2F6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03504" y="4718304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1025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</a:t>
            </a:r>
            <a:endParaRPr lang="en-US" sz="910" dirty="0"/>
          </a:p>
        </p:txBody>
      </p:sp>
      <p:sp>
        <p:nvSpPr>
          <p:cNvPr id="58" name="Shape 56"/>
          <p:cNvSpPr/>
          <p:nvPr/>
        </p:nvSpPr>
        <p:spPr>
          <a:xfrm>
            <a:off x="1828800" y="4681728"/>
            <a:ext cx="3703320" cy="530352"/>
          </a:xfrm>
          <a:prstGeom prst="rect">
            <a:avLst/>
          </a:prstGeom>
          <a:solidFill>
            <a:srgbClr val="EDF2F6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1901952" y="4718304"/>
            <a:ext cx="3557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1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 diff、规则、静态证据</a:t>
            </a:r>
            <a:endParaRPr lang="en-US" sz="910" dirty="0"/>
          </a:p>
        </p:txBody>
      </p:sp>
      <p:sp>
        <p:nvSpPr>
          <p:cNvPr id="60" name="Shape 58"/>
          <p:cNvSpPr/>
          <p:nvPr/>
        </p:nvSpPr>
        <p:spPr>
          <a:xfrm>
            <a:off x="5532120" y="4681728"/>
            <a:ext cx="3886200" cy="530352"/>
          </a:xfrm>
          <a:prstGeom prst="rect">
            <a:avLst/>
          </a:prstGeom>
          <a:solidFill>
            <a:srgbClr val="EDF2F6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605272" y="4718304"/>
            <a:ext cx="3739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1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blocking + findings + 位置</a:t>
            </a:r>
            <a:endParaRPr lang="en-US" sz="910" dirty="0"/>
          </a:p>
        </p:txBody>
      </p:sp>
      <p:sp>
        <p:nvSpPr>
          <p:cNvPr id="62" name="Shape 60"/>
          <p:cNvSpPr/>
          <p:nvPr/>
        </p:nvSpPr>
        <p:spPr>
          <a:xfrm>
            <a:off x="9418320" y="4681728"/>
            <a:ext cx="2221992" cy="530352"/>
          </a:xfrm>
          <a:prstGeom prst="rect">
            <a:avLst/>
          </a:prstGeom>
          <a:solidFill>
            <a:srgbClr val="EDF2F6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9491472" y="4718304"/>
            <a:ext cx="207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1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只读、不定发布</a:t>
            </a:r>
            <a:endParaRPr lang="en-US" sz="910" dirty="0"/>
          </a:p>
        </p:txBody>
      </p:sp>
      <p:sp>
        <p:nvSpPr>
          <p:cNvPr id="64" name="Shape 62"/>
          <p:cNvSpPr/>
          <p:nvPr/>
        </p:nvSpPr>
        <p:spPr>
          <a:xfrm>
            <a:off x="530352" y="5266944"/>
            <a:ext cx="129844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03504" y="530352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1025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</a:t>
            </a:r>
            <a:endParaRPr lang="en-US" sz="910" dirty="0"/>
          </a:p>
        </p:txBody>
      </p:sp>
      <p:sp>
        <p:nvSpPr>
          <p:cNvPr id="66" name="Shape 64"/>
          <p:cNvSpPr/>
          <p:nvPr/>
        </p:nvSpPr>
        <p:spPr>
          <a:xfrm>
            <a:off x="1828800" y="5266944"/>
            <a:ext cx="3703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1901952" y="5303520"/>
            <a:ext cx="3557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1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Eval、Check、候选知识、历史</a:t>
            </a:r>
            <a:endParaRPr lang="en-US" sz="910" dirty="0"/>
          </a:p>
        </p:txBody>
      </p:sp>
      <p:sp>
        <p:nvSpPr>
          <p:cNvPr id="68" name="Shape 66"/>
          <p:cNvSpPr/>
          <p:nvPr/>
        </p:nvSpPr>
        <p:spPr>
          <a:xfrm>
            <a:off x="5532120" y="5266944"/>
            <a:ext cx="3886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5605272" y="5303520"/>
            <a:ext cx="3739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1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归因、Correction、unresolved risks</a:t>
            </a:r>
            <a:endParaRPr lang="en-US" sz="910" dirty="0"/>
          </a:p>
        </p:txBody>
      </p:sp>
      <p:sp>
        <p:nvSpPr>
          <p:cNvPr id="70" name="Shape 68"/>
          <p:cNvSpPr/>
          <p:nvPr/>
        </p:nvSpPr>
        <p:spPr>
          <a:xfrm>
            <a:off x="9418320" y="5266944"/>
            <a:ext cx="222199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9491472" y="5303520"/>
            <a:ext cx="207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1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只读、不选状态</a:t>
            </a:r>
            <a:endParaRPr lang="en-US" sz="910" dirty="0"/>
          </a:p>
        </p:txBody>
      </p:sp>
      <p:sp>
        <p:nvSpPr>
          <p:cNvPr id="72" name="Text 70"/>
          <p:cNvSpPr txBox="1"/>
          <p:nvPr/>
        </p:nvSpPr>
        <p:spPr>
          <a:xfrm>
            <a:off x="7479792" y="6089904"/>
            <a:ext cx="621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状态口径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8156448" y="6071616"/>
            <a:ext cx="932688" cy="265176"/>
          </a:xfrm>
          <a:prstGeom prst="roundRect">
            <a:avLst>
              <a:gd name="adj" fmla="val 24138"/>
            </a:avLst>
          </a:prstGeom>
          <a:solidFill>
            <a:srgbClr val="229B6A"/>
          </a:solidFill>
          <a:ln w="12700">
            <a:solidFill>
              <a:srgbClr val="229B6A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8229600" y="6108192"/>
            <a:ext cx="7863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IMPLEMENTED</a:t>
            </a:r>
            <a:endParaRPr lang="en-US" sz="730" dirty="0"/>
          </a:p>
        </p:txBody>
      </p:sp>
      <p:sp>
        <p:nvSpPr>
          <p:cNvPr id="75" name="Shape 73"/>
          <p:cNvSpPr/>
          <p:nvPr/>
        </p:nvSpPr>
        <p:spPr>
          <a:xfrm>
            <a:off x="9189720" y="6071616"/>
            <a:ext cx="603504" cy="265176"/>
          </a:xfrm>
          <a:prstGeom prst="roundRect">
            <a:avLst>
              <a:gd name="adj" fmla="val 24138"/>
            </a:avLst>
          </a:prstGeom>
          <a:solidFill>
            <a:srgbClr val="E8892E"/>
          </a:solidFill>
          <a:ln w="12700">
            <a:solidFill>
              <a:srgbClr val="E8892E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9262872" y="6108192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</a:t>
            </a:r>
            <a:endParaRPr lang="en-US" sz="730" dirty="0"/>
          </a:p>
        </p:txBody>
      </p:sp>
      <p:sp>
        <p:nvSpPr>
          <p:cNvPr id="77" name="Shape 75"/>
          <p:cNvSpPr/>
          <p:nvPr/>
        </p:nvSpPr>
        <p:spPr>
          <a:xfrm>
            <a:off x="9893808" y="6071616"/>
            <a:ext cx="786384" cy="265176"/>
          </a:xfrm>
          <a:prstGeom prst="roundRect">
            <a:avLst>
              <a:gd name="adj" fmla="val 24138"/>
            </a:avLst>
          </a:prstGeom>
          <a:solidFill>
            <a:srgbClr val="7656D6"/>
          </a:solidFill>
          <a:ln w="12700">
            <a:solidFill>
              <a:srgbClr val="7656D6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9966960" y="6108192"/>
            <a:ext cx="640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PLANNED</a:t>
            </a:r>
            <a:endParaRPr lang="en-US" sz="730" dirty="0"/>
          </a:p>
        </p:txBody>
      </p:sp>
      <p:sp>
        <p:nvSpPr>
          <p:cNvPr id="79" name="Text 77"/>
          <p:cNvSpPr txBox="1"/>
          <p:nvPr/>
        </p:nvSpPr>
        <p:spPr>
          <a:xfrm>
            <a:off x="10789920" y="6089904"/>
            <a:ext cx="8412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以实际代码为准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07084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6517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6B7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DOCUMENTATION · CURRENT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466344"/>
            <a:ext cx="9738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5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文档生成阶段：并行结构已跑通，但当前内容仍是 deterministic fixture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10405872" y="402336"/>
            <a:ext cx="1261872" cy="265176"/>
          </a:xfrm>
          <a:prstGeom prst="roundRect">
            <a:avLst>
              <a:gd name="adj" fmla="val 24138"/>
            </a:avLst>
          </a:prstGeom>
          <a:solidFill>
            <a:srgbClr val="E8892E"/>
          </a:solidFill>
          <a:ln w="12700">
            <a:solidFill>
              <a:srgbClr val="E889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79024" y="438912"/>
            <a:ext cx="11155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</a:t>
            </a:r>
            <a:endParaRPr lang="en-US" sz="770" dirty="0"/>
          </a:p>
        </p:txBody>
      </p:sp>
      <p:sp>
        <p:nvSpPr>
          <p:cNvPr id="6" name="Shape 4"/>
          <p:cNvSpPr/>
          <p:nvPr/>
        </p:nvSpPr>
        <p:spPr>
          <a:xfrm>
            <a:off x="502920" y="1069848"/>
            <a:ext cx="1118311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6501384"/>
            <a:ext cx="106253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1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代码：graph.ts:137-153；automated-project-workflow.ts:143-182；tests/integration/langgraph-infrastructure.test.ts</a:t>
            </a:r>
            <a:endParaRPr lang="en-US" sz="710" dirty="0"/>
          </a:p>
        </p:txBody>
      </p:sp>
      <p:sp>
        <p:nvSpPr>
          <p:cNvPr id="8" name="Shape 6"/>
          <p:cNvSpPr/>
          <p:nvPr/>
        </p:nvSpPr>
        <p:spPr>
          <a:xfrm>
            <a:off x="566928" y="1325880"/>
            <a:ext cx="1024128" cy="265176"/>
          </a:xfrm>
          <a:prstGeom prst="roundRect">
            <a:avLst>
              <a:gd name="adj" fmla="val 24138"/>
            </a:avLst>
          </a:prstGeom>
          <a:solidFill>
            <a:srgbClr val="E8892E"/>
          </a:solidFill>
          <a:ln w="12700">
            <a:solidFill>
              <a:srgbClr val="E889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362456"/>
            <a:ext cx="8778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当前可运行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66928" y="2039112"/>
            <a:ext cx="1325880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6510">
            <a:solidFill>
              <a:srgbClr val="16B7C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2103120"/>
            <a:ext cx="1143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Orchestrator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2386584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workerCount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984248" y="2231136"/>
            <a:ext cx="246888" cy="347472"/>
          </a:xfrm>
          <a:prstGeom prst="chevron">
            <a:avLst/>
          </a:prstGeom>
          <a:solidFill>
            <a:srgbClr val="16B7C9"/>
          </a:solidFill>
          <a:ln w="12700">
            <a:solidFill>
              <a:srgbClr val="16B7C9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59152" y="1389888"/>
            <a:ext cx="1481328" cy="676656"/>
          </a:xfrm>
          <a:prstGeom prst="roundRect">
            <a:avLst>
              <a:gd name="adj" fmla="val 9459"/>
            </a:avLst>
          </a:prstGeom>
          <a:solidFill>
            <a:srgbClr val="E8F0FF"/>
          </a:solidFill>
          <a:ln w="16510">
            <a:solidFill>
              <a:srgbClr val="3976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450592" y="1453896"/>
            <a:ext cx="12984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DocWorker 1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2450592" y="173736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4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workerId + 固定 fragment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2359152" y="2414016"/>
            <a:ext cx="1481328" cy="676656"/>
          </a:xfrm>
          <a:prstGeom prst="roundRect">
            <a:avLst>
              <a:gd name="adj" fmla="val 9459"/>
            </a:avLst>
          </a:prstGeom>
          <a:solidFill>
            <a:srgbClr val="E8F0FF"/>
          </a:solidFill>
          <a:ln w="16510">
            <a:solidFill>
              <a:srgbClr val="3976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450592" y="2478024"/>
            <a:ext cx="12984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DocWorker 2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2450592" y="276148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4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workerId + 固定 fragment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2359152" y="3438144"/>
            <a:ext cx="1481328" cy="676656"/>
          </a:xfrm>
          <a:prstGeom prst="roundRect">
            <a:avLst>
              <a:gd name="adj" fmla="val 9459"/>
            </a:avLst>
          </a:prstGeom>
          <a:solidFill>
            <a:srgbClr val="E8F0FF"/>
          </a:solidFill>
          <a:ln w="16510">
            <a:solidFill>
              <a:srgbClr val="3976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450592" y="3502152"/>
            <a:ext cx="12984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DocWorker 3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2450592" y="3785616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4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workerId + 固定 fragment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3931920" y="1728216"/>
            <a:ext cx="822960" cy="649224"/>
          </a:xfrm>
          <a:prstGeom prst="line">
            <a:avLst/>
          </a:prstGeom>
          <a:noFill/>
          <a:ln w="17780">
            <a:solidFill>
              <a:srgbClr val="3976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31920" y="2752344"/>
            <a:ext cx="822960" cy="-374904"/>
          </a:xfrm>
          <a:prstGeom prst="line">
            <a:avLst/>
          </a:prstGeom>
          <a:noFill/>
          <a:ln w="17780">
            <a:solidFill>
              <a:srgbClr val="3976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31920" y="3776472"/>
            <a:ext cx="822960" cy="-1399032"/>
          </a:xfrm>
          <a:prstGeom prst="line">
            <a:avLst/>
          </a:prstGeom>
          <a:noFill/>
          <a:ln w="17780">
            <a:solidFill>
              <a:srgbClr val="3976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91456" y="1984248"/>
            <a:ext cx="1572768" cy="804672"/>
          </a:xfrm>
          <a:prstGeom prst="roundRect">
            <a:avLst>
              <a:gd name="adj" fmla="val 7955"/>
            </a:avLst>
          </a:prstGeom>
          <a:solidFill>
            <a:srgbClr val="E8F0FF"/>
          </a:solidFill>
          <a:ln w="16510">
            <a:solidFill>
              <a:srgbClr val="3976E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82896" y="2048256"/>
            <a:ext cx="13898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DocGen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882896" y="2331720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7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读取预置 knowledge-v1/v2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6455664" y="2212848"/>
            <a:ext cx="246888" cy="347472"/>
          </a:xfrm>
          <a:prstGeom prst="chevron">
            <a:avLst/>
          </a:prstGeom>
          <a:solidFill>
            <a:srgbClr val="16B7C9"/>
          </a:solidFill>
          <a:ln w="12700">
            <a:solidFill>
              <a:srgbClr val="16B7C9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12280" y="1984248"/>
            <a:ext cx="1572768" cy="804672"/>
          </a:xfrm>
          <a:prstGeom prst="roundRect">
            <a:avLst>
              <a:gd name="adj" fmla="val 7955"/>
            </a:avLst>
          </a:prstGeom>
          <a:solidFill>
            <a:srgbClr val="DFF3E9"/>
          </a:solidFill>
          <a:ln w="16510">
            <a:solidFill>
              <a:srgbClr val="229B6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903720" y="2048256"/>
            <a:ext cx="13898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Candidate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903720" y="2331720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 + provenance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732520" y="1325880"/>
            <a:ext cx="2880360" cy="1856232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732520" y="1325880"/>
            <a:ext cx="64008" cy="1856232"/>
          </a:xfrm>
          <a:prstGeom prst="rect">
            <a:avLst/>
          </a:prstGeom>
          <a:solidFill>
            <a:srgbClr val="229B6A"/>
          </a:solidFill>
          <a:ln w="12700">
            <a:solidFill>
              <a:srgbClr val="229B6A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933688" y="1435608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 demo 能证明</a:t>
            </a:r>
            <a:endParaRPr lang="en-US" sz="1550" dirty="0"/>
          </a:p>
        </p:txBody>
      </p:sp>
      <p:sp>
        <p:nvSpPr>
          <p:cNvPr id="36" name="Shape 34"/>
          <p:cNvSpPr/>
          <p:nvPr/>
        </p:nvSpPr>
        <p:spPr>
          <a:xfrm>
            <a:off x="8951976" y="1920240"/>
            <a:ext cx="64008" cy="64008"/>
          </a:xfrm>
          <a:prstGeom prst="ellipse">
            <a:avLst/>
          </a:prstGeom>
          <a:solidFill>
            <a:srgbClr val="229B6A"/>
          </a:solidFill>
          <a:ln w="12700">
            <a:solidFill>
              <a:srgbClr val="229B6A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079992" y="1837944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Send fan-out / join 路径可执行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951976" y="2231136"/>
            <a:ext cx="64008" cy="64008"/>
          </a:xfrm>
          <a:prstGeom prst="ellipse">
            <a:avLst/>
          </a:prstGeom>
          <a:solidFill>
            <a:srgbClr val="229B6A"/>
          </a:solidFill>
          <a:ln w="12700">
            <a:solidFill>
              <a:srgbClr val="229B6A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079992" y="2148840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多个 worker ArtifactRef 到达 DocGen context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951976" y="2542032"/>
            <a:ext cx="64008" cy="64008"/>
          </a:xfrm>
          <a:prstGeom prst="ellipse">
            <a:avLst/>
          </a:prstGeom>
          <a:solidFill>
            <a:srgbClr val="229B6A"/>
          </a:solidFill>
          <a:ln w="12700">
            <a:solidFill>
              <a:srgbClr val="229B6A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079992" y="2459736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节点投影、checkpoint、候选写入可观察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732520" y="3401568"/>
            <a:ext cx="2880360" cy="1856232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732520" y="3401568"/>
            <a:ext cx="64008" cy="1856232"/>
          </a:xfrm>
          <a:prstGeom prst="rect">
            <a:avLst/>
          </a:prstGeom>
          <a:solidFill>
            <a:srgbClr val="D95852"/>
          </a:solidFill>
          <a:ln w="12700">
            <a:solidFill>
              <a:srgbClr val="D95852">
                <a:alpha val="0"/>
              </a:srgbClr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933688" y="3511296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它不能证明</a:t>
            </a:r>
            <a:endParaRPr lang="en-US" sz="1550" dirty="0"/>
          </a:p>
        </p:txBody>
      </p:sp>
      <p:sp>
        <p:nvSpPr>
          <p:cNvPr id="45" name="Shape 43"/>
          <p:cNvSpPr/>
          <p:nvPr/>
        </p:nvSpPr>
        <p:spPr>
          <a:xfrm>
            <a:off x="8951976" y="3995928"/>
            <a:ext cx="64008" cy="64008"/>
          </a:xfrm>
          <a:prstGeom prst="ellipse">
            <a:avLst/>
          </a:prstGeom>
          <a:solidFill>
            <a:srgbClr val="D95852"/>
          </a:solidFill>
          <a:ln w="12700">
            <a:solidFill>
              <a:srgbClr val="D95852">
                <a:alpha val="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079992" y="3913632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没有函数 / 类 / SCC 级语义切块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8951976" y="4306824"/>
            <a:ext cx="64008" cy="64008"/>
          </a:xfrm>
          <a:prstGeom prst="ellipse">
            <a:avLst/>
          </a:prstGeom>
          <a:solidFill>
            <a:srgbClr val="D95852"/>
          </a:solidFill>
          <a:ln w="12700">
            <a:solidFill>
              <a:srgbClr val="D95852">
                <a:alpha val="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079992" y="4224528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DocGen 没按片段内容聚合写作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951976" y="4617720"/>
            <a:ext cx="64008" cy="64008"/>
          </a:xfrm>
          <a:prstGeom prst="ellipse">
            <a:avLst/>
          </a:prstGeom>
          <a:solidFill>
            <a:srgbClr val="D95852"/>
          </a:solidFill>
          <a:ln w="12700">
            <a:solidFill>
              <a:srgbClr val="D95852">
                <a:alpha val="0"/>
              </a:srgbClr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079992" y="4535424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没有增量上下文、冲突消解和覆盖率验证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66928" y="4754880"/>
            <a:ext cx="7818120" cy="502920"/>
          </a:xfrm>
          <a:prstGeom prst="roundRect">
            <a:avLst>
              <a:gd name="adj" fmla="val 12727"/>
            </a:avLst>
          </a:prstGeom>
          <a:solidFill>
            <a:srgbClr val="FFF0DC"/>
          </a:solidFill>
          <a:ln w="12700">
            <a:solidFill>
              <a:srgbClr val="E8892E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40080" y="4791456"/>
            <a:ext cx="76718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结论：当前是“拓扑形状正确”的 fixture，不是“拓扑与语义切块已经实现”。</a:t>
            </a:r>
            <a:endParaRPr lang="en-US" sz="1150" dirty="0"/>
          </a:p>
        </p:txBody>
      </p:sp>
      <p:sp>
        <p:nvSpPr>
          <p:cNvPr id="53" name="Text 51"/>
          <p:cNvSpPr txBox="1"/>
          <p:nvPr/>
        </p:nvSpPr>
        <p:spPr>
          <a:xfrm>
            <a:off x="7479792" y="6089904"/>
            <a:ext cx="621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状态口径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8156448" y="6071616"/>
            <a:ext cx="932688" cy="265176"/>
          </a:xfrm>
          <a:prstGeom prst="roundRect">
            <a:avLst>
              <a:gd name="adj" fmla="val 24138"/>
            </a:avLst>
          </a:prstGeom>
          <a:solidFill>
            <a:srgbClr val="229B6A"/>
          </a:solidFill>
          <a:ln w="12700">
            <a:solidFill>
              <a:srgbClr val="229B6A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229600" y="6108192"/>
            <a:ext cx="7863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IMPLEMENTED</a:t>
            </a:r>
            <a:endParaRPr lang="en-US" sz="730" dirty="0"/>
          </a:p>
        </p:txBody>
      </p:sp>
      <p:sp>
        <p:nvSpPr>
          <p:cNvPr id="56" name="Shape 54"/>
          <p:cNvSpPr/>
          <p:nvPr/>
        </p:nvSpPr>
        <p:spPr>
          <a:xfrm>
            <a:off x="9189720" y="6071616"/>
            <a:ext cx="603504" cy="265176"/>
          </a:xfrm>
          <a:prstGeom prst="roundRect">
            <a:avLst>
              <a:gd name="adj" fmla="val 24138"/>
            </a:avLst>
          </a:prstGeom>
          <a:solidFill>
            <a:srgbClr val="E8892E"/>
          </a:solidFill>
          <a:ln w="12700">
            <a:solidFill>
              <a:srgbClr val="E8892E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9262872" y="6108192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</a:t>
            </a:r>
            <a:endParaRPr lang="en-US" sz="730" dirty="0"/>
          </a:p>
        </p:txBody>
      </p:sp>
      <p:sp>
        <p:nvSpPr>
          <p:cNvPr id="58" name="Shape 56"/>
          <p:cNvSpPr/>
          <p:nvPr/>
        </p:nvSpPr>
        <p:spPr>
          <a:xfrm>
            <a:off x="9893808" y="6071616"/>
            <a:ext cx="786384" cy="265176"/>
          </a:xfrm>
          <a:prstGeom prst="roundRect">
            <a:avLst>
              <a:gd name="adj" fmla="val 24138"/>
            </a:avLst>
          </a:prstGeom>
          <a:solidFill>
            <a:srgbClr val="7656D6"/>
          </a:solidFill>
          <a:ln w="12700">
            <a:solidFill>
              <a:srgbClr val="7656D6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9966960" y="6108192"/>
            <a:ext cx="640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PLANNED</a:t>
            </a:r>
            <a:endParaRPr lang="en-US" sz="730" dirty="0"/>
          </a:p>
        </p:txBody>
      </p:sp>
      <p:sp>
        <p:nvSpPr>
          <p:cNvPr id="60" name="Text 58"/>
          <p:cNvSpPr txBox="1"/>
          <p:nvPr/>
        </p:nvSpPr>
        <p:spPr>
          <a:xfrm>
            <a:off x="10789920" y="6089904"/>
            <a:ext cx="8412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以实际代码为准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07084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25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6517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6B7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DOCUMENTATION · TARGET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466344"/>
            <a:ext cx="9738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 / 拓扑切块：以可解释代码单元为边界，不按 token 生硬截断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10405872" y="402336"/>
            <a:ext cx="1261872" cy="265176"/>
          </a:xfrm>
          <a:prstGeom prst="roundRect">
            <a:avLst>
              <a:gd name="adj" fmla="val 24138"/>
            </a:avLst>
          </a:prstGeom>
          <a:solidFill>
            <a:srgbClr val="7656D6"/>
          </a:solidFill>
          <a:ln w="12700">
            <a:solidFill>
              <a:srgbClr val="7656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79024" y="438912"/>
            <a:ext cx="11155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PLANNED</a:t>
            </a:r>
            <a:endParaRPr lang="en-US" sz="770" dirty="0"/>
          </a:p>
        </p:txBody>
      </p:sp>
      <p:sp>
        <p:nvSpPr>
          <p:cNvPr id="6" name="Shape 4"/>
          <p:cNvSpPr/>
          <p:nvPr/>
        </p:nvSpPr>
        <p:spPr>
          <a:xfrm>
            <a:off x="502920" y="1069848"/>
            <a:ext cx="11183112" cy="0"/>
          </a:xfrm>
          <a:prstGeom prst="line">
            <a:avLst/>
          </a:prstGeom>
          <a:noFill/>
          <a:ln w="12700">
            <a:solidFill>
              <a:srgbClr val="3151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6501384"/>
            <a:ext cx="106253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10" dirty="0">
                <a:solidFill>
                  <a:srgbClr val="B9C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研究：DocAgent, arXiv:2504.08725 (2025-04-11)；domain-knowledge/docs/report/01-Agent输入输出总览.md 文档阶段</a:t>
            </a:r>
            <a:endParaRPr lang="en-US" sz="71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2984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B7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· 建图与稳定边界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1865376"/>
            <a:ext cx="1097280" cy="548640"/>
          </a:xfrm>
          <a:prstGeom prst="roundRect">
            <a:avLst>
              <a:gd name="adj" fmla="val 11667"/>
            </a:avLst>
          </a:prstGeom>
          <a:solidFill>
            <a:srgbClr val="173A5E"/>
          </a:solidFill>
          <a:ln w="16510">
            <a:solidFill>
              <a:srgbClr val="3976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1929384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public API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40280" y="1527048"/>
            <a:ext cx="1097280" cy="548640"/>
          </a:xfrm>
          <a:prstGeom prst="roundRect">
            <a:avLst>
              <a:gd name="adj" fmla="val 11667"/>
            </a:avLst>
          </a:prstGeom>
          <a:solidFill>
            <a:srgbClr val="173A5E"/>
          </a:solidFill>
          <a:ln w="16510">
            <a:solidFill>
              <a:srgbClr val="7656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331720" y="1591056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40280" y="2478024"/>
            <a:ext cx="1097280" cy="548640"/>
          </a:xfrm>
          <a:prstGeom prst="roundRect">
            <a:avLst>
              <a:gd name="adj" fmla="val 11667"/>
            </a:avLst>
          </a:prstGeom>
          <a:solidFill>
            <a:srgbClr val="173A5E"/>
          </a:solidFill>
          <a:ln w="16510">
            <a:solidFill>
              <a:srgbClr val="229B6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331720" y="2542032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repository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822192" y="2002536"/>
            <a:ext cx="1097280" cy="548640"/>
          </a:xfrm>
          <a:prstGeom prst="roundRect">
            <a:avLst>
              <a:gd name="adj" fmla="val 11667"/>
            </a:avLst>
          </a:prstGeom>
          <a:solidFill>
            <a:srgbClr val="173A5E"/>
          </a:solidFill>
          <a:ln w="16510">
            <a:solidFill>
              <a:srgbClr val="E889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13632" y="2066544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adapter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755648" y="2139696"/>
            <a:ext cx="457200" cy="-292608"/>
          </a:xfrm>
          <a:prstGeom prst="line">
            <a:avLst/>
          </a:prstGeom>
          <a:noFill/>
          <a:ln w="17780">
            <a:solidFill>
              <a:srgbClr val="16B7C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55648" y="2139696"/>
            <a:ext cx="457200" cy="621792"/>
          </a:xfrm>
          <a:prstGeom prst="line">
            <a:avLst/>
          </a:prstGeom>
          <a:noFill/>
          <a:ln w="17780">
            <a:solidFill>
              <a:srgbClr val="16B7C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55848" y="1847088"/>
            <a:ext cx="438912" cy="402336"/>
          </a:xfrm>
          <a:prstGeom prst="line">
            <a:avLst/>
          </a:prstGeom>
          <a:noFill/>
          <a:ln w="17780">
            <a:solidFill>
              <a:srgbClr val="16B7C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55848" y="2761488"/>
            <a:ext cx="438912" cy="-512064"/>
          </a:xfrm>
          <a:prstGeom prst="line">
            <a:avLst/>
          </a:prstGeom>
          <a:noFill/>
          <a:ln w="17780">
            <a:solidFill>
              <a:srgbClr val="16B7C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3282696"/>
            <a:ext cx="4315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C5D3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AST / symbol / import-call graph → SCC 收缩 → 拓扑层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C5D3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函数、类、模块、测试簇是候选块；超预算时只在内部语义边界再切。</a:t>
            </a:r>
            <a:endParaRPr lang="en-US" sz="1020" dirty="0"/>
          </a:p>
        </p:txBody>
      </p:sp>
      <p:sp>
        <p:nvSpPr>
          <p:cNvPr id="22" name="Text 20"/>
          <p:cNvSpPr txBox="1"/>
          <p:nvPr/>
        </p:nvSpPr>
        <p:spPr>
          <a:xfrm>
            <a:off x="5303520" y="129844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B7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· DocWorker 产出证据包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285232" y="1664208"/>
            <a:ext cx="2761488" cy="2359152"/>
          </a:xfrm>
          <a:prstGeom prst="roundRect">
            <a:avLst>
              <a:gd name="adj" fmla="val 2713"/>
            </a:avLst>
          </a:prstGeom>
          <a:solidFill>
            <a:srgbClr val="173A5E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85232" y="1664208"/>
            <a:ext cx="64008" cy="2359152"/>
          </a:xfrm>
          <a:prstGeom prst="rect">
            <a:avLst/>
          </a:prstGeom>
          <a:solidFill>
            <a:srgbClr val="3976E8"/>
          </a:solidFill>
          <a:ln w="12700">
            <a:solidFill>
              <a:srgbClr val="3976E8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0" y="177393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ChunkEvidence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5504688" y="2258568"/>
            <a:ext cx="64008" cy="64008"/>
          </a:xfrm>
          <a:prstGeom prst="ellipse">
            <a:avLst/>
          </a:prstGeom>
          <a:solidFill>
            <a:srgbClr val="3976E8"/>
          </a:solidFill>
          <a:ln w="12700">
            <a:solidFill>
              <a:srgbClr val="3976E8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632704" y="2176272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C5D3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chunkId / symbols / source ranges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5504688" y="2569464"/>
            <a:ext cx="64008" cy="64008"/>
          </a:xfrm>
          <a:prstGeom prst="ellipse">
            <a:avLst/>
          </a:prstGeom>
          <a:solidFill>
            <a:srgbClr val="3976E8"/>
          </a:solidFill>
          <a:ln w="12700">
            <a:solidFill>
              <a:srgbClr val="3976E8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32704" y="2487168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C5D3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imports / callers / callees / tests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5504688" y="2880360"/>
            <a:ext cx="64008" cy="64008"/>
          </a:xfrm>
          <a:prstGeom prst="ellipse">
            <a:avLst/>
          </a:prstGeom>
          <a:solidFill>
            <a:srgbClr val="3976E8"/>
          </a:solidFill>
          <a:ln w="12700">
            <a:solidFill>
              <a:srgbClr val="3976E8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632704" y="2798064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C5D3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事实、约束、示例、provenance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5504688" y="3191256"/>
            <a:ext cx="64008" cy="64008"/>
          </a:xfrm>
          <a:prstGeom prst="ellipse">
            <a:avLst/>
          </a:prstGeom>
          <a:solidFill>
            <a:srgbClr val="3976E8"/>
          </a:solidFill>
          <a:ln w="12700">
            <a:solidFill>
              <a:srgbClr val="3976E8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632704" y="3108960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C5D3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依赖摘要与 unresolved issues</a:t>
            </a:r>
            <a:endParaRPr lang="en-US" sz="920" dirty="0"/>
          </a:p>
        </p:txBody>
      </p:sp>
      <p:sp>
        <p:nvSpPr>
          <p:cNvPr id="34" name="Text 32"/>
          <p:cNvSpPr txBox="1"/>
          <p:nvPr/>
        </p:nvSpPr>
        <p:spPr>
          <a:xfrm>
            <a:off x="8394192" y="129844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B7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· DocGen 增量聚合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394192" y="1664208"/>
            <a:ext cx="3127248" cy="612648"/>
          </a:xfrm>
          <a:prstGeom prst="roundRect">
            <a:avLst>
              <a:gd name="adj" fmla="val 10448"/>
            </a:avLst>
          </a:prstGeom>
          <a:solidFill>
            <a:srgbClr val="173A5E"/>
          </a:solidFill>
          <a:ln w="16510">
            <a:solidFill>
              <a:srgbClr val="3976E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485632" y="1728216"/>
            <a:ext cx="29443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按拓扑序消费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8485632" y="2011680"/>
            <a:ext cx="2944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0" dirty="0">
                <a:solidFill>
                  <a:srgbClr val="C5D3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先依赖，后调用方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8394192" y="2496312"/>
            <a:ext cx="3127248" cy="612648"/>
          </a:xfrm>
          <a:prstGeom prst="roundRect">
            <a:avLst>
              <a:gd name="adj" fmla="val 10448"/>
            </a:avLst>
          </a:prstGeom>
          <a:solidFill>
            <a:srgbClr val="173A5E"/>
          </a:solidFill>
          <a:ln w="16510">
            <a:solidFill>
              <a:srgbClr val="7656D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485632" y="2560320"/>
            <a:ext cx="29443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增量上下文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8485632" y="2843784"/>
            <a:ext cx="2944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0" dirty="0">
                <a:solidFill>
                  <a:srgbClr val="C5D3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摘要可复用，正文不重复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8394192" y="3328416"/>
            <a:ext cx="3127248" cy="612648"/>
          </a:xfrm>
          <a:prstGeom prst="roundRect">
            <a:avLst>
              <a:gd name="adj" fmla="val 10448"/>
            </a:avLst>
          </a:prstGeom>
          <a:solidFill>
            <a:srgbClr val="173A5E"/>
          </a:solidFill>
          <a:ln w="16510">
            <a:solidFill>
              <a:srgbClr val="229B6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485632" y="3392424"/>
            <a:ext cx="29443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验证—重写闭环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8485632" y="3675888"/>
            <a:ext cx="2944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0" dirty="0">
                <a:solidFill>
                  <a:srgbClr val="C5D3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 / 引用 / 冲突检查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612648" y="4361688"/>
            <a:ext cx="10908792" cy="914400"/>
          </a:xfrm>
          <a:prstGeom prst="roundRect">
            <a:avLst>
              <a:gd name="adj" fmla="val 7000"/>
            </a:avLst>
          </a:prstGeom>
          <a:solidFill>
            <a:srgbClr val="173A5E"/>
          </a:solidFill>
          <a:ln w="12700">
            <a:solidFill>
              <a:srgbClr val="31516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50392" y="4526280"/>
            <a:ext cx="19933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16B7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避免语义截断的判据</a:t>
            </a:r>
            <a:endParaRPr lang="en-US" sz="970" dirty="0"/>
          </a:p>
        </p:txBody>
      </p:sp>
      <p:sp>
        <p:nvSpPr>
          <p:cNvPr id="46" name="Text 44"/>
          <p:cNvSpPr txBox="1"/>
          <p:nvPr/>
        </p:nvSpPr>
        <p:spPr>
          <a:xfrm>
            <a:off x="2743200" y="4489704"/>
            <a:ext cx="8430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块内可独立解释；跨块依赖显式引用；声明与测试共同归组；循环依赖作为 SCC 整体；</a:t>
            </a:r>
            <a:endParaRPr lang="en-US" sz="1080" dirty="0"/>
          </a:p>
          <a:p>
            <a:pPr algn="l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 token 时保留接口 + 摘要 + provenance，正文递延，禁止从任意字符位置截断。</a:t>
            </a:r>
            <a:endParaRPr lang="en-US" sz="1080" dirty="0"/>
          </a:p>
        </p:txBody>
      </p:sp>
      <p:sp>
        <p:nvSpPr>
          <p:cNvPr id="47" name="Text 45"/>
          <p:cNvSpPr txBox="1"/>
          <p:nvPr/>
        </p:nvSpPr>
        <p:spPr>
          <a:xfrm>
            <a:off x="621792" y="5632704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10" i="1" dirty="0">
                <a:solidFill>
                  <a:srgbClr val="B9C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DocAgent 验证了 topological code processing + incremental context building；本项目借用原则，Schema 与 Gate 仍需在 wpKnowledge 内实现。</a:t>
            </a:r>
            <a:endParaRPr lang="en-US" sz="910" dirty="0"/>
          </a:p>
        </p:txBody>
      </p:sp>
      <p:sp>
        <p:nvSpPr>
          <p:cNvPr id="48" name="Text 46"/>
          <p:cNvSpPr txBox="1"/>
          <p:nvPr/>
        </p:nvSpPr>
        <p:spPr>
          <a:xfrm>
            <a:off x="7479792" y="6089904"/>
            <a:ext cx="621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9C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状态口径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8156448" y="6071616"/>
            <a:ext cx="932688" cy="265176"/>
          </a:xfrm>
          <a:prstGeom prst="roundRect">
            <a:avLst>
              <a:gd name="adj" fmla="val 24138"/>
            </a:avLst>
          </a:prstGeom>
          <a:solidFill>
            <a:srgbClr val="229B6A"/>
          </a:solidFill>
          <a:ln w="12700">
            <a:solidFill>
              <a:srgbClr val="229B6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229600" y="6108192"/>
            <a:ext cx="7863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IMPLEMENTED</a:t>
            </a:r>
            <a:endParaRPr lang="en-US" sz="730" dirty="0"/>
          </a:p>
        </p:txBody>
      </p:sp>
      <p:sp>
        <p:nvSpPr>
          <p:cNvPr id="51" name="Shape 49"/>
          <p:cNvSpPr/>
          <p:nvPr/>
        </p:nvSpPr>
        <p:spPr>
          <a:xfrm>
            <a:off x="9189720" y="6071616"/>
            <a:ext cx="603504" cy="265176"/>
          </a:xfrm>
          <a:prstGeom prst="roundRect">
            <a:avLst>
              <a:gd name="adj" fmla="val 24138"/>
            </a:avLst>
          </a:prstGeom>
          <a:solidFill>
            <a:srgbClr val="E8892E"/>
          </a:solidFill>
          <a:ln w="12700">
            <a:solidFill>
              <a:srgbClr val="E8892E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262872" y="6108192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</a:t>
            </a:r>
            <a:endParaRPr lang="en-US" sz="730" dirty="0"/>
          </a:p>
        </p:txBody>
      </p:sp>
      <p:sp>
        <p:nvSpPr>
          <p:cNvPr id="53" name="Shape 51"/>
          <p:cNvSpPr/>
          <p:nvPr/>
        </p:nvSpPr>
        <p:spPr>
          <a:xfrm>
            <a:off x="9893808" y="6071616"/>
            <a:ext cx="786384" cy="265176"/>
          </a:xfrm>
          <a:prstGeom prst="roundRect">
            <a:avLst>
              <a:gd name="adj" fmla="val 24138"/>
            </a:avLst>
          </a:prstGeom>
          <a:solidFill>
            <a:srgbClr val="7656D6"/>
          </a:solidFill>
          <a:ln w="12700">
            <a:solidFill>
              <a:srgbClr val="7656D6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966960" y="6108192"/>
            <a:ext cx="640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PLANNED</a:t>
            </a:r>
            <a:endParaRPr lang="en-US" sz="730" dirty="0"/>
          </a:p>
        </p:txBody>
      </p:sp>
      <p:sp>
        <p:nvSpPr>
          <p:cNvPr id="55" name="Text 53"/>
          <p:cNvSpPr txBox="1"/>
          <p:nvPr/>
        </p:nvSpPr>
        <p:spPr>
          <a:xfrm>
            <a:off x="10789920" y="6089904"/>
            <a:ext cx="8412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B9C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以实际代码为准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07084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6517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6B7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 + EVALUATION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466344"/>
            <a:ext cx="9738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5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代码生成与独立评测：路径隔离已存在，live CodeAgent 尚未接线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10405872" y="402336"/>
            <a:ext cx="1261872" cy="265176"/>
          </a:xfrm>
          <a:prstGeom prst="roundRect">
            <a:avLst>
              <a:gd name="adj" fmla="val 24138"/>
            </a:avLst>
          </a:prstGeom>
          <a:solidFill>
            <a:srgbClr val="3976E8"/>
          </a:solidFill>
          <a:ln w="12700">
            <a:solidFill>
              <a:srgbClr val="3976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79024" y="438912"/>
            <a:ext cx="11155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IMPLEMENTED + DEMO</a:t>
            </a:r>
            <a:endParaRPr lang="en-US" sz="770" dirty="0"/>
          </a:p>
        </p:txBody>
      </p:sp>
      <p:sp>
        <p:nvSpPr>
          <p:cNvPr id="6" name="Shape 4"/>
          <p:cNvSpPr/>
          <p:nvPr/>
        </p:nvSpPr>
        <p:spPr>
          <a:xfrm>
            <a:off x="502920" y="1069848"/>
            <a:ext cx="1118311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6501384"/>
            <a:ext cx="106253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1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代码：automated-project-workflow.ts:229-309；contracts/src/index.ts:127-197；composition.ts:100-109</a:t>
            </a:r>
            <a:endParaRPr lang="en-US" sz="710" dirty="0"/>
          </a:p>
        </p:txBody>
      </p:sp>
      <p:sp>
        <p:nvSpPr>
          <p:cNvPr id="8" name="Text 6"/>
          <p:cNvSpPr txBox="1"/>
          <p:nvPr/>
        </p:nvSpPr>
        <p:spPr>
          <a:xfrm>
            <a:off x="576072" y="1307592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97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候选路径 · 生成后再检查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76072" y="1865376"/>
            <a:ext cx="1280160" cy="713232"/>
          </a:xfrm>
          <a:prstGeom prst="roundRect">
            <a:avLst>
              <a:gd name="adj" fmla="val 8974"/>
            </a:avLst>
          </a:prstGeom>
          <a:solidFill>
            <a:srgbClr val="E8F0FF"/>
          </a:solidFill>
          <a:ln w="16510">
            <a:solidFill>
              <a:srgbClr val="3976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7512" y="1929384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DocGen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67512" y="22128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候选知识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947672" y="2057400"/>
            <a:ext cx="246888" cy="347472"/>
          </a:xfrm>
          <a:prstGeom prst="chevron">
            <a:avLst/>
          </a:prstGeom>
          <a:solidFill>
            <a:srgbClr val="3976E8"/>
          </a:solidFill>
          <a:ln w="12700">
            <a:solidFill>
              <a:srgbClr val="3976E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31720" y="1865376"/>
            <a:ext cx="1280160" cy="713232"/>
          </a:xfrm>
          <a:prstGeom prst="roundRect">
            <a:avLst>
              <a:gd name="adj" fmla="val 8974"/>
            </a:avLst>
          </a:prstGeom>
          <a:solidFill>
            <a:srgbClr val="DFF3E9"/>
          </a:solidFill>
          <a:ln w="16510">
            <a:solidFill>
              <a:srgbClr val="229B6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423160" y="1929384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423160" y="22128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 code-v1/v2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703320" y="2057400"/>
            <a:ext cx="246888" cy="347472"/>
          </a:xfrm>
          <a:prstGeom prst="chevron">
            <a:avLst/>
          </a:prstGeom>
          <a:solidFill>
            <a:srgbClr val="229B6A"/>
          </a:solidFill>
          <a:ln w="12700">
            <a:solidFill>
              <a:srgbClr val="229B6A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78224" y="1865376"/>
            <a:ext cx="1280160" cy="713232"/>
          </a:xfrm>
          <a:prstGeom prst="roundRect">
            <a:avLst>
              <a:gd name="adj" fmla="val 8974"/>
            </a:avLst>
          </a:prstGeom>
          <a:solidFill>
            <a:srgbClr val="FFF0DC"/>
          </a:solidFill>
          <a:ln w="16510">
            <a:solidFill>
              <a:srgbClr val="E889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69664" y="1929384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169664" y="22128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blocking / findings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76072" y="3182112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65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Oracle 路径 · 与候选实现隔离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76072" y="3739896"/>
            <a:ext cx="1280160" cy="713232"/>
          </a:xfrm>
          <a:prstGeom prst="roundRect">
            <a:avLst>
              <a:gd name="adj" fmla="val 8974"/>
            </a:avLst>
          </a:prstGeom>
          <a:solidFill>
            <a:srgbClr val="EDE8FB"/>
          </a:solidFill>
          <a:ln w="16510">
            <a:solidFill>
              <a:srgbClr val="7656D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7512" y="3803904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TestGen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67512" y="408736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固定命令 fixture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947672" y="3931920"/>
            <a:ext cx="246888" cy="347472"/>
          </a:xfrm>
          <a:prstGeom prst="chevron">
            <a:avLst/>
          </a:prstGeom>
          <a:solidFill>
            <a:srgbClr val="7656D6"/>
          </a:solidFill>
          <a:ln w="12700">
            <a:solidFill>
              <a:srgbClr val="7656D6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31720" y="3739896"/>
            <a:ext cx="1664208" cy="713232"/>
          </a:xfrm>
          <a:prstGeom prst="roundRect">
            <a:avLst>
              <a:gd name="adj" fmla="val 8974"/>
            </a:avLst>
          </a:prstGeom>
          <a:solidFill>
            <a:srgbClr val="EDE8FB"/>
          </a:solidFill>
          <a:ln w="16510">
            <a:solidFill>
              <a:srgbClr val="7656D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423160" y="3803904"/>
            <a:ext cx="1481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Reference Oracle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2423160" y="408736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先验证测试基线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376672" y="2221992"/>
            <a:ext cx="676656" cy="713232"/>
          </a:xfrm>
          <a:prstGeom prst="line">
            <a:avLst/>
          </a:prstGeom>
          <a:noFill/>
          <a:ln w="22860">
            <a:solidFill>
              <a:srgbClr val="E8892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23360" y="4087368"/>
            <a:ext cx="2029968" cy="-1152144"/>
          </a:xfrm>
          <a:prstGeom prst="line">
            <a:avLst/>
          </a:prstGeom>
          <a:noFill/>
          <a:ln w="22860">
            <a:solidFill>
              <a:srgbClr val="7656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08192" y="2487168"/>
            <a:ext cx="1920240" cy="932688"/>
          </a:xfrm>
          <a:prstGeom prst="roundRect">
            <a:avLst>
              <a:gd name="adj" fmla="val 6863"/>
            </a:avLst>
          </a:prstGeom>
          <a:solidFill>
            <a:srgbClr val="10253F"/>
          </a:solidFill>
          <a:ln w="16510">
            <a:solidFill>
              <a:srgbClr val="D9585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199632" y="2551176"/>
            <a:ext cx="1737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TrustedProjectEvaluator</a:t>
            </a:r>
            <a:endParaRPr lang="en-US" sz="1120" dirty="0"/>
          </a:p>
        </p:txBody>
      </p:sp>
      <p:sp>
        <p:nvSpPr>
          <p:cNvPr id="32" name="Text 30"/>
          <p:cNvSpPr txBox="1"/>
          <p:nvPr/>
        </p:nvSpPr>
        <p:spPr>
          <a:xfrm>
            <a:off x="6199632" y="283464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40" dirty="0">
                <a:solidFill>
                  <a:srgbClr val="D2DD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归档 workspace 内执行命令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D2DD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 stdout / stderr / tests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8147304" y="2788920"/>
            <a:ext cx="246888" cy="347472"/>
          </a:xfrm>
          <a:prstGeom prst="chevron">
            <a:avLst/>
          </a:prstGeom>
          <a:solidFill>
            <a:srgbClr val="D95852"/>
          </a:solidFill>
          <a:ln w="12700">
            <a:solidFill>
              <a:srgbClr val="D95852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77072" y="2487168"/>
            <a:ext cx="1490472" cy="932688"/>
          </a:xfrm>
          <a:prstGeom prst="roundRect">
            <a:avLst>
              <a:gd name="adj" fmla="val 6863"/>
            </a:avLst>
          </a:prstGeom>
          <a:solidFill>
            <a:srgbClr val="FBE7E5"/>
          </a:solidFill>
          <a:ln w="16510">
            <a:solidFill>
              <a:srgbClr val="D9585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668512" y="2551176"/>
            <a:ext cx="13075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8668512" y="2834640"/>
            <a:ext cx="1307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不可变 evidenceRef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0168128" y="2788920"/>
            <a:ext cx="246888" cy="347472"/>
          </a:xfrm>
          <a:prstGeom prst="chevron">
            <a:avLst/>
          </a:prstGeom>
          <a:solidFill>
            <a:srgbClr val="D95852"/>
          </a:solidFill>
          <a:ln w="12700">
            <a:solidFill>
              <a:srgbClr val="D95852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570464" y="2487168"/>
            <a:ext cx="1051560" cy="932688"/>
          </a:xfrm>
          <a:prstGeom prst="roundRect">
            <a:avLst>
              <a:gd name="adj" fmla="val 6863"/>
            </a:avLst>
          </a:prstGeom>
          <a:solidFill>
            <a:srgbClr val="EDE8FB"/>
          </a:solidFill>
          <a:ln w="16510">
            <a:solidFill>
              <a:srgbClr val="7656D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661904" y="2551176"/>
            <a:ext cx="868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10661904" y="2834640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归因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108192" y="3922776"/>
            <a:ext cx="2651760" cy="1362456"/>
          </a:xfrm>
          <a:prstGeom prst="roundRect">
            <a:avLst>
              <a:gd name="adj" fmla="val 4698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08192" y="3922776"/>
            <a:ext cx="64008" cy="1362456"/>
          </a:xfrm>
          <a:prstGeom prst="rect">
            <a:avLst/>
          </a:prstGeom>
          <a:solidFill>
            <a:srgbClr val="229B6A"/>
          </a:solidFill>
          <a:ln w="12700">
            <a:solidFill>
              <a:srgbClr val="229B6A">
                <a:alpha val="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309360" y="403250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</a:t>
            </a:r>
            <a:endParaRPr lang="en-US" sz="1550" dirty="0"/>
          </a:p>
        </p:txBody>
      </p:sp>
      <p:sp>
        <p:nvSpPr>
          <p:cNvPr id="44" name="Shape 42"/>
          <p:cNvSpPr/>
          <p:nvPr/>
        </p:nvSpPr>
        <p:spPr>
          <a:xfrm>
            <a:off x="6327648" y="4517136"/>
            <a:ext cx="64008" cy="64008"/>
          </a:xfrm>
          <a:prstGeom prst="ellipse">
            <a:avLst/>
          </a:prstGeom>
          <a:solidFill>
            <a:srgbClr val="229B6A"/>
          </a:solidFill>
          <a:ln w="12700">
            <a:solidFill>
              <a:srgbClr val="229B6A">
                <a:alpha val="0"/>
              </a:srgbClr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455664" y="4434840"/>
            <a:ext cx="2157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allowed path 校验</a:t>
            </a:r>
            <a:endParaRPr lang="en-US" sz="920" dirty="0"/>
          </a:p>
        </p:txBody>
      </p:sp>
      <p:sp>
        <p:nvSpPr>
          <p:cNvPr id="46" name="Shape 44"/>
          <p:cNvSpPr/>
          <p:nvPr/>
        </p:nvSpPr>
        <p:spPr>
          <a:xfrm>
            <a:off x="6327648" y="4782312"/>
            <a:ext cx="64008" cy="64008"/>
          </a:xfrm>
          <a:prstGeom prst="ellipse">
            <a:avLst/>
          </a:prstGeom>
          <a:solidFill>
            <a:srgbClr val="229B6A"/>
          </a:solidFill>
          <a:ln w="12700">
            <a:solidFill>
              <a:srgbClr val="229B6A">
                <a:alpha val="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455664" y="4700016"/>
            <a:ext cx="2157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reference oracle 先行</a:t>
            </a:r>
            <a:endParaRPr lang="en-US" sz="920" dirty="0"/>
          </a:p>
        </p:txBody>
      </p:sp>
      <p:sp>
        <p:nvSpPr>
          <p:cNvPr id="48" name="Shape 46"/>
          <p:cNvSpPr/>
          <p:nvPr/>
        </p:nvSpPr>
        <p:spPr>
          <a:xfrm>
            <a:off x="6327648" y="5047488"/>
            <a:ext cx="64008" cy="64008"/>
          </a:xfrm>
          <a:prstGeom prst="ellipse">
            <a:avLst/>
          </a:prstGeom>
          <a:solidFill>
            <a:srgbClr val="229B6A"/>
          </a:solidFill>
          <a:ln w="12700">
            <a:solidFill>
              <a:srgbClr val="229B6A">
                <a:alpha val="0"/>
              </a:srgbClr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455664" y="4965192"/>
            <a:ext cx="2157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Node 命令 + CAS 证据</a:t>
            </a:r>
            <a:endParaRPr lang="en-US" sz="920" dirty="0"/>
          </a:p>
        </p:txBody>
      </p:sp>
      <p:sp>
        <p:nvSpPr>
          <p:cNvPr id="50" name="Shape 48"/>
          <p:cNvSpPr/>
          <p:nvPr/>
        </p:nvSpPr>
        <p:spPr>
          <a:xfrm>
            <a:off x="8970264" y="3922776"/>
            <a:ext cx="2651760" cy="1362456"/>
          </a:xfrm>
          <a:prstGeom prst="roundRect">
            <a:avLst>
              <a:gd name="adj" fmla="val 4698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970264" y="3922776"/>
            <a:ext cx="64008" cy="1362456"/>
          </a:xfrm>
          <a:prstGeom prst="rect">
            <a:avLst/>
          </a:prstGeom>
          <a:solidFill>
            <a:srgbClr val="E8892E"/>
          </a:solidFill>
          <a:ln w="12700">
            <a:solidFill>
              <a:srgbClr val="E8892E">
                <a:alpha val="0"/>
              </a:srgbClr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171432" y="403250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当前边界</a:t>
            </a:r>
            <a:endParaRPr lang="en-US" sz="1550" dirty="0"/>
          </a:p>
        </p:txBody>
      </p:sp>
      <p:sp>
        <p:nvSpPr>
          <p:cNvPr id="53" name="Shape 51"/>
          <p:cNvSpPr/>
          <p:nvPr/>
        </p:nvSpPr>
        <p:spPr>
          <a:xfrm>
            <a:off x="9189720" y="4517136"/>
            <a:ext cx="64008" cy="64008"/>
          </a:xfrm>
          <a:prstGeom prst="ellipse">
            <a:avLst/>
          </a:prstGeom>
          <a:solidFill>
            <a:srgbClr val="E8892E"/>
          </a:solidFill>
          <a:ln w="12700">
            <a:solidFill>
              <a:srgbClr val="E8892E">
                <a:alpha val="0"/>
              </a:srgbClr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317736" y="4434840"/>
            <a:ext cx="2157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 / TestGen 仍读 fixture</a:t>
            </a:r>
            <a:endParaRPr lang="en-US" sz="920" dirty="0"/>
          </a:p>
        </p:txBody>
      </p:sp>
      <p:sp>
        <p:nvSpPr>
          <p:cNvPr id="55" name="Shape 53"/>
          <p:cNvSpPr/>
          <p:nvPr/>
        </p:nvSpPr>
        <p:spPr>
          <a:xfrm>
            <a:off x="9189720" y="4782312"/>
            <a:ext cx="64008" cy="64008"/>
          </a:xfrm>
          <a:prstGeom prst="ellipse">
            <a:avLst/>
          </a:prstGeom>
          <a:solidFill>
            <a:srgbClr val="E8892E"/>
          </a:solidFill>
          <a:ln w="12700">
            <a:solidFill>
              <a:srgbClr val="E8892E">
                <a:alpha val="0"/>
              </a:srgbClr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317736" y="4700016"/>
            <a:ext cx="2157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 CodeAgent provider</a:t>
            </a:r>
            <a:endParaRPr lang="en-US" sz="920" dirty="0"/>
          </a:p>
        </p:txBody>
      </p:sp>
      <p:sp>
        <p:nvSpPr>
          <p:cNvPr id="57" name="Shape 55"/>
          <p:cNvSpPr/>
          <p:nvPr/>
        </p:nvSpPr>
        <p:spPr>
          <a:xfrm>
            <a:off x="9189720" y="5047488"/>
            <a:ext cx="64008" cy="64008"/>
          </a:xfrm>
          <a:prstGeom prst="ellipse">
            <a:avLst/>
          </a:prstGeom>
          <a:solidFill>
            <a:srgbClr val="E8892E"/>
          </a:solidFill>
          <a:ln w="12700">
            <a:solidFill>
              <a:srgbClr val="E8892E">
                <a:alpha val="0"/>
              </a:srgbClr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9317736" y="4965192"/>
            <a:ext cx="2157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受信执行器不是敌对沙箱</a:t>
            </a:r>
            <a:endParaRPr lang="en-US" sz="920" dirty="0"/>
          </a:p>
        </p:txBody>
      </p:sp>
      <p:sp>
        <p:nvSpPr>
          <p:cNvPr id="59" name="Text 57"/>
          <p:cNvSpPr txBox="1"/>
          <p:nvPr/>
        </p:nvSpPr>
        <p:spPr>
          <a:xfrm>
            <a:off x="7479792" y="6089904"/>
            <a:ext cx="621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状态口径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8156448" y="6071616"/>
            <a:ext cx="932688" cy="265176"/>
          </a:xfrm>
          <a:prstGeom prst="roundRect">
            <a:avLst>
              <a:gd name="adj" fmla="val 24138"/>
            </a:avLst>
          </a:prstGeom>
          <a:solidFill>
            <a:srgbClr val="229B6A"/>
          </a:solidFill>
          <a:ln w="12700">
            <a:solidFill>
              <a:srgbClr val="229B6A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229600" y="6108192"/>
            <a:ext cx="7863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IMPLEMENTED</a:t>
            </a:r>
            <a:endParaRPr lang="en-US" sz="730" dirty="0"/>
          </a:p>
        </p:txBody>
      </p:sp>
      <p:sp>
        <p:nvSpPr>
          <p:cNvPr id="62" name="Shape 60"/>
          <p:cNvSpPr/>
          <p:nvPr/>
        </p:nvSpPr>
        <p:spPr>
          <a:xfrm>
            <a:off x="9189720" y="6071616"/>
            <a:ext cx="603504" cy="265176"/>
          </a:xfrm>
          <a:prstGeom prst="roundRect">
            <a:avLst>
              <a:gd name="adj" fmla="val 24138"/>
            </a:avLst>
          </a:prstGeom>
          <a:solidFill>
            <a:srgbClr val="E8892E"/>
          </a:solidFill>
          <a:ln w="12700">
            <a:solidFill>
              <a:srgbClr val="E8892E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9262872" y="6108192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</a:t>
            </a:r>
            <a:endParaRPr lang="en-US" sz="730" dirty="0"/>
          </a:p>
        </p:txBody>
      </p:sp>
      <p:sp>
        <p:nvSpPr>
          <p:cNvPr id="64" name="Shape 62"/>
          <p:cNvSpPr/>
          <p:nvPr/>
        </p:nvSpPr>
        <p:spPr>
          <a:xfrm>
            <a:off x="9893808" y="6071616"/>
            <a:ext cx="786384" cy="265176"/>
          </a:xfrm>
          <a:prstGeom prst="roundRect">
            <a:avLst>
              <a:gd name="adj" fmla="val 24138"/>
            </a:avLst>
          </a:prstGeom>
          <a:solidFill>
            <a:srgbClr val="7656D6"/>
          </a:solidFill>
          <a:ln w="12700">
            <a:solidFill>
              <a:srgbClr val="7656D6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9966960" y="6108192"/>
            <a:ext cx="640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PLANNED</a:t>
            </a:r>
            <a:endParaRPr lang="en-US" sz="730" dirty="0"/>
          </a:p>
        </p:txBody>
      </p:sp>
      <p:sp>
        <p:nvSpPr>
          <p:cNvPr id="66" name="Text 64"/>
          <p:cNvSpPr txBox="1"/>
          <p:nvPr/>
        </p:nvSpPr>
        <p:spPr>
          <a:xfrm>
            <a:off x="10789920" y="6089904"/>
            <a:ext cx="8412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以实际代码为准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07084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5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6517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6B7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 LOOP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466344"/>
            <a:ext cx="9738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 / Correction / 迭代：Review 给证据，Gate 才给状态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10405872" y="402336"/>
            <a:ext cx="1261872" cy="265176"/>
          </a:xfrm>
          <a:prstGeom prst="roundRect">
            <a:avLst>
              <a:gd name="adj" fmla="val 24138"/>
            </a:avLst>
          </a:prstGeom>
          <a:solidFill>
            <a:srgbClr val="229B6A"/>
          </a:solidFill>
          <a:ln w="12700">
            <a:solidFill>
              <a:srgbClr val="229B6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79024" y="438912"/>
            <a:ext cx="11155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IMPLEMENTED</a:t>
            </a:r>
            <a:endParaRPr lang="en-US" sz="770" dirty="0"/>
          </a:p>
        </p:txBody>
      </p:sp>
      <p:sp>
        <p:nvSpPr>
          <p:cNvPr id="6" name="Shape 4"/>
          <p:cNvSpPr/>
          <p:nvPr/>
        </p:nvSpPr>
        <p:spPr>
          <a:xfrm>
            <a:off x="502920" y="1069848"/>
            <a:ext cx="11183112" cy="0"/>
          </a:xfrm>
          <a:prstGeom prst="line">
            <a:avLst/>
          </a:prstGeom>
          <a:noFill/>
          <a:ln w="12700">
            <a:solidFill>
              <a:srgbClr val="3151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6501384"/>
            <a:ext cx="106253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10" dirty="0">
                <a:solidFill>
                  <a:srgbClr val="B9C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代码：automated-project-workflow.ts:312-374；application/src/index.ts:128-194；domain/src/index.ts:159-196；commit b6973a8</a:t>
            </a:r>
            <a:endParaRPr lang="en-US" sz="710" dirty="0"/>
          </a:p>
        </p:txBody>
      </p:sp>
      <p:sp>
        <p:nvSpPr>
          <p:cNvPr id="8" name="Shape 6"/>
          <p:cNvSpPr/>
          <p:nvPr/>
        </p:nvSpPr>
        <p:spPr>
          <a:xfrm>
            <a:off x="576072" y="2057400"/>
            <a:ext cx="1444752" cy="841248"/>
          </a:xfrm>
          <a:prstGeom prst="roundRect">
            <a:avLst>
              <a:gd name="adj" fmla="val 7609"/>
            </a:avLst>
          </a:prstGeom>
          <a:solidFill>
            <a:srgbClr val="173A5E"/>
          </a:solidFill>
          <a:ln w="16510">
            <a:solidFill>
              <a:srgbClr val="D958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7512" y="2121408"/>
            <a:ext cx="1261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2404872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5D3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tests / stability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5D3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infrastructureFailure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21408" y="2304288"/>
            <a:ext cx="246888" cy="347472"/>
          </a:xfrm>
          <a:prstGeom prst="chevron">
            <a:avLst/>
          </a:prstGeom>
          <a:solidFill>
            <a:srgbClr val="D95852"/>
          </a:solidFill>
          <a:ln w="12700">
            <a:solidFill>
              <a:srgbClr val="D95852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87168" y="2057400"/>
            <a:ext cx="1444752" cy="841248"/>
          </a:xfrm>
          <a:prstGeom prst="roundRect">
            <a:avLst>
              <a:gd name="adj" fmla="val 7609"/>
            </a:avLst>
          </a:prstGeom>
          <a:solidFill>
            <a:srgbClr val="173A5E"/>
          </a:solidFill>
          <a:ln w="16510">
            <a:solidFill>
              <a:srgbClr val="7656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78608" y="2121408"/>
            <a:ext cx="1261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578608" y="2404872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5D3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blocking / recommendation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5D3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Correction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041648" y="2304288"/>
            <a:ext cx="246888" cy="347472"/>
          </a:xfrm>
          <a:prstGeom prst="chevron">
            <a:avLst/>
          </a:prstGeom>
          <a:solidFill>
            <a:srgbClr val="7656D6"/>
          </a:solidFill>
          <a:ln w="12700">
            <a:solidFill>
              <a:srgbClr val="7656D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07408" y="1883664"/>
            <a:ext cx="1865376" cy="1188720"/>
          </a:xfrm>
          <a:prstGeom prst="roundRect">
            <a:avLst>
              <a:gd name="adj" fmla="val 5385"/>
            </a:avLst>
          </a:prstGeom>
          <a:solidFill>
            <a:srgbClr val="224867"/>
          </a:solidFill>
          <a:ln w="16510">
            <a:solidFill>
              <a:srgbClr val="229B6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98848" y="1947672"/>
            <a:ext cx="16824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wp Domain Gate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498848" y="2231136"/>
            <a:ext cx="16824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60" dirty="0">
                <a:solidFill>
                  <a:srgbClr val="D4E0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绑定 body / code / oracle / check / review</a:t>
            </a:r>
            <a:endParaRPr lang="en-US" sz="860" dirty="0"/>
          </a:p>
          <a:p>
            <a:pPr algn="ctr" indent="0" marL="0">
              <a:buNone/>
            </a:pPr>
            <a:r>
              <a:rPr lang="en-US" sz="860" dirty="0">
                <a:solidFill>
                  <a:srgbClr val="D4E0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策略产生唯一 GateDecision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6455664" y="1536192"/>
            <a:ext cx="246888" cy="347472"/>
          </a:xfrm>
          <a:prstGeom prst="chevron">
            <a:avLst/>
          </a:prstGeom>
          <a:solidFill>
            <a:srgbClr val="229B6A"/>
          </a:solidFill>
          <a:ln w="12700">
            <a:solidFill>
              <a:srgbClr val="229B6A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93992" y="1335024"/>
            <a:ext cx="1847088" cy="713232"/>
          </a:xfrm>
          <a:prstGeom prst="roundRect">
            <a:avLst>
              <a:gd name="adj" fmla="val 8974"/>
            </a:avLst>
          </a:prstGeom>
          <a:solidFill>
            <a:srgbClr val="173A5E"/>
          </a:solidFill>
          <a:ln w="16510">
            <a:solidFill>
              <a:srgbClr val="229B6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85432" y="1399032"/>
            <a:ext cx="16642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PASS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885432" y="1682496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5D3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Publication → VERIFIED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55664" y="2596896"/>
            <a:ext cx="246888" cy="347472"/>
          </a:xfrm>
          <a:prstGeom prst="chevron">
            <a:avLst/>
          </a:prstGeom>
          <a:solidFill>
            <a:srgbClr val="E8892E"/>
          </a:solidFill>
          <a:ln w="12700">
            <a:solidFill>
              <a:srgbClr val="E8892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93992" y="2395728"/>
            <a:ext cx="1847088" cy="713232"/>
          </a:xfrm>
          <a:prstGeom prst="roundRect">
            <a:avLst>
              <a:gd name="adj" fmla="val 8974"/>
            </a:avLst>
          </a:prstGeom>
          <a:solidFill>
            <a:srgbClr val="173A5E"/>
          </a:solidFill>
          <a:ln w="16510">
            <a:solidFill>
              <a:srgbClr val="E8892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85432" y="2459736"/>
            <a:ext cx="16642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ITERATE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885432" y="274320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5D3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FlywheelRun +1 → 新候选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55664" y="3657600"/>
            <a:ext cx="246888" cy="347472"/>
          </a:xfrm>
          <a:prstGeom prst="chevron">
            <a:avLst/>
          </a:prstGeom>
          <a:solidFill>
            <a:srgbClr val="D95852"/>
          </a:solidFill>
          <a:ln w="12700">
            <a:solidFill>
              <a:srgbClr val="D95852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93992" y="3456432"/>
            <a:ext cx="1847088" cy="713232"/>
          </a:xfrm>
          <a:prstGeom prst="roundRect">
            <a:avLst>
              <a:gd name="adj" fmla="val 8974"/>
            </a:avLst>
          </a:prstGeom>
          <a:solidFill>
            <a:srgbClr val="173A5E"/>
          </a:solidFill>
          <a:ln w="16510">
            <a:solidFill>
              <a:srgbClr val="D9585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85432" y="3520440"/>
            <a:ext cx="16642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STOPPED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885432" y="3803904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5D3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LOW_CONFIDENCE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070848" y="1335024"/>
            <a:ext cx="2514600" cy="2651760"/>
          </a:xfrm>
          <a:prstGeom prst="roundRect">
            <a:avLst>
              <a:gd name="adj" fmla="val 2545"/>
            </a:avLst>
          </a:prstGeom>
          <a:solidFill>
            <a:srgbClr val="173A5E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70848" y="1335024"/>
            <a:ext cx="64008" cy="2651760"/>
          </a:xfrm>
          <a:prstGeom prst="rect">
            <a:avLst/>
          </a:prstGeom>
          <a:solidFill>
            <a:srgbClr val="16B7C9"/>
          </a:solidFill>
          <a:ln w="12700">
            <a:solidFill>
              <a:srgbClr val="16B7C9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272016" y="1444752"/>
            <a:ext cx="2203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修复后的约束</a:t>
            </a:r>
            <a:endParaRPr lang="en-US" sz="1550" dirty="0"/>
          </a:p>
        </p:txBody>
      </p:sp>
      <p:sp>
        <p:nvSpPr>
          <p:cNvPr id="34" name="Shape 32"/>
          <p:cNvSpPr/>
          <p:nvPr/>
        </p:nvSpPr>
        <p:spPr>
          <a:xfrm>
            <a:off x="9290304" y="1929384"/>
            <a:ext cx="64008" cy="64008"/>
          </a:xfrm>
          <a:prstGeom prst="ellipse">
            <a:avLst/>
          </a:prstGeom>
          <a:solidFill>
            <a:srgbClr val="16B7C9"/>
          </a:solidFill>
          <a:ln w="12700">
            <a:solidFill>
              <a:srgbClr val="16B7C9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418320" y="1847088"/>
            <a:ext cx="2020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C5D3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 产物先存在，才记录正常 GateDecision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9290304" y="2240280"/>
            <a:ext cx="64008" cy="64008"/>
          </a:xfrm>
          <a:prstGeom prst="ellipse">
            <a:avLst/>
          </a:prstGeom>
          <a:solidFill>
            <a:srgbClr val="16B7C9"/>
          </a:solidFill>
          <a:ln w="12700">
            <a:solidFill>
              <a:srgbClr val="16B7C9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418320" y="2157984"/>
            <a:ext cx="2020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C5D3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 / Review blocking 进入 reasonCodes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9290304" y="2551176"/>
            <a:ext cx="64008" cy="64008"/>
          </a:xfrm>
          <a:prstGeom prst="ellipse">
            <a:avLst/>
          </a:prstGeom>
          <a:solidFill>
            <a:srgbClr val="16B7C9"/>
          </a:solidFill>
          <a:ln w="12700">
            <a:solidFill>
              <a:srgbClr val="16B7C9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418320" y="2468880"/>
            <a:ext cx="2020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C5D3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Graph 只执行 GateDecision，不另算 maxIterations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9290304" y="2862072"/>
            <a:ext cx="64008" cy="64008"/>
          </a:xfrm>
          <a:prstGeom prst="ellipse">
            <a:avLst/>
          </a:prstGeom>
          <a:solidFill>
            <a:srgbClr val="16B7C9"/>
          </a:solidFill>
          <a:ln w="12700">
            <a:solidFill>
              <a:srgbClr val="16B7C9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418320" y="2779776"/>
            <a:ext cx="2020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C5D3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基础设施失败可跳过 Review，但仍由 Domain Gate STOPPED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594360" y="4334256"/>
            <a:ext cx="8028432" cy="786384"/>
          </a:xfrm>
          <a:prstGeom prst="roundRect">
            <a:avLst>
              <a:gd name="adj" fmla="val 8140"/>
            </a:avLst>
          </a:prstGeom>
          <a:solidFill>
            <a:srgbClr val="173A5E"/>
          </a:solidFill>
          <a:ln w="12700">
            <a:solidFill>
              <a:srgbClr val="31516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32104" y="4507992"/>
            <a:ext cx="7543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Correction 只描述“知识路径 → 失败证据 → 可判定修订标准”；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它不能直接改状态，也不能绕过 fresh Code / Eval / Gate。</a:t>
            </a:r>
            <a:endParaRPr lang="en-US" sz="1120" dirty="0"/>
          </a:p>
        </p:txBody>
      </p:sp>
      <p:sp>
        <p:nvSpPr>
          <p:cNvPr id="44" name="Text 42"/>
          <p:cNvSpPr txBox="1"/>
          <p:nvPr/>
        </p:nvSpPr>
        <p:spPr>
          <a:xfrm>
            <a:off x="7479792" y="6089904"/>
            <a:ext cx="621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9C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状态口径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8156448" y="6071616"/>
            <a:ext cx="932688" cy="265176"/>
          </a:xfrm>
          <a:prstGeom prst="roundRect">
            <a:avLst>
              <a:gd name="adj" fmla="val 24138"/>
            </a:avLst>
          </a:prstGeom>
          <a:solidFill>
            <a:srgbClr val="229B6A"/>
          </a:solidFill>
          <a:ln w="12700">
            <a:solidFill>
              <a:srgbClr val="229B6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229600" y="6108192"/>
            <a:ext cx="7863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IMPLEMENTED</a:t>
            </a:r>
            <a:endParaRPr lang="en-US" sz="730" dirty="0"/>
          </a:p>
        </p:txBody>
      </p:sp>
      <p:sp>
        <p:nvSpPr>
          <p:cNvPr id="47" name="Shape 45"/>
          <p:cNvSpPr/>
          <p:nvPr/>
        </p:nvSpPr>
        <p:spPr>
          <a:xfrm>
            <a:off x="9189720" y="6071616"/>
            <a:ext cx="603504" cy="265176"/>
          </a:xfrm>
          <a:prstGeom prst="roundRect">
            <a:avLst>
              <a:gd name="adj" fmla="val 24138"/>
            </a:avLst>
          </a:prstGeom>
          <a:solidFill>
            <a:srgbClr val="E8892E"/>
          </a:solidFill>
          <a:ln w="12700">
            <a:solidFill>
              <a:srgbClr val="E8892E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262872" y="6108192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</a:t>
            </a:r>
            <a:endParaRPr lang="en-US" sz="730" dirty="0"/>
          </a:p>
        </p:txBody>
      </p:sp>
      <p:sp>
        <p:nvSpPr>
          <p:cNvPr id="49" name="Shape 47"/>
          <p:cNvSpPr/>
          <p:nvPr/>
        </p:nvSpPr>
        <p:spPr>
          <a:xfrm>
            <a:off x="9893808" y="6071616"/>
            <a:ext cx="786384" cy="265176"/>
          </a:xfrm>
          <a:prstGeom prst="roundRect">
            <a:avLst>
              <a:gd name="adj" fmla="val 24138"/>
            </a:avLst>
          </a:prstGeom>
          <a:solidFill>
            <a:srgbClr val="7656D6"/>
          </a:solidFill>
          <a:ln w="12700">
            <a:solidFill>
              <a:srgbClr val="7656D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966960" y="6108192"/>
            <a:ext cx="640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PLANNED</a:t>
            </a:r>
            <a:endParaRPr lang="en-US" sz="730" dirty="0"/>
          </a:p>
        </p:txBody>
      </p:sp>
      <p:sp>
        <p:nvSpPr>
          <p:cNvPr id="51" name="Text 49"/>
          <p:cNvSpPr txBox="1"/>
          <p:nvPr/>
        </p:nvSpPr>
        <p:spPr>
          <a:xfrm>
            <a:off x="10789920" y="6089904"/>
            <a:ext cx="8412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B9C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以实际代码为准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07084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6517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6B7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END TO END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466344"/>
            <a:ext cx="9738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5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端到端流程：LangGraph 推进执行，wpKnowledge 记录可发布事实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10405872" y="402336"/>
            <a:ext cx="1261872" cy="265176"/>
          </a:xfrm>
          <a:prstGeom prst="roundRect">
            <a:avLst>
              <a:gd name="adj" fmla="val 24138"/>
            </a:avLst>
          </a:prstGeom>
          <a:solidFill>
            <a:srgbClr val="3976E8"/>
          </a:solidFill>
          <a:ln w="12700">
            <a:solidFill>
              <a:srgbClr val="3976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79024" y="438912"/>
            <a:ext cx="11155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IMPLEMENTED + DEMO</a:t>
            </a:r>
            <a:endParaRPr lang="en-US" sz="770" dirty="0"/>
          </a:p>
        </p:txBody>
      </p:sp>
      <p:sp>
        <p:nvSpPr>
          <p:cNvPr id="6" name="Shape 4"/>
          <p:cNvSpPr/>
          <p:nvPr/>
        </p:nvSpPr>
        <p:spPr>
          <a:xfrm>
            <a:off x="502920" y="1069848"/>
            <a:ext cx="1118311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6501384"/>
            <a:ext cx="106253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1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代码：graph.ts；runtime.ts；automated-project-workflow.ts；application/src/index.ts；SQLiteFlywheelRepository</a:t>
            </a:r>
            <a:endParaRPr lang="en-US" sz="71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29844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97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LANGGRAPH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77647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29B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WPKNOWLEDGE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30352" y="3438144"/>
            <a:ext cx="11100816" cy="0"/>
          </a:xfrm>
          <a:prstGeom prst="line">
            <a:avLst/>
          </a:prstGeom>
          <a:noFill/>
          <a:ln w="13970">
            <a:solidFill>
              <a:srgbClr val="D7E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911096"/>
            <a:ext cx="1170432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16B7C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1947672"/>
            <a:ext cx="10241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Orchestrate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1810512" y="2093976"/>
            <a:ext cx="182880" cy="292608"/>
          </a:xfrm>
          <a:prstGeom prst="chevron">
            <a:avLst/>
          </a:prstGeom>
          <a:solidFill>
            <a:srgbClr val="16B7C9"/>
          </a:solidFill>
          <a:ln w="12700">
            <a:solidFill>
              <a:srgbClr val="16B7C9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57400" y="1911096"/>
            <a:ext cx="1298448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3976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130552" y="1947672"/>
            <a:ext cx="11521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DocWorker</a:t>
            </a:r>
            <a:endParaRPr lang="en-US" sz="980" dirty="0"/>
          </a:p>
          <a:p>
            <a:pPr algn="ctr" indent="0" marL="0">
              <a:buNone/>
            </a:pPr>
            <a:r>
              <a:rPr lang="en-US" sz="980" b="1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DocGen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3429000" y="2093976"/>
            <a:ext cx="182880" cy="292608"/>
          </a:xfrm>
          <a:prstGeom prst="chevron">
            <a:avLst/>
          </a:prstGeom>
          <a:solidFill>
            <a:srgbClr val="3976E8"/>
          </a:solidFill>
          <a:ln w="12700">
            <a:solidFill>
              <a:srgbClr val="3976E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75888" y="1911096"/>
            <a:ext cx="1298448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229B6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749040" y="1947672"/>
            <a:ext cx="11521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 + Check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5047488" y="2093976"/>
            <a:ext cx="182880" cy="292608"/>
          </a:xfrm>
          <a:prstGeom prst="chevron">
            <a:avLst/>
          </a:prstGeom>
          <a:solidFill>
            <a:srgbClr val="229B6A"/>
          </a:solidFill>
          <a:ln w="12700">
            <a:solidFill>
              <a:srgbClr val="229B6A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94376" y="1911096"/>
            <a:ext cx="10972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9585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67528" y="1947672"/>
            <a:ext cx="9509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Eval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6464808" y="2093976"/>
            <a:ext cx="182880" cy="292608"/>
          </a:xfrm>
          <a:prstGeom prst="chevron">
            <a:avLst/>
          </a:prstGeom>
          <a:solidFill>
            <a:srgbClr val="D95852"/>
          </a:solidFill>
          <a:ln w="12700">
            <a:solidFill>
              <a:srgbClr val="D9585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02552" y="1911096"/>
            <a:ext cx="10972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7656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75704" y="1947672"/>
            <a:ext cx="9509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7872984" y="2093976"/>
            <a:ext cx="182880" cy="292608"/>
          </a:xfrm>
          <a:prstGeom prst="chevron">
            <a:avLst/>
          </a:prstGeom>
          <a:solidFill>
            <a:srgbClr val="7656D6"/>
          </a:solidFill>
          <a:ln w="12700">
            <a:solidFill>
              <a:srgbClr val="7656D6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01584" y="1911096"/>
            <a:ext cx="10972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8892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174736" y="1947672"/>
            <a:ext cx="9509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Router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9272016" y="2093976"/>
            <a:ext cx="182880" cy="292608"/>
          </a:xfrm>
          <a:prstGeom prst="chevron">
            <a:avLst/>
          </a:prstGeom>
          <a:solidFill>
            <a:srgbClr val="E8892E"/>
          </a:solidFill>
          <a:ln w="12700">
            <a:solidFill>
              <a:srgbClr val="E8892E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46920" y="1911096"/>
            <a:ext cx="1389888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229B6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720072" y="1947672"/>
            <a:ext cx="12435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Publication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566928" y="4297680"/>
            <a:ext cx="1170432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3976E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" y="4334256"/>
            <a:ext cx="10241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CREATED</a:t>
            </a:r>
            <a:endParaRPr lang="en-US" sz="890" dirty="0"/>
          </a:p>
          <a:p>
            <a:pPr algn="ctr" indent="0" marL="0">
              <a:buNone/>
            </a:pPr>
            <a:r>
              <a:rPr lang="en-US" sz="890" b="1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GENERATING</a:t>
            </a:r>
            <a:endParaRPr lang="en-US" sz="890" dirty="0"/>
          </a:p>
        </p:txBody>
      </p:sp>
      <p:sp>
        <p:nvSpPr>
          <p:cNvPr id="33" name="Shape 31"/>
          <p:cNvSpPr/>
          <p:nvPr/>
        </p:nvSpPr>
        <p:spPr>
          <a:xfrm>
            <a:off x="1810512" y="4480560"/>
            <a:ext cx="182880" cy="292608"/>
          </a:xfrm>
          <a:prstGeom prst="chevron">
            <a:avLst/>
          </a:prstGeom>
          <a:solidFill>
            <a:srgbClr val="3976E8"/>
          </a:solidFill>
          <a:ln w="12700">
            <a:solidFill>
              <a:srgbClr val="3976E8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057400" y="4297680"/>
            <a:ext cx="1298448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3976E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130552" y="4334256"/>
            <a:ext cx="11521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CANDIDATE</a:t>
            </a:r>
            <a:endParaRPr lang="en-US" sz="890" dirty="0"/>
          </a:p>
          <a:p>
            <a:pPr algn="ctr" indent="0" marL="0">
              <a:buNone/>
            </a:pPr>
            <a:r>
              <a:rPr lang="en-US" sz="890" b="1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CAS refs</a:t>
            </a:r>
            <a:endParaRPr lang="en-US" sz="890" dirty="0"/>
          </a:p>
        </p:txBody>
      </p:sp>
      <p:sp>
        <p:nvSpPr>
          <p:cNvPr id="36" name="Shape 34"/>
          <p:cNvSpPr/>
          <p:nvPr/>
        </p:nvSpPr>
        <p:spPr>
          <a:xfrm>
            <a:off x="3429000" y="4480560"/>
            <a:ext cx="182880" cy="292608"/>
          </a:xfrm>
          <a:prstGeom prst="chevron">
            <a:avLst/>
          </a:prstGeom>
          <a:solidFill>
            <a:srgbClr val="3976E8"/>
          </a:solidFill>
          <a:ln w="12700">
            <a:solidFill>
              <a:srgbClr val="3976E8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75888" y="4297680"/>
            <a:ext cx="1298448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7656D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749040" y="4334256"/>
            <a:ext cx="11521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GenerationKey</a:t>
            </a:r>
            <a:endParaRPr lang="en-US" sz="890" dirty="0"/>
          </a:p>
          <a:p>
            <a:pPr algn="ctr" indent="0" marL="0">
              <a:buNone/>
            </a:pPr>
            <a:r>
              <a:rPr lang="en-US" sz="890" b="1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COMMITTED</a:t>
            </a:r>
            <a:endParaRPr lang="en-US" sz="890" dirty="0"/>
          </a:p>
        </p:txBody>
      </p:sp>
      <p:sp>
        <p:nvSpPr>
          <p:cNvPr id="39" name="Shape 37"/>
          <p:cNvSpPr/>
          <p:nvPr/>
        </p:nvSpPr>
        <p:spPr>
          <a:xfrm>
            <a:off x="5047488" y="4480560"/>
            <a:ext cx="182880" cy="292608"/>
          </a:xfrm>
          <a:prstGeom prst="chevron">
            <a:avLst/>
          </a:prstGeom>
          <a:solidFill>
            <a:srgbClr val="7656D6"/>
          </a:solidFill>
          <a:ln w="12700">
            <a:solidFill>
              <a:srgbClr val="7656D6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294376" y="4297680"/>
            <a:ext cx="10972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9585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367528" y="4334256"/>
            <a:ext cx="9509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EvaluationReport</a:t>
            </a:r>
            <a:endParaRPr lang="en-US" sz="890" dirty="0"/>
          </a:p>
          <a:p>
            <a:pPr algn="ctr" indent="0" marL="0">
              <a:buNone/>
            </a:pPr>
            <a:r>
              <a:rPr lang="en-US" sz="890" b="1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evidence</a:t>
            </a:r>
            <a:endParaRPr lang="en-US" sz="890" dirty="0"/>
          </a:p>
        </p:txBody>
      </p:sp>
      <p:sp>
        <p:nvSpPr>
          <p:cNvPr id="42" name="Shape 40"/>
          <p:cNvSpPr/>
          <p:nvPr/>
        </p:nvSpPr>
        <p:spPr>
          <a:xfrm>
            <a:off x="6464808" y="4480560"/>
            <a:ext cx="182880" cy="292608"/>
          </a:xfrm>
          <a:prstGeom prst="chevron">
            <a:avLst/>
          </a:prstGeom>
          <a:solidFill>
            <a:srgbClr val="D95852"/>
          </a:solidFill>
          <a:ln w="12700">
            <a:solidFill>
              <a:srgbClr val="D95852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702552" y="4297680"/>
            <a:ext cx="10972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8892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775704" y="4334256"/>
            <a:ext cx="9509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GateDecision</a:t>
            </a:r>
            <a:endParaRPr lang="en-US" sz="890" dirty="0"/>
          </a:p>
        </p:txBody>
      </p:sp>
      <p:sp>
        <p:nvSpPr>
          <p:cNvPr id="45" name="Shape 43"/>
          <p:cNvSpPr/>
          <p:nvPr/>
        </p:nvSpPr>
        <p:spPr>
          <a:xfrm>
            <a:off x="7872984" y="4480560"/>
            <a:ext cx="182880" cy="292608"/>
          </a:xfrm>
          <a:prstGeom prst="chevron">
            <a:avLst/>
          </a:prstGeom>
          <a:solidFill>
            <a:srgbClr val="E8892E"/>
          </a:solidFill>
          <a:ln w="12700">
            <a:solidFill>
              <a:srgbClr val="E8892E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101584" y="4297680"/>
            <a:ext cx="10972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229B6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174736" y="4334256"/>
            <a:ext cx="9509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PUBLISHING</a:t>
            </a:r>
            <a:endParaRPr lang="en-US" sz="890" dirty="0"/>
          </a:p>
        </p:txBody>
      </p:sp>
      <p:sp>
        <p:nvSpPr>
          <p:cNvPr id="48" name="Shape 46"/>
          <p:cNvSpPr/>
          <p:nvPr/>
        </p:nvSpPr>
        <p:spPr>
          <a:xfrm>
            <a:off x="9272016" y="4480560"/>
            <a:ext cx="182880" cy="292608"/>
          </a:xfrm>
          <a:prstGeom prst="chevron">
            <a:avLst/>
          </a:prstGeom>
          <a:solidFill>
            <a:srgbClr val="229B6A"/>
          </a:solidFill>
          <a:ln w="12700">
            <a:solidFill>
              <a:srgbClr val="229B6A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646920" y="4297680"/>
            <a:ext cx="1389888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229B6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720072" y="4334256"/>
            <a:ext cx="12435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VERIFIED</a:t>
            </a:r>
            <a:endParaRPr lang="en-US" sz="890" dirty="0"/>
          </a:p>
        </p:txBody>
      </p:sp>
      <p:sp>
        <p:nvSpPr>
          <p:cNvPr id="51" name="Shape 49"/>
          <p:cNvSpPr/>
          <p:nvPr/>
        </p:nvSpPr>
        <p:spPr>
          <a:xfrm>
            <a:off x="1152144" y="2615184"/>
            <a:ext cx="0" cy="1636776"/>
          </a:xfrm>
          <a:prstGeom prst="line">
            <a:avLst/>
          </a:prstGeom>
          <a:noFill/>
          <a:ln w="12700">
            <a:solidFill>
              <a:srgbClr val="A9BAC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706624" y="2615184"/>
            <a:ext cx="0" cy="1636776"/>
          </a:xfrm>
          <a:prstGeom prst="line">
            <a:avLst/>
          </a:prstGeom>
          <a:noFill/>
          <a:ln w="12700">
            <a:solidFill>
              <a:srgbClr val="A9BAC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325112" y="2615184"/>
            <a:ext cx="0" cy="1636776"/>
          </a:xfrm>
          <a:prstGeom prst="line">
            <a:avLst/>
          </a:prstGeom>
          <a:noFill/>
          <a:ln w="12700">
            <a:solidFill>
              <a:srgbClr val="A9BAC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843016" y="2615184"/>
            <a:ext cx="0" cy="1636776"/>
          </a:xfrm>
          <a:prstGeom prst="line">
            <a:avLst/>
          </a:prstGeom>
          <a:noFill/>
          <a:ln w="12700">
            <a:solidFill>
              <a:srgbClr val="A9BAC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251192" y="2615184"/>
            <a:ext cx="0" cy="1636776"/>
          </a:xfrm>
          <a:prstGeom prst="line">
            <a:avLst/>
          </a:prstGeom>
          <a:noFill/>
          <a:ln w="12700">
            <a:solidFill>
              <a:srgbClr val="A9BAC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650224" y="2615184"/>
            <a:ext cx="0" cy="1636776"/>
          </a:xfrm>
          <a:prstGeom prst="line">
            <a:avLst/>
          </a:prstGeom>
          <a:noFill/>
          <a:ln w="12700">
            <a:solidFill>
              <a:srgbClr val="A9BAC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341864" y="2615184"/>
            <a:ext cx="0" cy="1636776"/>
          </a:xfrm>
          <a:prstGeom prst="line">
            <a:avLst/>
          </a:prstGeom>
          <a:noFill/>
          <a:ln w="12700">
            <a:solidFill>
              <a:srgbClr val="A9BAC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025128" y="5321808"/>
            <a:ext cx="2606040" cy="475488"/>
          </a:xfrm>
          <a:prstGeom prst="roundRect">
            <a:avLst>
              <a:gd name="adj" fmla="val 13462"/>
            </a:avLst>
          </a:prstGeom>
          <a:solidFill>
            <a:srgbClr val="229B6A"/>
          </a:solidFill>
          <a:ln w="12700">
            <a:solidFill>
              <a:srgbClr val="229B6A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9098280" y="5358384"/>
            <a:ext cx="2459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唯一可产生 VERIFIED 的入口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10341864" y="4965192"/>
            <a:ext cx="0" cy="347472"/>
          </a:xfrm>
          <a:prstGeom prst="line">
            <a:avLst/>
          </a:prstGeom>
          <a:noFill/>
          <a:ln w="25400">
            <a:solidFill>
              <a:srgbClr val="229B6A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94360" y="5330952"/>
            <a:ext cx="7818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ITERATE：GateDecision → FlywheelRun.ITERATING → Graph iteration + 1 → 新一轮；</a:t>
            </a:r>
            <a:endParaRPr lang="en-US" sz="970" dirty="0"/>
          </a:p>
          <a:p>
            <a:pPr algn="l" indent="0" marL="0">
              <a:buNone/>
            </a:pPr>
            <a:r>
              <a:rPr lang="en-US" sz="970" b="1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Graph checkpoint 不能替代业务事件，业务事件也不能恢复节点局部执行。</a:t>
            </a:r>
            <a:endParaRPr lang="en-US" sz="970" dirty="0"/>
          </a:p>
        </p:txBody>
      </p:sp>
      <p:sp>
        <p:nvSpPr>
          <p:cNvPr id="62" name="Text 60"/>
          <p:cNvSpPr txBox="1"/>
          <p:nvPr/>
        </p:nvSpPr>
        <p:spPr>
          <a:xfrm>
            <a:off x="7479792" y="6089904"/>
            <a:ext cx="621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状态口径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8156448" y="6071616"/>
            <a:ext cx="932688" cy="265176"/>
          </a:xfrm>
          <a:prstGeom prst="roundRect">
            <a:avLst>
              <a:gd name="adj" fmla="val 24138"/>
            </a:avLst>
          </a:prstGeom>
          <a:solidFill>
            <a:srgbClr val="229B6A"/>
          </a:solidFill>
          <a:ln w="12700">
            <a:solidFill>
              <a:srgbClr val="229B6A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8229600" y="6108192"/>
            <a:ext cx="7863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IMPLEMENTED</a:t>
            </a:r>
            <a:endParaRPr lang="en-US" sz="730" dirty="0"/>
          </a:p>
        </p:txBody>
      </p:sp>
      <p:sp>
        <p:nvSpPr>
          <p:cNvPr id="65" name="Shape 63"/>
          <p:cNvSpPr/>
          <p:nvPr/>
        </p:nvSpPr>
        <p:spPr>
          <a:xfrm>
            <a:off x="9189720" y="6071616"/>
            <a:ext cx="603504" cy="265176"/>
          </a:xfrm>
          <a:prstGeom prst="roundRect">
            <a:avLst>
              <a:gd name="adj" fmla="val 24138"/>
            </a:avLst>
          </a:prstGeom>
          <a:solidFill>
            <a:srgbClr val="E8892E"/>
          </a:solidFill>
          <a:ln w="12700">
            <a:solidFill>
              <a:srgbClr val="E8892E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9262872" y="6108192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</a:t>
            </a:r>
            <a:endParaRPr lang="en-US" sz="730" dirty="0"/>
          </a:p>
        </p:txBody>
      </p:sp>
      <p:sp>
        <p:nvSpPr>
          <p:cNvPr id="67" name="Shape 65"/>
          <p:cNvSpPr/>
          <p:nvPr/>
        </p:nvSpPr>
        <p:spPr>
          <a:xfrm>
            <a:off x="9893808" y="6071616"/>
            <a:ext cx="786384" cy="265176"/>
          </a:xfrm>
          <a:prstGeom prst="roundRect">
            <a:avLst>
              <a:gd name="adj" fmla="val 24138"/>
            </a:avLst>
          </a:prstGeom>
          <a:solidFill>
            <a:srgbClr val="7656D6"/>
          </a:solidFill>
          <a:ln w="12700">
            <a:solidFill>
              <a:srgbClr val="7656D6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9966960" y="6108192"/>
            <a:ext cx="640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PLANNED</a:t>
            </a:r>
            <a:endParaRPr lang="en-US" sz="730" dirty="0"/>
          </a:p>
        </p:txBody>
      </p:sp>
      <p:sp>
        <p:nvSpPr>
          <p:cNvPr id="69" name="Text 67"/>
          <p:cNvSpPr txBox="1"/>
          <p:nvPr/>
        </p:nvSpPr>
        <p:spPr>
          <a:xfrm>
            <a:off x="10789920" y="6089904"/>
            <a:ext cx="8412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以实际代码为准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07084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6517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6B7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EVIDENCE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466344"/>
            <a:ext cx="9738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5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ohMyWorkPanel deterministic fixture：可证明路径，不可证明智能能力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10405872" y="402336"/>
            <a:ext cx="1261872" cy="265176"/>
          </a:xfrm>
          <a:prstGeom prst="roundRect">
            <a:avLst>
              <a:gd name="adj" fmla="val 24138"/>
            </a:avLst>
          </a:prstGeom>
          <a:solidFill>
            <a:srgbClr val="E8892E"/>
          </a:solidFill>
          <a:ln w="12700">
            <a:solidFill>
              <a:srgbClr val="E889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79024" y="438912"/>
            <a:ext cx="11155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</a:t>
            </a:r>
            <a:endParaRPr lang="en-US" sz="770" dirty="0"/>
          </a:p>
        </p:txBody>
      </p:sp>
      <p:sp>
        <p:nvSpPr>
          <p:cNvPr id="6" name="Shape 4"/>
          <p:cNvSpPr/>
          <p:nvPr/>
        </p:nvSpPr>
        <p:spPr>
          <a:xfrm>
            <a:off x="502920" y="1069848"/>
            <a:ext cx="1118311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6501384"/>
            <a:ext cx="106253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1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代码：acceptance/ohmyworkpanel/*；tests/acceptance/automated-langgraph-flow.test.ts；automated-project-workflow.ts:137-182</a:t>
            </a:r>
            <a:endParaRPr lang="en-US" sz="710" dirty="0"/>
          </a:p>
        </p:txBody>
      </p:sp>
      <p:sp>
        <p:nvSpPr>
          <p:cNvPr id="8" name="Shape 6"/>
          <p:cNvSpPr/>
          <p:nvPr/>
        </p:nvSpPr>
        <p:spPr>
          <a:xfrm>
            <a:off x="585216" y="1344168"/>
            <a:ext cx="5285232" cy="420624"/>
          </a:xfrm>
          <a:prstGeom prst="roundRect">
            <a:avLst>
              <a:gd name="adj" fmla="val 15217"/>
            </a:avLst>
          </a:prstGeom>
          <a:solidFill>
            <a:srgbClr val="229B6A"/>
          </a:solidFill>
          <a:ln w="12700">
            <a:solidFill>
              <a:srgbClr val="229B6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1380744"/>
            <a:ext cx="5138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可以据此下结论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91072" y="1344168"/>
            <a:ext cx="5285232" cy="420624"/>
          </a:xfrm>
          <a:prstGeom prst="roundRect">
            <a:avLst>
              <a:gd name="adj" fmla="val 15217"/>
            </a:avLst>
          </a:prstGeom>
          <a:solidFill>
            <a:srgbClr val="D95852"/>
          </a:solidFill>
          <a:ln w="12700">
            <a:solidFill>
              <a:srgbClr val="D9585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64224" y="1380744"/>
            <a:ext cx="5138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不能据此下结论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85216" y="1929384"/>
            <a:ext cx="5285232" cy="548640"/>
          </a:xfrm>
          <a:prstGeom prst="roundRect">
            <a:avLst>
              <a:gd name="adj" fmla="val 11667"/>
            </a:avLst>
          </a:prstGeom>
          <a:solidFill>
            <a:srgbClr val="DFF3E9"/>
          </a:solidFill>
          <a:ln w="12700">
            <a:solidFill>
              <a:srgbClr val="B8DEC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8952" y="20391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9B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60704" y="1993392"/>
            <a:ext cx="4599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七个 Agent 节点均经过 LangGraph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5216" y="2624328"/>
            <a:ext cx="5285232" cy="548640"/>
          </a:xfrm>
          <a:prstGeom prst="roundRect">
            <a:avLst>
              <a:gd name="adj" fmla="val 11667"/>
            </a:avLst>
          </a:prstGeom>
          <a:solidFill>
            <a:srgbClr val="DFF3E9"/>
          </a:solidFill>
          <a:ln w="12700">
            <a:solidFill>
              <a:srgbClr val="B8DEC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27340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9B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60704" y="2688336"/>
            <a:ext cx="4599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DocWorker fan-out 后，多个引用到达 DocGen context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85216" y="3319272"/>
            <a:ext cx="5285232" cy="548640"/>
          </a:xfrm>
          <a:prstGeom prst="roundRect">
            <a:avLst>
              <a:gd name="adj" fmla="val 11667"/>
            </a:avLst>
          </a:prstGeom>
          <a:solidFill>
            <a:srgbClr val="DFF3E9"/>
          </a:solidFill>
          <a:ln w="12700">
            <a:solidFill>
              <a:srgbClr val="B8DEC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8952" y="34290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9B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60704" y="3383280"/>
            <a:ext cx="4599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第一轮失败 → ITERATE → 第二轮 PASS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85216" y="4014216"/>
            <a:ext cx="5285232" cy="548640"/>
          </a:xfrm>
          <a:prstGeom prst="roundRect">
            <a:avLst>
              <a:gd name="adj" fmla="val 11667"/>
            </a:avLst>
          </a:prstGeom>
          <a:solidFill>
            <a:srgbClr val="DFF3E9"/>
          </a:solidFill>
          <a:ln w="12700">
            <a:solidFill>
              <a:srgbClr val="B8DEC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412394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9B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60704" y="4078224"/>
            <a:ext cx="4599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Oracle / Check / Review 引用进入最终 EvaluationReport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5216" y="4709160"/>
            <a:ext cx="5285232" cy="548640"/>
          </a:xfrm>
          <a:prstGeom prst="roundRect">
            <a:avLst>
              <a:gd name="adj" fmla="val 11667"/>
            </a:avLst>
          </a:prstGeom>
          <a:solidFill>
            <a:srgbClr val="DFF3E9"/>
          </a:solidFill>
          <a:ln w="12700">
            <a:solidFill>
              <a:srgbClr val="B8DEC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8952" y="48188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9B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60704" y="4773168"/>
            <a:ext cx="4599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 wpKnowledge Publication 将版本置为 VERIFIED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91072" y="1929384"/>
            <a:ext cx="5285232" cy="548640"/>
          </a:xfrm>
          <a:prstGeom prst="roundRect">
            <a:avLst>
              <a:gd name="adj" fmla="val 11667"/>
            </a:avLst>
          </a:prstGeom>
          <a:solidFill>
            <a:srgbClr val="FBE7E5"/>
          </a:solidFill>
          <a:ln w="12700">
            <a:solidFill>
              <a:srgbClr val="EAC1B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64808" y="20391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58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766560" y="1993392"/>
            <a:ext cx="4599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会基于代码自主生成高质量内容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91072" y="2624328"/>
            <a:ext cx="5285232" cy="548640"/>
          </a:xfrm>
          <a:prstGeom prst="roundRect">
            <a:avLst>
              <a:gd name="adj" fmla="val 11667"/>
            </a:avLst>
          </a:prstGeom>
          <a:solidFill>
            <a:srgbClr val="FBE7E5"/>
          </a:solidFill>
          <a:ln w="12700">
            <a:solidFill>
              <a:srgbClr val="EAC1B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64808" y="27340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58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766560" y="2688336"/>
            <a:ext cx="4599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DocWorker 已按 AST / 拓扑 / 语义完成分块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91072" y="3319272"/>
            <a:ext cx="5285232" cy="548640"/>
          </a:xfrm>
          <a:prstGeom prst="roundRect">
            <a:avLst>
              <a:gd name="adj" fmla="val 11667"/>
            </a:avLst>
          </a:prstGeom>
          <a:solidFill>
            <a:srgbClr val="FBE7E5"/>
          </a:solidFill>
          <a:ln w="12700">
            <a:solidFill>
              <a:srgbClr val="EAC1B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64808" y="34290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58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766560" y="3383280"/>
            <a:ext cx="4599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promptAddon 已影响当前 fixture 的实际输出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91072" y="4014216"/>
            <a:ext cx="5285232" cy="548640"/>
          </a:xfrm>
          <a:prstGeom prst="roundRect">
            <a:avLst>
              <a:gd name="adj" fmla="val 11667"/>
            </a:avLst>
          </a:prstGeom>
          <a:solidFill>
            <a:srgbClr val="FBE7E5"/>
          </a:solidFill>
          <a:ln w="12700">
            <a:solidFill>
              <a:srgbClr val="EAC1B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64808" y="412394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58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766560" y="4078224"/>
            <a:ext cx="4599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真并行吞吐、乱序聚合与部分失败恢复已可靠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91072" y="4709160"/>
            <a:ext cx="5285232" cy="548640"/>
          </a:xfrm>
          <a:prstGeom prst="roundRect">
            <a:avLst>
              <a:gd name="adj" fmla="val 11667"/>
            </a:avLst>
          </a:prstGeom>
          <a:solidFill>
            <a:srgbClr val="FBE7E5"/>
          </a:solidFill>
          <a:ln w="12700">
            <a:solidFill>
              <a:srgbClr val="EAC1B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464808" y="48188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58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766560" y="4773168"/>
            <a:ext cx="4599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22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TrustedProjectEvaluator 等同于不可信代码沙箱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7479792" y="6089904"/>
            <a:ext cx="621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状态口径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8156448" y="6071616"/>
            <a:ext cx="932688" cy="265176"/>
          </a:xfrm>
          <a:prstGeom prst="roundRect">
            <a:avLst>
              <a:gd name="adj" fmla="val 24138"/>
            </a:avLst>
          </a:prstGeom>
          <a:solidFill>
            <a:srgbClr val="229B6A"/>
          </a:solidFill>
          <a:ln w="12700">
            <a:solidFill>
              <a:srgbClr val="229B6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229600" y="6108192"/>
            <a:ext cx="7863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IMPLEMENTED</a:t>
            </a:r>
            <a:endParaRPr lang="en-US" sz="730" dirty="0"/>
          </a:p>
        </p:txBody>
      </p:sp>
      <p:sp>
        <p:nvSpPr>
          <p:cNvPr id="45" name="Shape 43"/>
          <p:cNvSpPr/>
          <p:nvPr/>
        </p:nvSpPr>
        <p:spPr>
          <a:xfrm>
            <a:off x="9189720" y="6071616"/>
            <a:ext cx="603504" cy="265176"/>
          </a:xfrm>
          <a:prstGeom prst="roundRect">
            <a:avLst>
              <a:gd name="adj" fmla="val 24138"/>
            </a:avLst>
          </a:prstGeom>
          <a:solidFill>
            <a:srgbClr val="E8892E"/>
          </a:solidFill>
          <a:ln w="12700">
            <a:solidFill>
              <a:srgbClr val="E8892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262872" y="6108192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</a:t>
            </a:r>
            <a:endParaRPr lang="en-US" sz="730" dirty="0"/>
          </a:p>
        </p:txBody>
      </p:sp>
      <p:sp>
        <p:nvSpPr>
          <p:cNvPr id="47" name="Shape 45"/>
          <p:cNvSpPr/>
          <p:nvPr/>
        </p:nvSpPr>
        <p:spPr>
          <a:xfrm>
            <a:off x="9893808" y="6071616"/>
            <a:ext cx="786384" cy="265176"/>
          </a:xfrm>
          <a:prstGeom prst="roundRect">
            <a:avLst>
              <a:gd name="adj" fmla="val 24138"/>
            </a:avLst>
          </a:prstGeom>
          <a:solidFill>
            <a:srgbClr val="7656D6"/>
          </a:solidFill>
          <a:ln w="12700">
            <a:solidFill>
              <a:srgbClr val="7656D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966960" y="6108192"/>
            <a:ext cx="640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PLANNED</a:t>
            </a:r>
            <a:endParaRPr lang="en-US" sz="730" dirty="0"/>
          </a:p>
        </p:txBody>
      </p:sp>
      <p:sp>
        <p:nvSpPr>
          <p:cNvPr id="49" name="Text 47"/>
          <p:cNvSpPr txBox="1"/>
          <p:nvPr/>
        </p:nvSpPr>
        <p:spPr>
          <a:xfrm>
            <a:off x="10789920" y="6089904"/>
            <a:ext cx="8412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以实际代码为准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07084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25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6517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6B7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RUNTIME NOTES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466344"/>
            <a:ext cx="9738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本地运行记录：成功项与环境问题分开描述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10405872" y="402336"/>
            <a:ext cx="1261872" cy="265176"/>
          </a:xfrm>
          <a:prstGeom prst="roundRect">
            <a:avLst>
              <a:gd name="adj" fmla="val 24138"/>
            </a:avLst>
          </a:prstGeom>
          <a:solidFill>
            <a:srgbClr val="3976E8"/>
          </a:solidFill>
          <a:ln w="12700">
            <a:solidFill>
              <a:srgbClr val="3976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79024" y="438912"/>
            <a:ext cx="11155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IMPLEMENTED + DEMO</a:t>
            </a:r>
            <a:endParaRPr lang="en-US" sz="770" dirty="0"/>
          </a:p>
        </p:txBody>
      </p:sp>
      <p:sp>
        <p:nvSpPr>
          <p:cNvPr id="6" name="Shape 4"/>
          <p:cNvSpPr/>
          <p:nvPr/>
        </p:nvSpPr>
        <p:spPr>
          <a:xfrm>
            <a:off x="502920" y="1069848"/>
            <a:ext cx="11183112" cy="0"/>
          </a:xfrm>
          <a:prstGeom prst="line">
            <a:avLst/>
          </a:prstGeom>
          <a:noFill/>
          <a:ln w="12700">
            <a:solidFill>
              <a:srgbClr val="3151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6501384"/>
            <a:ext cx="106253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10" dirty="0">
                <a:solidFill>
                  <a:srgbClr val="B9C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核对：package.json / .github/workflows/ci.yml / package-lock.json；domain-knowledge/src/graph/build-graph.ts；本机实测</a:t>
            </a:r>
            <a:endParaRPr lang="en-US" sz="710" dirty="0"/>
          </a:p>
        </p:txBody>
      </p:sp>
      <p:sp>
        <p:nvSpPr>
          <p:cNvPr id="8" name="Shape 6"/>
          <p:cNvSpPr/>
          <p:nvPr/>
        </p:nvSpPr>
        <p:spPr>
          <a:xfrm>
            <a:off x="566928" y="1325880"/>
            <a:ext cx="2240280" cy="393192"/>
          </a:xfrm>
          <a:prstGeom prst="rect">
            <a:avLst/>
          </a:prstGeom>
          <a:solidFill>
            <a:srgbClr val="224867"/>
          </a:solidFill>
          <a:ln w="12700">
            <a:solidFill>
              <a:srgbClr val="3151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362456"/>
            <a:ext cx="2093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事项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2807208" y="1325880"/>
            <a:ext cx="4773168" cy="393192"/>
          </a:xfrm>
          <a:prstGeom prst="rect">
            <a:avLst/>
          </a:prstGeom>
          <a:solidFill>
            <a:srgbClr val="224867"/>
          </a:solidFill>
          <a:ln w="12700">
            <a:solidFill>
              <a:srgbClr val="3151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80360" y="1362456"/>
            <a:ext cx="4626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实际观察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7580376" y="1325880"/>
            <a:ext cx="4023360" cy="393192"/>
          </a:xfrm>
          <a:prstGeom prst="rect">
            <a:avLst/>
          </a:prstGeom>
          <a:solidFill>
            <a:srgbClr val="224867"/>
          </a:solidFill>
          <a:ln w="12700">
            <a:solidFill>
              <a:srgbClr val="3151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53528" y="1362456"/>
            <a:ext cx="3877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 / 当前口径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566928" y="1773936"/>
            <a:ext cx="2240280" cy="576072"/>
          </a:xfrm>
          <a:prstGeom prst="rect">
            <a:avLst/>
          </a:prstGeom>
          <a:solidFill>
            <a:srgbClr val="173A5E"/>
          </a:solidFill>
          <a:ln w="12700">
            <a:solidFill>
              <a:srgbClr val="31516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1810512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 版本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2807208" y="1773936"/>
            <a:ext cx="4773168" cy="576072"/>
          </a:xfrm>
          <a:prstGeom prst="rect">
            <a:avLst/>
          </a:prstGeom>
          <a:solidFill>
            <a:srgbClr val="173A5E"/>
          </a:solidFill>
          <a:ln w="12700">
            <a:solidFill>
              <a:srgbClr val="3151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880360" y="1810512"/>
            <a:ext cx="4626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D6E1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Node 22.22；仓库 engines 与 CI 为 Node 24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7580376" y="1773936"/>
            <a:ext cx="4023360" cy="576072"/>
          </a:xfrm>
          <a:prstGeom prst="rect">
            <a:avLst/>
          </a:prstGeom>
          <a:solidFill>
            <a:srgbClr val="173A5E"/>
          </a:solidFill>
          <a:ln w="12700">
            <a:solidFill>
              <a:srgbClr val="31516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653528" y="1810512"/>
            <a:ext cx="3877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D6E1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本地可跑；正式结果以 Node 24 CI 为准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566928" y="2414016"/>
            <a:ext cx="2240280" cy="576072"/>
          </a:xfrm>
          <a:prstGeom prst="rect">
            <a:avLst/>
          </a:prstGeom>
          <a:solidFill>
            <a:srgbClr val="1B4265"/>
          </a:solidFill>
          <a:ln w="12700">
            <a:solidFill>
              <a:srgbClr val="31516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2450592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node:sqlite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2807208" y="2414016"/>
            <a:ext cx="4773168" cy="576072"/>
          </a:xfrm>
          <a:prstGeom prst="rect">
            <a:avLst/>
          </a:prstGeom>
          <a:solidFill>
            <a:srgbClr val="1B4265"/>
          </a:solidFill>
          <a:ln w="12700">
            <a:solidFill>
              <a:srgbClr val="31516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880360" y="2450592"/>
            <a:ext cx="4626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D6E1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 22 测试输出 experimental warning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7580376" y="2414016"/>
            <a:ext cx="4023360" cy="576072"/>
          </a:xfrm>
          <a:prstGeom prst="rect">
            <a:avLst/>
          </a:prstGeom>
          <a:solidFill>
            <a:srgbClr val="1B4265"/>
          </a:solidFill>
          <a:ln w="12700">
            <a:solidFill>
              <a:srgbClr val="31516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53528" y="2450592"/>
            <a:ext cx="3877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D6E1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属于运行时提示，不是测试失败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566928" y="3054096"/>
            <a:ext cx="2240280" cy="576072"/>
          </a:xfrm>
          <a:prstGeom prst="rect">
            <a:avLst/>
          </a:prstGeom>
          <a:solidFill>
            <a:srgbClr val="173A5E"/>
          </a:solidFill>
          <a:ln w="12700">
            <a:solidFill>
              <a:srgbClr val="31516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" y="3090672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lockfile registry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2807208" y="3054096"/>
            <a:ext cx="4773168" cy="576072"/>
          </a:xfrm>
          <a:prstGeom prst="rect">
            <a:avLst/>
          </a:prstGeom>
          <a:solidFill>
            <a:srgbClr val="173A5E"/>
          </a:solidFill>
          <a:ln w="12700">
            <a:solidFill>
              <a:srgbClr val="31516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880360" y="3090672"/>
            <a:ext cx="4626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D6E1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首次写入腾讯镜像，GitHub CI npm ci 出现 ENOTFOUND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7580376" y="3054096"/>
            <a:ext cx="4023360" cy="576072"/>
          </a:xfrm>
          <a:prstGeom prst="rect">
            <a:avLst/>
          </a:prstGeom>
          <a:solidFill>
            <a:srgbClr val="173A5E"/>
          </a:solidFill>
          <a:ln w="12700">
            <a:solidFill>
              <a:srgbClr val="31516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653528" y="3090672"/>
            <a:ext cx="3877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D6E1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776dac5 已改为 registry.npmjs.org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566928" y="3694176"/>
            <a:ext cx="2240280" cy="576072"/>
          </a:xfrm>
          <a:prstGeom prst="rect">
            <a:avLst/>
          </a:prstGeom>
          <a:solidFill>
            <a:srgbClr val="1B4265"/>
          </a:solidFill>
          <a:ln w="12700">
            <a:solidFill>
              <a:srgbClr val="31516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080" y="3730752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CodeAgent timeout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2807208" y="3694176"/>
            <a:ext cx="4773168" cy="576072"/>
          </a:xfrm>
          <a:prstGeom prst="rect">
            <a:avLst/>
          </a:prstGeom>
          <a:solidFill>
            <a:srgbClr val="1B4265"/>
          </a:solidFill>
          <a:ln w="12700">
            <a:solidFill>
              <a:srgbClr val="31516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880360" y="3730752"/>
            <a:ext cx="4626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D6E1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domain-knowledge doc-gen 实测约 2–3 分钟，原节点 120s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7580376" y="3694176"/>
            <a:ext cx="4023360" cy="576072"/>
          </a:xfrm>
          <a:prstGeom prst="rect">
            <a:avLst/>
          </a:prstGeom>
          <a:solidFill>
            <a:srgbClr val="1B4265"/>
          </a:solidFill>
          <a:ln w="12700">
            <a:solidFill>
              <a:srgbClr val="31516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653528" y="3730752"/>
            <a:ext cx="3877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D6E1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上调到 600s；wpKnowledge graph 同为 600s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566928" y="4334256"/>
            <a:ext cx="2240280" cy="576072"/>
          </a:xfrm>
          <a:prstGeom prst="rect">
            <a:avLst/>
          </a:prstGeom>
          <a:solidFill>
            <a:srgbClr val="173A5E"/>
          </a:solidFill>
          <a:ln w="12700">
            <a:solidFill>
              <a:srgbClr val="31516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0080" y="4370832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Agent 接入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2807208" y="4334256"/>
            <a:ext cx="4773168" cy="576072"/>
          </a:xfrm>
          <a:prstGeom prst="rect">
            <a:avLst/>
          </a:prstGeom>
          <a:solidFill>
            <a:srgbClr val="173A5E"/>
          </a:solidFill>
          <a:ln w="12700">
            <a:solidFill>
              <a:srgbClr val="31516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880360" y="4370832"/>
            <a:ext cx="4626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D6E1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wp 自动路径实例化 OhMyWorkPanel fixture executor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7580376" y="4334256"/>
            <a:ext cx="4023360" cy="576072"/>
          </a:xfrm>
          <a:prstGeom prst="rect">
            <a:avLst/>
          </a:prstGeom>
          <a:solidFill>
            <a:srgbClr val="173A5E"/>
          </a:solidFill>
          <a:ln w="12700">
            <a:solidFill>
              <a:srgbClr val="31516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653528" y="4370832"/>
            <a:ext cx="3877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D6E1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AgentProvider / CodeAgent provider 尚未接入</a:t>
            </a:r>
            <a:endParaRPr lang="en-US" sz="920" dirty="0"/>
          </a:p>
        </p:txBody>
      </p:sp>
      <p:sp>
        <p:nvSpPr>
          <p:cNvPr id="44" name="Shape 42"/>
          <p:cNvSpPr/>
          <p:nvPr/>
        </p:nvSpPr>
        <p:spPr>
          <a:xfrm>
            <a:off x="566928" y="4974336"/>
            <a:ext cx="2240280" cy="576072"/>
          </a:xfrm>
          <a:prstGeom prst="rect">
            <a:avLst/>
          </a:prstGeom>
          <a:solidFill>
            <a:srgbClr val="1B4265"/>
          </a:solidFill>
          <a:ln w="12700">
            <a:solidFill>
              <a:srgbClr val="31516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40080" y="5010912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本次验证</a:t>
            </a:r>
            <a:endParaRPr lang="en-US" sz="920" dirty="0"/>
          </a:p>
        </p:txBody>
      </p:sp>
      <p:sp>
        <p:nvSpPr>
          <p:cNvPr id="46" name="Shape 44"/>
          <p:cNvSpPr/>
          <p:nvPr/>
        </p:nvSpPr>
        <p:spPr>
          <a:xfrm>
            <a:off x="2807208" y="4974336"/>
            <a:ext cx="4773168" cy="576072"/>
          </a:xfrm>
          <a:prstGeom prst="rect">
            <a:avLst/>
          </a:prstGeom>
          <a:solidFill>
            <a:srgbClr val="1B4265"/>
          </a:solidFill>
          <a:ln w="12700">
            <a:solidFill>
              <a:srgbClr val="31516E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880360" y="5010912"/>
            <a:ext cx="4626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D6E1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typecheck、validate:specs、npm test</a:t>
            </a:r>
            <a:endParaRPr lang="en-US" sz="920" dirty="0"/>
          </a:p>
        </p:txBody>
      </p:sp>
      <p:sp>
        <p:nvSpPr>
          <p:cNvPr id="48" name="Shape 46"/>
          <p:cNvSpPr/>
          <p:nvPr/>
        </p:nvSpPr>
        <p:spPr>
          <a:xfrm>
            <a:off x="7580376" y="4974336"/>
            <a:ext cx="4023360" cy="576072"/>
          </a:xfrm>
          <a:prstGeom prst="rect">
            <a:avLst/>
          </a:prstGeom>
          <a:solidFill>
            <a:srgbClr val="1B4265"/>
          </a:solidFill>
          <a:ln w="12700">
            <a:solidFill>
              <a:srgbClr val="31516E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653528" y="5010912"/>
            <a:ext cx="3877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D6E1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全部通过；50 / 50 tests</a:t>
            </a:r>
            <a:endParaRPr lang="en-US" sz="920" dirty="0"/>
          </a:p>
        </p:txBody>
      </p:sp>
      <p:sp>
        <p:nvSpPr>
          <p:cNvPr id="50" name="Text 48"/>
          <p:cNvSpPr txBox="1"/>
          <p:nvPr/>
        </p:nvSpPr>
        <p:spPr>
          <a:xfrm>
            <a:off x="7479792" y="6089904"/>
            <a:ext cx="621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9C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状态口径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156448" y="6071616"/>
            <a:ext cx="932688" cy="265176"/>
          </a:xfrm>
          <a:prstGeom prst="roundRect">
            <a:avLst>
              <a:gd name="adj" fmla="val 24138"/>
            </a:avLst>
          </a:prstGeom>
          <a:solidFill>
            <a:srgbClr val="229B6A"/>
          </a:solidFill>
          <a:ln w="12700">
            <a:solidFill>
              <a:srgbClr val="229B6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229600" y="6108192"/>
            <a:ext cx="7863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IMPLEMENTED</a:t>
            </a:r>
            <a:endParaRPr lang="en-US" sz="730" dirty="0"/>
          </a:p>
        </p:txBody>
      </p:sp>
      <p:sp>
        <p:nvSpPr>
          <p:cNvPr id="53" name="Shape 51"/>
          <p:cNvSpPr/>
          <p:nvPr/>
        </p:nvSpPr>
        <p:spPr>
          <a:xfrm>
            <a:off x="9189720" y="6071616"/>
            <a:ext cx="603504" cy="265176"/>
          </a:xfrm>
          <a:prstGeom prst="roundRect">
            <a:avLst>
              <a:gd name="adj" fmla="val 24138"/>
            </a:avLst>
          </a:prstGeom>
          <a:solidFill>
            <a:srgbClr val="E8892E"/>
          </a:solidFill>
          <a:ln w="12700">
            <a:solidFill>
              <a:srgbClr val="E8892E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262872" y="6108192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</a:t>
            </a:r>
            <a:endParaRPr lang="en-US" sz="730" dirty="0"/>
          </a:p>
        </p:txBody>
      </p:sp>
      <p:sp>
        <p:nvSpPr>
          <p:cNvPr id="55" name="Shape 53"/>
          <p:cNvSpPr/>
          <p:nvPr/>
        </p:nvSpPr>
        <p:spPr>
          <a:xfrm>
            <a:off x="9893808" y="6071616"/>
            <a:ext cx="786384" cy="265176"/>
          </a:xfrm>
          <a:prstGeom prst="roundRect">
            <a:avLst>
              <a:gd name="adj" fmla="val 24138"/>
            </a:avLst>
          </a:prstGeom>
          <a:solidFill>
            <a:srgbClr val="7656D6"/>
          </a:solidFill>
          <a:ln w="12700">
            <a:solidFill>
              <a:srgbClr val="7656D6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966960" y="6108192"/>
            <a:ext cx="640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PLANNED</a:t>
            </a:r>
            <a:endParaRPr lang="en-US" sz="730" dirty="0"/>
          </a:p>
        </p:txBody>
      </p:sp>
      <p:sp>
        <p:nvSpPr>
          <p:cNvPr id="57" name="Text 55"/>
          <p:cNvSpPr txBox="1"/>
          <p:nvPr/>
        </p:nvSpPr>
        <p:spPr>
          <a:xfrm>
            <a:off x="10789920" y="6089904"/>
            <a:ext cx="8412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B9C9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以实际代码为准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07084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6517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6B7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 STEPS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466344"/>
            <a:ext cx="9738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5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下一步：先把语义证据链做实，再扩大 Agent 与运行时能力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10405872" y="402336"/>
            <a:ext cx="1261872" cy="265176"/>
          </a:xfrm>
          <a:prstGeom prst="roundRect">
            <a:avLst>
              <a:gd name="adj" fmla="val 24138"/>
            </a:avLst>
          </a:prstGeom>
          <a:solidFill>
            <a:srgbClr val="7656D6"/>
          </a:solidFill>
          <a:ln w="12700">
            <a:solidFill>
              <a:srgbClr val="7656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79024" y="438912"/>
            <a:ext cx="11155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PLANNED</a:t>
            </a:r>
            <a:endParaRPr lang="en-US" sz="770" dirty="0"/>
          </a:p>
        </p:txBody>
      </p:sp>
      <p:sp>
        <p:nvSpPr>
          <p:cNvPr id="6" name="Shape 4"/>
          <p:cNvSpPr/>
          <p:nvPr/>
        </p:nvSpPr>
        <p:spPr>
          <a:xfrm>
            <a:off x="502920" y="1069848"/>
            <a:ext cx="1118311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6501384"/>
            <a:ext cx="106253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1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评审结论：PR #20 代码修复 @ b6973a8；domain-knowledge 对照；DocAgent arXiv:2504.08725</a:t>
            </a:r>
            <a:endParaRPr lang="en-US" sz="710" dirty="0"/>
          </a:p>
        </p:txBody>
      </p:sp>
      <p:sp>
        <p:nvSpPr>
          <p:cNvPr id="8" name="Shape 6"/>
          <p:cNvSpPr/>
          <p:nvPr/>
        </p:nvSpPr>
        <p:spPr>
          <a:xfrm>
            <a:off x="576072" y="1453896"/>
            <a:ext cx="530352" cy="265176"/>
          </a:xfrm>
          <a:prstGeom prst="roundRect">
            <a:avLst>
              <a:gd name="adj" fmla="val 24138"/>
            </a:avLst>
          </a:prstGeom>
          <a:solidFill>
            <a:srgbClr val="D95852"/>
          </a:solidFill>
          <a:ln w="12700">
            <a:solidFill>
              <a:srgbClr val="D958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" y="1490472"/>
            <a:ext cx="3840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234440" y="1325880"/>
            <a:ext cx="103784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34440" y="1325880"/>
            <a:ext cx="64008" cy="713232"/>
          </a:xfrm>
          <a:prstGeom prst="rect">
            <a:avLst/>
          </a:prstGeom>
          <a:solidFill>
            <a:srgbClr val="D95852"/>
          </a:solidFill>
          <a:ln w="12700">
            <a:solidFill>
              <a:srgbClr val="D95852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490472" y="141732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025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 / 拓扑分块</a:t>
            </a:r>
            <a:endParaRPr lang="en-US" sz="1180" dirty="0"/>
          </a:p>
        </p:txBody>
      </p:sp>
      <p:sp>
        <p:nvSpPr>
          <p:cNvPr id="13" name="Text 11"/>
          <p:cNvSpPr txBox="1"/>
          <p:nvPr/>
        </p:nvSpPr>
        <p:spPr>
          <a:xfrm>
            <a:off x="3767328" y="1408176"/>
            <a:ext cx="7571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 symbol + import/call/test 图；SCC 与拓扑层；定义 ChunkEvidence Schema；DocGen 真正消费所有 worker 产物。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576072" y="2322576"/>
            <a:ext cx="530352" cy="265176"/>
          </a:xfrm>
          <a:prstGeom prst="roundRect">
            <a:avLst>
              <a:gd name="adj" fmla="val 24138"/>
            </a:avLst>
          </a:prstGeom>
          <a:solidFill>
            <a:srgbClr val="D95852"/>
          </a:solidFill>
          <a:ln w="12700">
            <a:solidFill>
              <a:srgbClr val="D9585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9224" y="2359152"/>
            <a:ext cx="3840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234440" y="2194560"/>
            <a:ext cx="103784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34440" y="2194560"/>
            <a:ext cx="64008" cy="713232"/>
          </a:xfrm>
          <a:prstGeom prst="rect">
            <a:avLst/>
          </a:prstGeom>
          <a:solidFill>
            <a:srgbClr val="D95852"/>
          </a:solidFill>
          <a:ln w="12700">
            <a:solidFill>
              <a:srgbClr val="D95852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490472" y="228600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025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接入真实 Agent provider</a:t>
            </a:r>
            <a:endParaRPr lang="en-US" sz="1180" dirty="0"/>
          </a:p>
        </p:txBody>
      </p:sp>
      <p:sp>
        <p:nvSpPr>
          <p:cNvPr id="19" name="Text 17"/>
          <p:cNvSpPr txBox="1"/>
          <p:nvPr/>
        </p:nvSpPr>
        <p:spPr>
          <a:xfrm>
            <a:off x="3767328" y="2276856"/>
            <a:ext cx="7571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promptAddon 进入真实请求；固定 base prompt / tools / schema；输出做运行时校验，禁止 Agent 直接决定发布。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576072" y="3191256"/>
            <a:ext cx="530352" cy="265176"/>
          </a:xfrm>
          <a:prstGeom prst="roundRect">
            <a:avLst>
              <a:gd name="adj" fmla="val 24138"/>
            </a:avLst>
          </a:prstGeom>
          <a:solidFill>
            <a:srgbClr val="E8892E"/>
          </a:solidFill>
          <a:ln w="12700">
            <a:solidFill>
              <a:srgbClr val="E889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9224" y="3227832"/>
            <a:ext cx="3840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234440" y="3063240"/>
            <a:ext cx="103784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34440" y="3063240"/>
            <a:ext cx="64008" cy="713232"/>
          </a:xfrm>
          <a:prstGeom prst="rect">
            <a:avLst/>
          </a:prstGeom>
          <a:solidFill>
            <a:srgbClr val="E8892E"/>
          </a:solidFill>
          <a:ln w="12700">
            <a:solidFill>
              <a:srgbClr val="E8892E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490472" y="315468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025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并行、恢复、取消</a:t>
            </a:r>
            <a:endParaRPr lang="en-US" sz="1180" dirty="0"/>
          </a:p>
        </p:txBody>
      </p:sp>
      <p:sp>
        <p:nvSpPr>
          <p:cNvPr id="25" name="Text 23"/>
          <p:cNvSpPr txBox="1"/>
          <p:nvPr/>
        </p:nvSpPr>
        <p:spPr>
          <a:xfrm>
            <a:off x="3767328" y="3145536"/>
            <a:ext cx="7571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补真实 overlap、乱序聚合、worker 部分失败；清理 RUNNING GenerationKey；对子进程做超时与强制终止。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576072" y="4059936"/>
            <a:ext cx="530352" cy="265176"/>
          </a:xfrm>
          <a:prstGeom prst="roundRect">
            <a:avLst>
              <a:gd name="adj" fmla="val 24138"/>
            </a:avLst>
          </a:prstGeom>
          <a:solidFill>
            <a:srgbClr val="E8892E"/>
          </a:solidFill>
          <a:ln w="12700">
            <a:solidFill>
              <a:srgbClr val="E8892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9224" y="4096512"/>
            <a:ext cx="3840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234440" y="3931920"/>
            <a:ext cx="103784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34440" y="3931920"/>
            <a:ext cx="64008" cy="713232"/>
          </a:xfrm>
          <a:prstGeom prst="rect">
            <a:avLst/>
          </a:prstGeom>
          <a:solidFill>
            <a:srgbClr val="E8892E"/>
          </a:solidFill>
          <a:ln w="12700">
            <a:solidFill>
              <a:srgbClr val="E8892E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490472" y="402336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025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评测隔离</a:t>
            </a:r>
            <a:endParaRPr lang="en-US" sz="1180" dirty="0"/>
          </a:p>
        </p:txBody>
      </p:sp>
      <p:sp>
        <p:nvSpPr>
          <p:cNvPr id="31" name="Text 29"/>
          <p:cNvSpPr txBox="1"/>
          <p:nvPr/>
        </p:nvSpPr>
        <p:spPr>
          <a:xfrm>
            <a:off x="3767328" y="4014216"/>
            <a:ext cx="7571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TrustedProjectEvaluator 演进到不可信代码沙箱；收紧网络、文件、CPU / 内存 / 输出预算。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576072" y="4928616"/>
            <a:ext cx="530352" cy="265176"/>
          </a:xfrm>
          <a:prstGeom prst="roundRect">
            <a:avLst>
              <a:gd name="adj" fmla="val 24138"/>
            </a:avLst>
          </a:prstGeom>
          <a:solidFill>
            <a:srgbClr val="7656D6"/>
          </a:solidFill>
          <a:ln w="12700">
            <a:solidFill>
              <a:srgbClr val="7656D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9224" y="4965192"/>
            <a:ext cx="3840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234440" y="4800600"/>
            <a:ext cx="103784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34440" y="4800600"/>
            <a:ext cx="64008" cy="713232"/>
          </a:xfrm>
          <a:prstGeom prst="rect">
            <a:avLst/>
          </a:prstGeom>
          <a:solidFill>
            <a:srgbClr val="7656D6"/>
          </a:solidFill>
          <a:ln w="12700">
            <a:solidFill>
              <a:srgbClr val="7656D6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490472" y="489204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025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增量与质量闭环</a:t>
            </a:r>
            <a:endParaRPr lang="en-US" sz="1180" dirty="0"/>
          </a:p>
        </p:txBody>
      </p:sp>
      <p:sp>
        <p:nvSpPr>
          <p:cNvPr id="37" name="Text 35"/>
          <p:cNvSpPr txBox="1"/>
          <p:nvPr/>
        </p:nvSpPr>
        <p:spPr>
          <a:xfrm>
            <a:off x="3767328" y="4882896"/>
            <a:ext cx="7571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按变更影响子图复用上下文；增加覆盖、引用、冲突、一致性 Gate；用真实仓库样本建立回归集。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576072" y="5733288"/>
            <a:ext cx="11036808" cy="402336"/>
          </a:xfrm>
          <a:prstGeom prst="roundRect">
            <a:avLst>
              <a:gd name="adj" fmla="val 15909"/>
            </a:avLst>
          </a:prstGeom>
          <a:solidFill>
            <a:srgbClr val="10253F"/>
          </a:solidFill>
          <a:ln w="12700">
            <a:solidFill>
              <a:srgbClr val="10253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9224" y="5769864"/>
            <a:ext cx="10890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验收原则：每项能力必须用真实输入、不可变证据和失败用例证明；计划项不得借 fixture 提前标记为 implemented。</a:t>
            </a:r>
            <a:endParaRPr lang="en-US" sz="1030" dirty="0"/>
          </a:p>
        </p:txBody>
      </p:sp>
      <p:sp>
        <p:nvSpPr>
          <p:cNvPr id="40" name="Text 38"/>
          <p:cNvSpPr txBox="1"/>
          <p:nvPr/>
        </p:nvSpPr>
        <p:spPr>
          <a:xfrm>
            <a:off x="7479792" y="6089904"/>
            <a:ext cx="621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状态口径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8156448" y="6071616"/>
            <a:ext cx="932688" cy="265176"/>
          </a:xfrm>
          <a:prstGeom prst="roundRect">
            <a:avLst>
              <a:gd name="adj" fmla="val 24138"/>
            </a:avLst>
          </a:prstGeom>
          <a:solidFill>
            <a:srgbClr val="229B6A"/>
          </a:solidFill>
          <a:ln w="12700">
            <a:solidFill>
              <a:srgbClr val="229B6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229600" y="6108192"/>
            <a:ext cx="7863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IMPLEMENTED</a:t>
            </a:r>
            <a:endParaRPr lang="en-US" sz="730" dirty="0"/>
          </a:p>
        </p:txBody>
      </p:sp>
      <p:sp>
        <p:nvSpPr>
          <p:cNvPr id="43" name="Shape 41"/>
          <p:cNvSpPr/>
          <p:nvPr/>
        </p:nvSpPr>
        <p:spPr>
          <a:xfrm>
            <a:off x="9189720" y="6071616"/>
            <a:ext cx="603504" cy="265176"/>
          </a:xfrm>
          <a:prstGeom prst="roundRect">
            <a:avLst>
              <a:gd name="adj" fmla="val 24138"/>
            </a:avLst>
          </a:prstGeom>
          <a:solidFill>
            <a:srgbClr val="E8892E"/>
          </a:solidFill>
          <a:ln w="12700">
            <a:solidFill>
              <a:srgbClr val="E8892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262872" y="6108192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</a:t>
            </a:r>
            <a:endParaRPr lang="en-US" sz="730" dirty="0"/>
          </a:p>
        </p:txBody>
      </p:sp>
      <p:sp>
        <p:nvSpPr>
          <p:cNvPr id="45" name="Shape 43"/>
          <p:cNvSpPr/>
          <p:nvPr/>
        </p:nvSpPr>
        <p:spPr>
          <a:xfrm>
            <a:off x="9893808" y="6071616"/>
            <a:ext cx="786384" cy="265176"/>
          </a:xfrm>
          <a:prstGeom prst="roundRect">
            <a:avLst>
              <a:gd name="adj" fmla="val 24138"/>
            </a:avLst>
          </a:prstGeom>
          <a:solidFill>
            <a:srgbClr val="7656D6"/>
          </a:solidFill>
          <a:ln w="12700">
            <a:solidFill>
              <a:srgbClr val="7656D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966960" y="6108192"/>
            <a:ext cx="640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PLANNED</a:t>
            </a:r>
            <a:endParaRPr lang="en-US" sz="730" dirty="0"/>
          </a:p>
        </p:txBody>
      </p:sp>
      <p:sp>
        <p:nvSpPr>
          <p:cNvPr id="47" name="Text 45"/>
          <p:cNvSpPr txBox="1"/>
          <p:nvPr/>
        </p:nvSpPr>
        <p:spPr>
          <a:xfrm>
            <a:off x="10789920" y="6089904"/>
            <a:ext cx="8412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070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以实际代码为准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07084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linlisWorkTeam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当前wpKnowledge知识飞轮方案</dc:title>
  <dc:subject>wpKnowledge PR #20 代码评审与知识飞轮方案汇报</dc:subject>
  <dc:creator>wpKnowledge project team</dc:creator>
  <cp:lastModifiedBy>wpKnowledge project team</cp:lastModifiedBy>
  <cp:revision>1</cp:revision>
  <dcterms:created xsi:type="dcterms:W3CDTF">2026-09-02T03:20:12Z</dcterms:created>
  <dcterms:modified xsi:type="dcterms:W3CDTF">2026-09-02T03:20:12Z</dcterms:modified>
</cp:coreProperties>
</file>