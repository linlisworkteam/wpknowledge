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B7C9"/>
          </a:solidFill>
          <a:ln w="12700"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100" b="1" i="0">
                <a:solidFill>
                  <a:srgbClr val="16B7C9"/>
                </a:solidFill>
                <a:latin typeface="Microsoft YaHei"/>
              </a:defRPr>
            </a:pPr>
            <a:r>
              <a:t>WPKNOWLEDGE · PR #20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78992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Microsoft YaHei"/>
              </a:defRPr>
            </a:pPr>
            <a:r>
              <a:t>当前wpKnowledge知识飞轮方案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487168"/>
            <a:ext cx="804672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600" b="0" i="0">
                <a:solidFill>
                  <a:srgbClr val="C5D3E0"/>
                </a:solidFill>
                <a:latin typeface="Microsoft YaHei"/>
              </a:defRPr>
            </a:pPr>
            <a:r>
              <a:t>代码评审结论 · 多 Agent demo 进度 · 语义分块方案 · 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46120"/>
            <a:ext cx="10835640" cy="141732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3511296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000" b="1" i="0">
                <a:solidFill>
                  <a:srgbClr val="16B7C9"/>
                </a:solidFill>
                <a:latin typeface="Microsoft YaHei"/>
              </a:defRPr>
            </a:pPr>
            <a:r>
              <a:t>本次基线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27432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Microsoft YaHei"/>
              </a:defRPr>
            </a:pPr>
            <a:r>
              <a:t>PR #20</a:t>
            </a:r>
            <a:br/>
            <a:r>
              <a:t>776dac5 → b6973a8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3511296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000" b="1" i="0">
                <a:solidFill>
                  <a:srgbClr val="16B7C9"/>
                </a:solidFill>
                <a:latin typeface="Microsoft YaHei"/>
              </a:defRPr>
            </a:pPr>
            <a:r>
              <a:t>验证结果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4528" y="3803904"/>
            <a:ext cx="27432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Microsoft YaHei"/>
              </a:defRPr>
            </a:pPr>
            <a:r>
              <a:t>typecheck / specs</a:t>
            </a:r>
            <a:br/>
            <a:r>
              <a:t>50 / 50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511296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000" b="1" i="0">
                <a:solidFill>
                  <a:srgbClr val="16B7C9"/>
                </a:solidFill>
                <a:latin typeface="Microsoft YaHei"/>
              </a:defRPr>
            </a:pPr>
            <a:r>
              <a:t>汇报日期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03904"/>
            <a:ext cx="27432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Microsoft YaHei"/>
              </a:defRPr>
            </a:pPr>
            <a:r>
              <a:t>2026-09-02</a:t>
            </a:r>
            <a:br/>
            <a:r>
              <a:t>Asia / Beijing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102412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900" b="0" i="0">
                <a:solidFill>
                  <a:srgbClr val="9FB2C5"/>
                </a:solidFill>
                <a:latin typeface="Microsoft YaHei"/>
              </a:defRPr>
            </a:pPr>
            <a:r>
              <a:t>范围：wpKnowledge 当前分支 codex/embedded-domain-knowledge；domain-knowledge 仅作只读对照。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8048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88752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283696" y="6053328"/>
            <a:ext cx="73152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评审结论：边界方向正确，两处事实源问题已修复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代码依据：packages/application/src/automated-project-workflow.ts；packages/domain/src/index.ts；commit b6973a8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53312"/>
            <a:ext cx="3493008" cy="18562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73152" cy="1856231"/>
          </a:xfrm>
          <a:prstGeom prst="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63040"/>
            <a:ext cx="318211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边界合理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56232"/>
            <a:ext cx="3182112" cy="12435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LangGraph 只负责节点调度、重试、取消与 checkpoint</a:t>
            </a:r>
            <a:br/>
            <a:r>
              <a:t>• wpKnowledge 保留 Run、版本、证据、Gate 与 Publication</a:t>
            </a:r>
            <a:br/>
            <a:r>
              <a:t>• Infrastructure → Ports → Application / Domain 的依赖方向未反转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353312"/>
            <a:ext cx="3493008" cy="18562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4343400" y="1353312"/>
            <a:ext cx="73152" cy="1856231"/>
          </a:xfrm>
          <a:prstGeom prst="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4544568" y="1463040"/>
            <a:ext cx="318211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修复 01 · Gate 顺序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82112" cy="12435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原实现先产生 GateDecision，再运行 Review</a:t>
            </a:r>
            <a:br/>
            <a:r>
              <a:t>• 现由 Review 完成后绑定 Oracle / Check / Review 产物</a:t>
            </a:r>
            <a:br/>
            <a:r>
              <a:t>• Check 或 Review blocking 会得到 ITERATE / STOPPED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53312"/>
            <a:ext cx="3493008" cy="18562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8138160" y="1353312"/>
            <a:ext cx="73152" cy="1856231"/>
          </a:xfrm>
          <a:prstGeom prst="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339328" y="1463040"/>
            <a:ext cx="318211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修复 02 · 单一事实源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856232"/>
            <a:ext cx="3182112" cy="12435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GraphState 与 FlywheelRun 均从 iteration 0 起步</a:t>
            </a:r>
            <a:br/>
            <a:r>
              <a:t>• workflow_router 不再把业务 ITERATE 私自改为 STOPPED</a:t>
            </a:r>
            <a:br/>
            <a:r>
              <a:t>• 只有 Domain Gate 决定 PASS / ITERATE / STOPPED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9584"/>
            <a:ext cx="11082528" cy="1618488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22960" y="3749039"/>
            <a:ext cx="20116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200" b="1" i="0">
                <a:solidFill>
                  <a:srgbClr val="16B7C9"/>
                </a:solidFill>
                <a:latin typeface="Microsoft YaHei"/>
              </a:defRPr>
            </a:pPr>
            <a:r>
              <a:t>最终权威链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142232"/>
            <a:ext cx="1325880" cy="50292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CANDIDATE</a:t>
            </a:r>
          </a:p>
        </p:txBody>
      </p:sp>
      <p:sp>
        <p:nvSpPr>
          <p:cNvPr id="23" name="Chevron 22"/>
          <p:cNvSpPr/>
          <p:nvPr/>
        </p:nvSpPr>
        <p:spPr>
          <a:xfrm>
            <a:off x="2203703" y="4206240"/>
            <a:ext cx="256032" cy="347472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331720" y="4142232"/>
            <a:ext cx="1600200" cy="50292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EvaluationReport</a:t>
            </a:r>
          </a:p>
        </p:txBody>
      </p:sp>
      <p:sp>
        <p:nvSpPr>
          <p:cNvPr id="25" name="Chevron 24"/>
          <p:cNvSpPr/>
          <p:nvPr/>
        </p:nvSpPr>
        <p:spPr>
          <a:xfrm>
            <a:off x="3968496" y="4206240"/>
            <a:ext cx="256032" cy="347472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96511" y="4142232"/>
            <a:ext cx="1600200" cy="50292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GateDecision</a:t>
            </a:r>
          </a:p>
        </p:txBody>
      </p:sp>
      <p:sp>
        <p:nvSpPr>
          <p:cNvPr id="27" name="Chevron 26"/>
          <p:cNvSpPr/>
          <p:nvPr/>
        </p:nvSpPr>
        <p:spPr>
          <a:xfrm>
            <a:off x="5733288" y="4206240"/>
            <a:ext cx="256032" cy="347472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61303" y="4142232"/>
            <a:ext cx="1600200" cy="50292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wp Publication</a:t>
            </a:r>
          </a:p>
        </p:txBody>
      </p:sp>
      <p:sp>
        <p:nvSpPr>
          <p:cNvPr id="29" name="Chevron 28"/>
          <p:cNvSpPr/>
          <p:nvPr/>
        </p:nvSpPr>
        <p:spPr>
          <a:xfrm>
            <a:off x="7498079" y="4206240"/>
            <a:ext cx="256032" cy="347472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26096" y="4142232"/>
            <a:ext cx="1600200" cy="50292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VERIFIED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867912"/>
            <a:ext cx="2148840" cy="6675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Microsoft YaHei"/>
              </a:defRPr>
            </a:pPr>
            <a:r>
              <a:t>只有最后一步</a:t>
            </a:r>
            <a:br/>
            <a:r>
              <a:t>可以写入 VERIFIED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FFFFFF"/>
                </a:solidFill>
                <a:latin typeface="Microsoft YaHei"/>
              </a:defRPr>
            </a:pPr>
            <a:r>
              <a:t>职责边界：执行状态与业务事实并行，但不互相冒充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315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B9C9D8"/>
                </a:solidFill>
                <a:latin typeface="Microsoft YaHei"/>
              </a:defRPr>
            </a:pPr>
            <a:r>
              <a:t>代码依据：infrastructure/domain-knowledge/src/{graph,state,runtime}.ts；apps/runner/src/composition.ts:72-129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298448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100" b="1" i="0">
                <a:solidFill>
                  <a:srgbClr val="16B7C9"/>
                </a:solidFill>
                <a:latin typeface="Microsoft YaHei"/>
              </a:defRPr>
            </a:pPr>
            <a:r>
              <a:t>LANGGRAPH · 执行控制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36776"/>
            <a:ext cx="5285232" cy="3639312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41248" y="1993392"/>
            <a:ext cx="2057400" cy="841248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50976" y="2066544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GraphState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359152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currentNode · route · iteration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18688" y="1993392"/>
            <a:ext cx="2057400" cy="841248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3328416" y="2066544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Checkpoint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2359152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thread_id · resume · attempts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255264"/>
            <a:ext cx="2057400" cy="841248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950976" y="3328416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Projection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3621024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RUNNING / COMPLETED / FAILED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8688" y="3255264"/>
            <a:ext cx="2057400" cy="841248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328416" y="3328416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AbortSignal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8416" y="3621024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协作式取消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736592"/>
            <a:ext cx="461772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200" b="1" i="0">
                <a:solidFill>
                  <a:srgbClr val="C5D3E0"/>
                </a:solidFill>
                <a:latin typeface="Microsoft YaHei"/>
              </a:defRPr>
            </a:pPr>
            <a:r>
              <a:t>不持有 KnowledgeVersion / GateDecision / Publication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298448"/>
            <a:ext cx="30175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100" b="1" i="0">
                <a:solidFill>
                  <a:srgbClr val="16B7C9"/>
                </a:solidFill>
                <a:latin typeface="Microsoft YaHei"/>
              </a:defRPr>
            </a:pPr>
            <a:r>
              <a:t>WPKNOWLEDGE REGISTRY · 业务事实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36776"/>
            <a:ext cx="5321808" cy="363931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6601968" y="1993392"/>
            <a:ext cx="2057400" cy="8412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711696" y="2066544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FlywheelRun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696" y="2359152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状态 + 业务 iteration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9408" y="1993392"/>
            <a:ext cx="2057400" cy="8412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89136" y="2066544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CAS /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359152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sha256 不可变引用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1968" y="3255264"/>
            <a:ext cx="2057400" cy="8412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711696" y="3328416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GateDecision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1696" y="3621024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策略 + reasonCodes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79408" y="3255264"/>
            <a:ext cx="2057400" cy="8412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9089136" y="3328416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Publication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9136" y="3621024"/>
            <a:ext cx="1837943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原子写入 VERIFIED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0256" y="4727448"/>
            <a:ext cx="46177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200" b="1" i="0">
                <a:solidFill>
                  <a:srgbClr val="162231"/>
                </a:solidFill>
                <a:latin typeface="Microsoft YaHei"/>
              </a:defRPr>
            </a:pPr>
            <a:r>
              <a:t>业务事件与 SQLite 投影由同一 Application Service 写入</a:t>
            </a:r>
          </a:p>
        </p:txBody>
      </p:sp>
      <p:sp>
        <p:nvSpPr>
          <p:cNvPr id="38" name="Chevron 37"/>
          <p:cNvSpPr/>
          <p:nvPr/>
        </p:nvSpPr>
        <p:spPr>
          <a:xfrm>
            <a:off x="5925312" y="3108960"/>
            <a:ext cx="274320" cy="438912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0" y="3566160"/>
            <a:ext cx="132588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950" b="1" i="0">
                <a:solidFill>
                  <a:srgbClr val="B9C9D8"/>
                </a:solidFill>
                <a:latin typeface="Microsoft YaHei"/>
              </a:defRPr>
            </a:pPr>
            <a:r>
              <a:t>Ports / contracts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B9C9D8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当前进度：编排骨架已落地，真实 Agent 与语义分块仍未接入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3976E8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 + 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代码依据：contracts/src/index.ts:200-216；composition.ts:97-114；tests/acceptance/automated-langgraph-flow.test.ts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35024"/>
            <a:ext cx="3977639" cy="393192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能力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0288" y="1335024"/>
            <a:ext cx="1536192" cy="393192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1335024"/>
            <a:ext cx="1207008" cy="393192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35024"/>
            <a:ext cx="1335024" cy="393192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335024"/>
            <a:ext cx="2788920" cy="393192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判断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792224"/>
            <a:ext cx="39776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7 Agent 节点 + LangGraph 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0288" y="1792224"/>
            <a:ext cx="1536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229B6A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792224"/>
            <a:ext cx="120700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792224"/>
            <a:ext cx="1335024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792224"/>
            <a:ext cx="2788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节点、投影、fan-out/join 可运行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2304288"/>
            <a:ext cx="3977639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SQLite graph checkpoint + Registry/CAS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0288" y="2304288"/>
            <a:ext cx="1536192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229B6A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3056" y="2304288"/>
            <a:ext cx="1207008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304288"/>
            <a:ext cx="1335024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304288"/>
            <a:ext cx="2788920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两类状态分层持久化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816352"/>
            <a:ext cx="39776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ohMyWorkPanel 两轮闭环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0288" y="2816352"/>
            <a:ext cx="1536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2816352"/>
            <a:ext cx="120700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E8892E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2816352"/>
            <a:ext cx="1335024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2816352"/>
            <a:ext cx="2788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静态资产驱动，不是 live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3328416"/>
            <a:ext cx="3977639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TrustedProjectEvaluator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328416"/>
            <a:ext cx="1536192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229B6A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3328416"/>
            <a:ext cx="1207008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E8892E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3328416"/>
            <a:ext cx="1335024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3328416"/>
            <a:ext cx="2788920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真实命令执行；不是敌对沙箱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3840480"/>
            <a:ext cx="39776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promptAddon-only 配置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3840480"/>
            <a:ext cx="1536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229B6A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840480"/>
            <a:ext cx="120700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3840480"/>
            <a:ext cx="1335024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0" y="3840480"/>
            <a:ext cx="2788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字段边界安全；执行端尚不消费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352544"/>
            <a:ext cx="3977639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真实 Agent / CodeAgent provider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352544"/>
            <a:ext cx="1536192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3056" y="4352544"/>
            <a:ext cx="1207008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352544"/>
            <a:ext cx="1335024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7656D6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4352544"/>
            <a:ext cx="2788920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自动路径尚未接入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4864608"/>
            <a:ext cx="39776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拓扑 + 语义切块与增量上下文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90288" y="4864608"/>
            <a:ext cx="1536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6" y="4864608"/>
            <a:ext cx="120700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06640" y="4864608"/>
            <a:ext cx="1335024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7656D6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78240" y="4864608"/>
            <a:ext cx="2788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当前 worker 只是机械 fixture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5376672"/>
            <a:ext cx="3977639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00" b="0">
                <a:solidFill>
                  <a:srgbClr val="162231"/>
                </a:solidFill>
                <a:latin typeface="Microsoft YaHei"/>
              </a:defRPr>
            </a:pPr>
            <a:r>
              <a:t>进程级取消 / RUNNING 恢复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5376672"/>
            <a:ext cx="1536192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63056" y="5376672"/>
            <a:ext cx="1207008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A9B5C0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5376672"/>
            <a:ext cx="1335024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1">
                <a:solidFill>
                  <a:srgbClr val="7656D6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5376672"/>
            <a:ext cx="2788920" cy="457200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19" b="0">
                <a:solidFill>
                  <a:srgbClr val="162231"/>
                </a:solidFill>
                <a:latin typeface="Microsoft YaHei"/>
              </a:defRPr>
            </a:pPr>
            <a:r>
              <a:t>当前只证明协作式取消、部分恢复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FFFFFF"/>
                </a:solidFill>
                <a:latin typeface="Microsoft YaHei"/>
              </a:defRPr>
            </a:pPr>
            <a:r>
              <a:t>预期编排：七个 Agent 节点全部保留，评测与发布 Gate 不是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607084"/>
          </a:solidFill>
          <a:ln w="12700">
            <a:solidFill>
              <a:srgbClr val="60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 + PLANNED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315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B9C9D8"/>
                </a:solidFill>
                <a:latin typeface="Microsoft YaHei"/>
              </a:defRPr>
            </a:pPr>
            <a:r>
              <a:t>代码依据：infrastructure/domain-knowledge/src/graph.ts:13-27,106-188；domain-knowledge/docs/report/01-Agent输入输出总览.md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33472"/>
            <a:ext cx="128016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2706624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Orchestrator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99232"/>
            <a:ext cx="106070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拆任务 / 组装上下文</a:t>
            </a:r>
          </a:p>
        </p:txBody>
      </p:sp>
      <p:sp>
        <p:nvSpPr>
          <p:cNvPr id="11" name="Chevron 10"/>
          <p:cNvSpPr/>
          <p:nvPr/>
        </p:nvSpPr>
        <p:spPr>
          <a:xfrm>
            <a:off x="1847088" y="2798064"/>
            <a:ext cx="237744" cy="365760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48840" y="1508760"/>
            <a:ext cx="128016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2258568" y="1581912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DocWorker × 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1874519"/>
            <a:ext cx="106070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分块证据片段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822191"/>
            <a:ext cx="128016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2258568" y="3895344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TestGen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8568" y="4187952"/>
            <a:ext cx="106070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oracle / 测试意图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1508760"/>
            <a:ext cx="123444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950208" y="1581912"/>
            <a:ext cx="10149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DocGen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8" y="1874519"/>
            <a:ext cx="101498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候选知识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3822191"/>
            <a:ext cx="1234440" cy="731520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3950208" y="3895344"/>
            <a:ext cx="10149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Oracle 校验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0208" y="4187952"/>
            <a:ext cx="101498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非 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508760"/>
            <a:ext cx="114300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5641848" y="1581912"/>
            <a:ext cx="92354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1874519"/>
            <a:ext cx="92354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fresh 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14032" y="1508760"/>
            <a:ext cx="114300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7223760" y="1581912"/>
            <a:ext cx="92354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1874519"/>
            <a:ext cx="92354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只读检查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37376" y="3218688"/>
            <a:ext cx="1508760" cy="731520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547104" y="3291840"/>
            <a:ext cx="12893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EvalRunner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3584448"/>
            <a:ext cx="128930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独立确定性评测</a:t>
            </a:r>
            <a:br/>
            <a:r>
              <a:t>非 Agent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3218688"/>
            <a:ext cx="1234440" cy="73152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778240" y="3291840"/>
            <a:ext cx="10149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584448"/>
            <a:ext cx="1014984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归因 / Correction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3218688"/>
            <a:ext cx="1298448" cy="731520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10424159" y="3291840"/>
            <a:ext cx="107899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Publication Gate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3584448"/>
            <a:ext cx="10789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B9C9D8"/>
                </a:solidFill>
                <a:latin typeface="Microsoft YaHei"/>
              </a:defRPr>
            </a:pPr>
            <a:r>
              <a:t>确定性策略</a:t>
            </a:r>
            <a:br/>
            <a:r>
              <a:t>非 Agent</a:t>
            </a:r>
          </a:p>
        </p:txBody>
      </p:sp>
      <p:sp>
        <p:nvSpPr>
          <p:cNvPr id="39" name="Chevron 38"/>
          <p:cNvSpPr/>
          <p:nvPr/>
        </p:nvSpPr>
        <p:spPr>
          <a:xfrm>
            <a:off x="3493008" y="1682496"/>
            <a:ext cx="228600" cy="338328"/>
          </a:xfrm>
          <a:prstGeom prst="chevron">
            <a:avLst/>
          </a:prstGeom>
          <a:solidFill>
            <a:srgbClr val="3976E8"/>
          </a:solidFill>
          <a:ln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175504" y="1682496"/>
            <a:ext cx="228600" cy="338328"/>
          </a:xfrm>
          <a:prstGeom prst="chevron">
            <a:avLst/>
          </a:prstGeom>
          <a:solidFill>
            <a:srgbClr val="229B6A"/>
          </a:solidFill>
          <a:ln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6766560" y="1682496"/>
            <a:ext cx="228600" cy="338328"/>
          </a:xfrm>
          <a:prstGeom prst="chevron">
            <a:avLst/>
          </a:prstGeom>
          <a:solidFill>
            <a:srgbClr val="E8892E"/>
          </a:solidFill>
          <a:ln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3493008" y="3995928"/>
            <a:ext cx="228600" cy="338328"/>
          </a:xfrm>
          <a:prstGeom prst="chevron">
            <a:avLst/>
          </a:prstGeom>
          <a:solidFill>
            <a:srgbClr val="7656D6"/>
          </a:solidFill>
          <a:ln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8092440" y="3401568"/>
            <a:ext cx="228600" cy="338328"/>
          </a:xfrm>
          <a:prstGeom prst="chevron">
            <a:avLst/>
          </a:prstGeom>
          <a:solidFill>
            <a:srgbClr val="7656D6"/>
          </a:solidFill>
          <a:ln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9985248" y="3401568"/>
            <a:ext cx="228600" cy="338328"/>
          </a:xfrm>
          <a:prstGeom prst="chevron">
            <a:avLst/>
          </a:prstGeom>
          <a:solidFill>
            <a:srgbClr val="229B6A"/>
          </a:solidFill>
          <a:ln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7333488" y="2304288"/>
            <a:ext cx="329184" cy="859536"/>
          </a:xfrm>
          <a:prstGeom prst="line">
            <a:avLst/>
          </a:prstGeom>
          <a:ln w="25400">
            <a:solidFill>
              <a:srgbClr val="E88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62272" y="4014215"/>
            <a:ext cx="2368296" cy="603505"/>
          </a:xfrm>
          <a:prstGeom prst="line">
            <a:avLst/>
          </a:prstGeom>
          <a:ln w="25400">
            <a:solidFill>
              <a:srgbClr val="765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991088" y="4023360"/>
            <a:ext cx="0" cy="1124712"/>
          </a:xfrm>
          <a:prstGeom prst="line">
            <a:avLst/>
          </a:prstGeom>
          <a:ln w="25400">
            <a:solidFill>
              <a:srgbClr val="E88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143000" y="5148072"/>
            <a:ext cx="9848088" cy="0"/>
          </a:xfrm>
          <a:prstGeom prst="line">
            <a:avLst/>
          </a:prstGeom>
          <a:ln w="25400">
            <a:solidFill>
              <a:srgbClr val="E88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143000" y="3447288"/>
            <a:ext cx="0" cy="1700784"/>
          </a:xfrm>
          <a:prstGeom prst="line">
            <a:avLst/>
          </a:prstGeom>
          <a:ln w="25400">
            <a:solidFill>
              <a:srgbClr val="E88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931920" y="5239512"/>
            <a:ext cx="3749039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050" b="1" i="0">
                <a:solidFill>
                  <a:srgbClr val="E8892E"/>
                </a:solidFill>
                <a:latin typeface="Microsoft YaHei"/>
              </a:defRPr>
            </a:pPr>
            <a:r>
              <a:t>ITERATE / ROLLBACK：回到新一轮 Orchestrator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B9C9D8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AGENT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七个 Agent 输入输出：职责没有简化，交接只通过受约束产物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607084"/>
          </a:solidFill>
          <a:ln w="12700">
            <a:solidFill>
              <a:srgbClr val="60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 + PLANNED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对照：contracts/src/index.ts:200-216；infrastructure/domain-knowledge/src/agent-definitions.ts；domain-knowledge 报告 §Agent 总表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307592"/>
            <a:ext cx="1298448" cy="402336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1307592"/>
            <a:ext cx="3703320" cy="402336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主要输入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1307592"/>
            <a:ext cx="3886200" cy="402336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主要输出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1307592"/>
            <a:ext cx="2221992" cy="402336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边界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755648"/>
            <a:ext cx="12984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Orchestrator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755648"/>
            <a:ext cx="3703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RunPolicy、snapshot、历史 Correction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1755648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任务 DAG、worker 划分、上下文计划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1755648"/>
            <a:ext cx="22219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不生成最终知识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340864"/>
            <a:ext cx="1298448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DocWorker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2340864"/>
            <a:ext cx="3703320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语义块、依赖摘要、公开接口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2340864"/>
            <a:ext cx="3886200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证据片段、provenance、未决问题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2340864"/>
            <a:ext cx="2221992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不跨块猜测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" y="2926080"/>
            <a:ext cx="12984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DocGen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2926080"/>
            <a:ext cx="3703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全部 worker 片段、写作规范、历史版本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32120" y="2926080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候选知识 + 事实引用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2926080"/>
            <a:ext cx="22219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不发布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3511296"/>
            <a:ext cx="1298448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TestGen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3511296"/>
            <a:ext cx="3703320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知识契约、公开接口、风险项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32120" y="3511296"/>
            <a:ext cx="3886200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oracle 意图、候选命令/用例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3511296"/>
            <a:ext cx="2221992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不读取候选实现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4096512"/>
            <a:ext cx="12984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Code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4096512"/>
            <a:ext cx="3703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候选知识、接口约束、allowed paths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4096512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fresh generated files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4096512"/>
            <a:ext cx="22219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不读取参考实现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4681728"/>
            <a:ext cx="1298448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Check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4681728"/>
            <a:ext cx="3703320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实现 diff、规则、静态证据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2120" y="4681728"/>
            <a:ext cx="3886200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blocking + findings + 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8320" y="4681728"/>
            <a:ext cx="2221992" cy="530352"/>
          </a:xfrm>
          <a:prstGeom prst="rect">
            <a:avLst/>
          </a:prstGeom>
          <a:solidFill>
            <a:srgbClr val="EDF2F6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只读、不定发布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" y="5266944"/>
            <a:ext cx="12984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00" b="1">
                <a:solidFill>
                  <a:srgbClr val="10253F"/>
                </a:solidFill>
                <a:latin typeface="Microsoft YaHei"/>
              </a:defRPr>
            </a:pPr>
            <a:r>
              <a:t>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5266944"/>
            <a:ext cx="3703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Eval、Check、候选知识、历史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32120" y="5266944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归因、Correction、unresolved risks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5266944"/>
            <a:ext cx="22219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50" b="0">
                <a:solidFill>
                  <a:srgbClr val="162231"/>
                </a:solidFill>
                <a:latin typeface="Microsoft YaHei"/>
              </a:defRPr>
            </a:pPr>
            <a:r>
              <a:t>只读、不选最终状态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DOCUMENTATION · CURRENT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文档生成阶段：并行结构已跑通，但当前内容仍是 deterministic fixture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代码依据：graph.ts:137-153；automated-project-workflow.ts:143-182；tests/integration/langgraph-infrastructure.test.ts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25880"/>
            <a:ext cx="1051560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当前可运行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39112"/>
            <a:ext cx="1325880" cy="768096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76656" y="2112264"/>
            <a:ext cx="110642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Orchestrator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404872"/>
            <a:ext cx="110642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workerCount</a:t>
            </a:r>
          </a:p>
        </p:txBody>
      </p:sp>
      <p:sp>
        <p:nvSpPr>
          <p:cNvPr id="12" name="Chevron 11"/>
          <p:cNvSpPr/>
          <p:nvPr/>
        </p:nvSpPr>
        <p:spPr>
          <a:xfrm>
            <a:off x="1975104" y="2221992"/>
            <a:ext cx="274320" cy="384048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59152" y="1408176"/>
            <a:ext cx="1481328" cy="676656"/>
          </a:xfrm>
          <a:prstGeom prst="roundRect">
            <a:avLst/>
          </a:prstGeom>
          <a:solidFill>
            <a:srgbClr val="E8F0F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2468880" y="1481328"/>
            <a:ext cx="126187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DocWorker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1773936"/>
            <a:ext cx="12618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workerId + 固定 fragment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9152" y="2432304"/>
            <a:ext cx="1481328" cy="676656"/>
          </a:xfrm>
          <a:prstGeom prst="roundRect">
            <a:avLst/>
          </a:prstGeom>
          <a:solidFill>
            <a:srgbClr val="E8F0F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2468880" y="2505456"/>
            <a:ext cx="126187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DocWorker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798064"/>
            <a:ext cx="12618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workerId + 固定 fragment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59152" y="3456432"/>
            <a:ext cx="1481328" cy="676656"/>
          </a:xfrm>
          <a:prstGeom prst="roundRect">
            <a:avLst/>
          </a:prstGeom>
          <a:solidFill>
            <a:srgbClr val="E8F0F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2468880" y="3529584"/>
            <a:ext cx="126187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DocWorker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822192"/>
            <a:ext cx="12618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workerId + 固定 fragment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1920" y="1746504"/>
            <a:ext cx="822960" cy="649224"/>
          </a:xfrm>
          <a:prstGeom prst="line">
            <a:avLst/>
          </a:prstGeom>
          <a:ln w="19050">
            <a:solidFill>
              <a:srgbClr val="3976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931920" y="2395728"/>
            <a:ext cx="822960" cy="374904"/>
          </a:xfrm>
          <a:prstGeom prst="line">
            <a:avLst/>
          </a:prstGeom>
          <a:ln w="19050">
            <a:solidFill>
              <a:srgbClr val="3976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931920" y="2395728"/>
            <a:ext cx="822960" cy="1399032"/>
          </a:xfrm>
          <a:prstGeom prst="line">
            <a:avLst/>
          </a:prstGeom>
          <a:ln w="19050">
            <a:solidFill>
              <a:srgbClr val="3976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91456" y="1993392"/>
            <a:ext cx="1572768" cy="804672"/>
          </a:xfrm>
          <a:prstGeom prst="roundRect">
            <a:avLst/>
          </a:prstGeom>
          <a:solidFill>
            <a:srgbClr val="E8F0F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4901184" y="2066544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DocGen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1184" y="2359152"/>
            <a:ext cx="1353312" cy="3749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读取预置 knowledge-v1/v2</a:t>
            </a:r>
          </a:p>
        </p:txBody>
      </p:sp>
      <p:sp>
        <p:nvSpPr>
          <p:cNvPr id="28" name="Chevron 27"/>
          <p:cNvSpPr/>
          <p:nvPr/>
        </p:nvSpPr>
        <p:spPr>
          <a:xfrm>
            <a:off x="6446520" y="2203704"/>
            <a:ext cx="274320" cy="384048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12280" y="1993392"/>
            <a:ext cx="1572768" cy="804672"/>
          </a:xfrm>
          <a:prstGeom prst="roundRect">
            <a:avLst/>
          </a:prstGeom>
          <a:solidFill>
            <a:srgbClr val="DFF3E9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922008" y="2066544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Candidate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2359152"/>
            <a:ext cx="1353312" cy="3749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CAS + provenance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32520" y="1335024"/>
            <a:ext cx="28803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3" name="Rectangle 32"/>
          <p:cNvSpPr/>
          <p:nvPr/>
        </p:nvSpPr>
        <p:spPr>
          <a:xfrm>
            <a:off x="8732520" y="1335024"/>
            <a:ext cx="73152" cy="1847088"/>
          </a:xfrm>
          <a:prstGeom prst="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933688" y="1444752"/>
            <a:ext cx="256946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这个 demo 能证明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33688" y="1837943"/>
            <a:ext cx="2569464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Send fan-out / join 路径可执行</a:t>
            </a:r>
            <a:br/>
            <a:r>
              <a:t>• 多个 worker ArtifactRef 能汇入 DocGen context</a:t>
            </a:r>
            <a:br/>
            <a:r>
              <a:t>• 节点投影、checkpoint、候选写入可观察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32520" y="3410712"/>
            <a:ext cx="28803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7" name="Rectangle 36"/>
          <p:cNvSpPr/>
          <p:nvPr/>
        </p:nvSpPr>
        <p:spPr>
          <a:xfrm>
            <a:off x="8732520" y="3410712"/>
            <a:ext cx="73152" cy="1847088"/>
          </a:xfrm>
          <a:prstGeom prst="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8933688" y="3520440"/>
            <a:ext cx="256946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它不能证明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3913632"/>
            <a:ext cx="2569464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没有函数 / 类 / SCC 级语义切块</a:t>
            </a:r>
            <a:br/>
            <a:r>
              <a:t>• DocGen 没有按片段内容聚合写作</a:t>
            </a:r>
            <a:br/>
            <a:r>
              <a:t>• 没有增量上下文、冲突消解和覆盖率验证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773168"/>
            <a:ext cx="7818120" cy="493776"/>
          </a:xfrm>
          <a:prstGeom prst="roundRect">
            <a:avLst/>
          </a:prstGeom>
          <a:solidFill>
            <a:srgbClr val="FFF0DC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300" b="1">
                <a:solidFill>
                  <a:srgbClr val="162231"/>
                </a:solidFill>
                <a:latin typeface="Microsoft YaHei"/>
              </a:defRPr>
            </a:pPr>
            <a:r>
              <a:t>结论：当前是“拓扑形状正确”的 fixture，不是“拓扑与语义切块已经实现”。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DOCUMENTATION ·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FFFFFF"/>
                </a:solidFill>
                <a:latin typeface="Microsoft YaHei"/>
              </a:defRPr>
            </a:pPr>
            <a:r>
              <a:t>语义 / 拓扑切块：以可解释代码单元为边界，不按 token 生硬截断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315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B9C9D8"/>
                </a:solidFill>
                <a:latin typeface="Microsoft YaHei"/>
              </a:defRPr>
            </a:pPr>
            <a:r>
              <a:t>研究依据：DocAgent, arXiv:2504.08725 (2025-04-11)；domain-knowledge/docs/report/01-Agent输入输出总览.md §文档阶段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200" b="1" i="0">
                <a:solidFill>
                  <a:srgbClr val="16B7C9"/>
                </a:solidFill>
                <a:latin typeface="Microsoft YaHei"/>
              </a:defRPr>
            </a:pPr>
            <a:r>
              <a:t>1 · 建图与稳定边界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1097280" cy="54864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68096" y="1947672"/>
            <a:ext cx="87782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public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1536192"/>
            <a:ext cx="1097280" cy="54864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350008" y="1609344"/>
            <a:ext cx="87782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80" y="2487168"/>
            <a:ext cx="1097280" cy="54864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2350008" y="2560320"/>
            <a:ext cx="87782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repository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2191" y="2011680"/>
            <a:ext cx="1097280" cy="548640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931920" y="2084832"/>
            <a:ext cx="87782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adapter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55648" y="1847088"/>
            <a:ext cx="457200" cy="292608"/>
          </a:xfrm>
          <a:prstGeom prst="line">
            <a:avLst/>
          </a:prstGeom>
          <a:ln w="19050">
            <a:solidFill>
              <a:srgbClr val="16B7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55648" y="2139696"/>
            <a:ext cx="457200" cy="621792"/>
          </a:xfrm>
          <a:prstGeom prst="line">
            <a:avLst/>
          </a:prstGeom>
          <a:ln w="19050">
            <a:solidFill>
              <a:srgbClr val="16B7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355848" y="1847088"/>
            <a:ext cx="438912" cy="402336"/>
          </a:xfrm>
          <a:prstGeom prst="line">
            <a:avLst/>
          </a:prstGeom>
          <a:ln w="19050">
            <a:solidFill>
              <a:srgbClr val="16B7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355848" y="2249424"/>
            <a:ext cx="438912" cy="512064"/>
          </a:xfrm>
          <a:prstGeom prst="line">
            <a:avLst/>
          </a:prstGeom>
          <a:ln w="19050">
            <a:solidFill>
              <a:srgbClr val="16B7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310128"/>
            <a:ext cx="431596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50" b="0" i="0">
                <a:solidFill>
                  <a:srgbClr val="C5D3E0"/>
                </a:solidFill>
                <a:latin typeface="Microsoft YaHei"/>
              </a:defRPr>
            </a:pPr>
            <a:r>
              <a:t>AST / symbol / import-call graph → SCC 收缩 → 拓扑层</a:t>
            </a:r>
            <a:br/>
            <a:r>
              <a:t>函数、类、模块、测试簇是候选块；超预算时只在内部语义边界再切。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298448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200" b="1" i="0">
                <a:solidFill>
                  <a:srgbClr val="16B7C9"/>
                </a:solidFill>
                <a:latin typeface="Microsoft YaHei"/>
              </a:defRPr>
            </a:pPr>
            <a:r>
              <a:t>2 · DocWorker 产出证据包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85232" y="1673352"/>
            <a:ext cx="2761488" cy="2350008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5285232" y="1673352"/>
            <a:ext cx="73152" cy="2350008"/>
          </a:xfrm>
          <a:prstGeom prst="rect">
            <a:avLst/>
          </a:prstGeom>
          <a:solidFill>
            <a:srgbClr val="3976E8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5486400" y="1783080"/>
            <a:ext cx="245059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Microsoft YaHei"/>
              </a:defRPr>
            </a:pPr>
            <a:r>
              <a:t>ChunkEvidence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176272"/>
            <a:ext cx="245059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C5D3E0"/>
                </a:solidFill>
                <a:latin typeface="Microsoft YaHei"/>
              </a:defRPr>
            </a:pPr>
            <a:r>
              <a:t>• chunkId / symbols / source ranges</a:t>
            </a:r>
            <a:br/>
            <a:r>
              <a:t>• imports / callers / callees / tests</a:t>
            </a:r>
            <a:br/>
            <a:r>
              <a:t>• 事实、约束、示例、provenance</a:t>
            </a:r>
            <a:br/>
            <a:r>
              <a:t>• 依赖摘要与 unresolved issues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1298448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200" b="1" i="0">
                <a:solidFill>
                  <a:srgbClr val="16B7C9"/>
                </a:solidFill>
                <a:latin typeface="Microsoft YaHei"/>
              </a:defRPr>
            </a:pPr>
            <a:r>
              <a:t>3 · DocGen 增量聚合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94192" y="1682496"/>
            <a:ext cx="3127248" cy="612648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8503919" y="1755648"/>
            <a:ext cx="290779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按拓扑序消费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2048256"/>
            <a:ext cx="2907791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先依赖，后调用方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94192" y="2514600"/>
            <a:ext cx="3127248" cy="612648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8503919" y="2587752"/>
            <a:ext cx="290779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增量上下文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2880360"/>
            <a:ext cx="2907791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摘要可复用，正文不重复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94192" y="3346704"/>
            <a:ext cx="3127248" cy="612648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503919" y="3419856"/>
            <a:ext cx="290779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验证—重写闭环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3712464"/>
            <a:ext cx="2907791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覆盖 / 引用 / 冲突检查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2648" y="4370832"/>
            <a:ext cx="10908792" cy="914400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850392" y="4535424"/>
            <a:ext cx="1993392" cy="2377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100" b="1" i="0">
                <a:solidFill>
                  <a:srgbClr val="16B7C9"/>
                </a:solidFill>
                <a:latin typeface="Microsoft YaHei"/>
              </a:defRPr>
            </a:pPr>
            <a:r>
              <a:t>避免语义截断的判据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489704"/>
            <a:ext cx="843076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20" b="1" i="0">
                <a:solidFill>
                  <a:srgbClr val="FFFFFF"/>
                </a:solidFill>
                <a:latin typeface="Microsoft YaHei"/>
              </a:defRPr>
            </a:pPr>
            <a:r>
              <a:t>块内必须可独立解释；跨块依赖显式引用；声明与测试共同归组；循环依赖作为 SCC 整体；</a:t>
            </a:r>
            <a:br/>
            <a:r>
              <a:t>超 token 时保留接口 + 摘要 + provenance，正文递延，禁止从任意字符位置截断。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632704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050" b="0" i="1">
                <a:solidFill>
                  <a:srgbClr val="B9C9D8"/>
                </a:solidFill>
                <a:latin typeface="Microsoft YaHei"/>
              </a:defRPr>
            </a:pPr>
            <a:r>
              <a:t>DocAgent 论文验证了 topological code processing + incremental context building；本项目采用其原则，具体 Schema 与 Gate 仍需在 wpKnowledge 内实现。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B9C9D8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CODE +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代码生成与独立评测：路径隔离已存在，live CodeAgent 尚未接线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3976E8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 + 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代码依据：automated-project-workflow.ts:229-309；contracts/src/index.ts:127-197；composition.ts:100-109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307592"/>
            <a:ext cx="30175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100" b="1" i="0">
                <a:solidFill>
                  <a:srgbClr val="3976E8"/>
                </a:solidFill>
                <a:latin typeface="Microsoft YaHei"/>
              </a:defRPr>
            </a:pPr>
            <a:r>
              <a:t>候选路径 · 生成后再检查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" y="1874519"/>
            <a:ext cx="1280160" cy="713232"/>
          </a:xfrm>
          <a:prstGeom prst="roundRect">
            <a:avLst/>
          </a:prstGeom>
          <a:solidFill>
            <a:srgbClr val="E8F0FF"/>
          </a:solidFill>
          <a:ln w="1651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DocGen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1060704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候选知识</a:t>
            </a:r>
          </a:p>
        </p:txBody>
      </p:sp>
      <p:sp>
        <p:nvSpPr>
          <p:cNvPr id="12" name="Chevron 11"/>
          <p:cNvSpPr/>
          <p:nvPr/>
        </p:nvSpPr>
        <p:spPr>
          <a:xfrm>
            <a:off x="1938528" y="2048256"/>
            <a:ext cx="274320" cy="384048"/>
          </a:xfrm>
          <a:prstGeom prst="chevron">
            <a:avLst/>
          </a:prstGeom>
          <a:solidFill>
            <a:srgbClr val="3976E8"/>
          </a:solidFill>
          <a:ln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31720" y="1874519"/>
            <a:ext cx="1280160" cy="713232"/>
          </a:xfrm>
          <a:prstGeom prst="roundRect">
            <a:avLst/>
          </a:prstGeom>
          <a:solidFill>
            <a:srgbClr val="DFF3E9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2441448" y="1947672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2240279"/>
            <a:ext cx="1060704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静态 code-v1/v2</a:t>
            </a:r>
          </a:p>
        </p:txBody>
      </p:sp>
      <p:sp>
        <p:nvSpPr>
          <p:cNvPr id="16" name="Chevron 15"/>
          <p:cNvSpPr/>
          <p:nvPr/>
        </p:nvSpPr>
        <p:spPr>
          <a:xfrm>
            <a:off x="3694176" y="2048256"/>
            <a:ext cx="274320" cy="384048"/>
          </a:xfrm>
          <a:prstGeom prst="chevron">
            <a:avLst/>
          </a:prstGeom>
          <a:solidFill>
            <a:srgbClr val="229B6A"/>
          </a:solidFill>
          <a:ln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78224" y="1874519"/>
            <a:ext cx="1280160" cy="713232"/>
          </a:xfrm>
          <a:prstGeom prst="roundRect">
            <a:avLst/>
          </a:prstGeom>
          <a:solidFill>
            <a:srgbClr val="FFF0DC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4187952" y="1947672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2240279"/>
            <a:ext cx="1060704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blocking / findings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191256"/>
            <a:ext cx="30175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100" b="1" i="0">
                <a:solidFill>
                  <a:srgbClr val="7656D6"/>
                </a:solidFill>
                <a:latin typeface="Microsoft YaHei"/>
              </a:defRPr>
            </a:pPr>
            <a:r>
              <a:t>Oracle 路径 · 与候选实现隔离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" y="3749039"/>
            <a:ext cx="1280160" cy="713232"/>
          </a:xfrm>
          <a:prstGeom prst="roundRect">
            <a:avLst/>
          </a:prstGeom>
          <a:solidFill>
            <a:srgbClr val="EDE8FB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85800" y="3822191"/>
            <a:ext cx="106070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TestGen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14800"/>
            <a:ext cx="1060704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固定命令 fixture</a:t>
            </a:r>
          </a:p>
        </p:txBody>
      </p:sp>
      <p:sp>
        <p:nvSpPr>
          <p:cNvPr id="24" name="Chevron 23"/>
          <p:cNvSpPr/>
          <p:nvPr/>
        </p:nvSpPr>
        <p:spPr>
          <a:xfrm>
            <a:off x="1938528" y="3922776"/>
            <a:ext cx="274320" cy="384048"/>
          </a:xfrm>
          <a:prstGeom prst="chevron">
            <a:avLst/>
          </a:prstGeom>
          <a:solidFill>
            <a:srgbClr val="7656D6"/>
          </a:solidFill>
          <a:ln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331720" y="3749039"/>
            <a:ext cx="1664208" cy="713232"/>
          </a:xfrm>
          <a:prstGeom prst="roundRect">
            <a:avLst/>
          </a:prstGeom>
          <a:solidFill>
            <a:srgbClr val="EDE8FB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2441448" y="3822191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Reference Oracle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1448" y="4114800"/>
            <a:ext cx="144475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先验证测试基线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76672" y="2240280"/>
            <a:ext cx="676656" cy="713232"/>
          </a:xfrm>
          <a:prstGeom prst="line">
            <a:avLst/>
          </a:prstGeom>
          <a:ln w="25400">
            <a:solidFill>
              <a:srgbClr val="E88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023360" y="2953512"/>
            <a:ext cx="2029968" cy="1152144"/>
          </a:xfrm>
          <a:prstGeom prst="line">
            <a:avLst/>
          </a:prstGeom>
          <a:ln w="25400">
            <a:solidFill>
              <a:srgbClr val="765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08192" y="2496312"/>
            <a:ext cx="1920240" cy="932688"/>
          </a:xfrm>
          <a:prstGeom prst="roundRect">
            <a:avLst/>
          </a:prstGeom>
          <a:solidFill>
            <a:srgbClr val="10253F"/>
          </a:solidFill>
          <a:ln w="1651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217920" y="2569464"/>
            <a:ext cx="17007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TrustedProjectEvaluator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86207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D2DDE7"/>
                </a:solidFill>
                <a:latin typeface="Microsoft YaHei"/>
              </a:defRPr>
            </a:pPr>
            <a:r>
              <a:t>归档 workspace 内执行命令</a:t>
            </a:r>
            <a:br/>
            <a:r>
              <a:t>采集 stdout / stderr / tests</a:t>
            </a:r>
          </a:p>
        </p:txBody>
      </p:sp>
      <p:sp>
        <p:nvSpPr>
          <p:cNvPr id="33" name="Chevron 32"/>
          <p:cNvSpPr/>
          <p:nvPr/>
        </p:nvSpPr>
        <p:spPr>
          <a:xfrm>
            <a:off x="8138160" y="2770632"/>
            <a:ext cx="274320" cy="384048"/>
          </a:xfrm>
          <a:prstGeom prst="chevron">
            <a:avLst/>
          </a:prstGeom>
          <a:solidFill>
            <a:srgbClr val="D95852"/>
          </a:solidFill>
          <a:ln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77072" y="2496312"/>
            <a:ext cx="1490472" cy="932688"/>
          </a:xfrm>
          <a:prstGeom prst="roundRect">
            <a:avLst/>
          </a:prstGeom>
          <a:solidFill>
            <a:srgbClr val="FBE7E5"/>
          </a:solidFill>
          <a:ln w="1651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686800" y="2569464"/>
            <a:ext cx="127101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862072"/>
            <a:ext cx="1271016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不可变 evidenceRef</a:t>
            </a:r>
          </a:p>
        </p:txBody>
      </p:sp>
      <p:sp>
        <p:nvSpPr>
          <p:cNvPr id="37" name="Chevron 36"/>
          <p:cNvSpPr/>
          <p:nvPr/>
        </p:nvSpPr>
        <p:spPr>
          <a:xfrm>
            <a:off x="10158984" y="2770632"/>
            <a:ext cx="274320" cy="384048"/>
          </a:xfrm>
          <a:prstGeom prst="chevron">
            <a:avLst/>
          </a:prstGeom>
          <a:solidFill>
            <a:srgbClr val="D95852"/>
          </a:solidFill>
          <a:ln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570464" y="2496312"/>
            <a:ext cx="1051560" cy="932688"/>
          </a:xfrm>
          <a:prstGeom prst="roundRect">
            <a:avLst/>
          </a:prstGeom>
          <a:solidFill>
            <a:srgbClr val="EDE8FB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10680192" y="2569464"/>
            <a:ext cx="832103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162231"/>
                </a:solidFill>
                <a:latin typeface="Microsoft YaHei"/>
              </a:defRPr>
            </a:pPr>
            <a:r>
              <a:t>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80192" y="2862072"/>
            <a:ext cx="832103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607084"/>
                </a:solidFill>
                <a:latin typeface="Microsoft YaHei"/>
              </a:defRPr>
            </a:pPr>
            <a:r>
              <a:t>归因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08192" y="3931920"/>
            <a:ext cx="2651760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42" name="Rectangle 41"/>
          <p:cNvSpPr/>
          <p:nvPr/>
        </p:nvSpPr>
        <p:spPr>
          <a:xfrm>
            <a:off x="6108192" y="3931920"/>
            <a:ext cx="73152" cy="1344168"/>
          </a:xfrm>
          <a:prstGeom prst="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6309359" y="4041648"/>
            <a:ext cx="234086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已实现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59" y="4434840"/>
            <a:ext cx="2340864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allowed path 校验</a:t>
            </a:r>
            <a:br/>
            <a:r>
              <a:t>• reference oracle 先行</a:t>
            </a:r>
            <a:br/>
            <a:r>
              <a:t>• 真实 Node 命令 + CAS 证据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70264" y="3931920"/>
            <a:ext cx="2651760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46" name="Rectangle 45"/>
          <p:cNvSpPr/>
          <p:nvPr/>
        </p:nvSpPr>
        <p:spPr>
          <a:xfrm>
            <a:off x="8970264" y="3931920"/>
            <a:ext cx="73152" cy="1344168"/>
          </a:xfrm>
          <a:prstGeom prst="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47" name="TextBox 46"/>
          <p:cNvSpPr txBox="1"/>
          <p:nvPr/>
        </p:nvSpPr>
        <p:spPr>
          <a:xfrm>
            <a:off x="9171432" y="4041648"/>
            <a:ext cx="234086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162231"/>
                </a:solidFill>
                <a:latin typeface="Microsoft YaHei"/>
              </a:defRPr>
            </a:pPr>
            <a:r>
              <a:t>当前边界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71432" y="4434840"/>
            <a:ext cx="2340864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607084"/>
                </a:solidFill>
                <a:latin typeface="Microsoft YaHei"/>
              </a:defRPr>
            </a:pPr>
            <a:r>
              <a:t>• Code / TestGen 仍读 fixture</a:t>
            </a:r>
            <a:br/>
            <a:r>
              <a:t>• 不是 CodeAgent provider</a:t>
            </a:r>
            <a:br/>
            <a:r>
              <a:t>• 受信执行器不是敌对沙箱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REVIEW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FFFFFF"/>
                </a:solidFill>
                <a:latin typeface="Microsoft YaHei"/>
              </a:defRPr>
            </a:pPr>
            <a:r>
              <a:t>Review / Correction / 迭代：Review 给证据，Gate 才给状态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315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B9C9D8"/>
                </a:solidFill>
                <a:latin typeface="Microsoft YaHei"/>
              </a:defRPr>
            </a:pPr>
            <a:r>
              <a:t>代码依据：automated-project-workflow.ts:312-374；application/src/index.ts:128-194；domain/src/index.ts:159-196；commit b6973a8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2066543"/>
            <a:ext cx="1444752" cy="841248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2139696"/>
            <a:ext cx="122529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32303"/>
            <a:ext cx="1225296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tests / stability</a:t>
            </a:r>
            <a:br/>
            <a:r>
              <a:t>infrastructureFailure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12264" y="2295144"/>
            <a:ext cx="274320" cy="384048"/>
          </a:xfrm>
          <a:prstGeom prst="chevron">
            <a:avLst/>
          </a:prstGeom>
          <a:solidFill>
            <a:srgbClr val="D95852"/>
          </a:solidFill>
          <a:ln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87168" y="2066543"/>
            <a:ext cx="1444752" cy="841248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2596896" y="2139696"/>
            <a:ext cx="1225296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6896" y="2432303"/>
            <a:ext cx="1225296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blocking / recommendation</a:t>
            </a:r>
            <a:br/>
            <a:r>
              <a:t>Correction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4032504" y="2295144"/>
            <a:ext cx="274320" cy="384048"/>
          </a:xfrm>
          <a:prstGeom prst="chevron">
            <a:avLst/>
          </a:prstGeom>
          <a:solidFill>
            <a:srgbClr val="7656D6"/>
          </a:solidFill>
          <a:ln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07408" y="1892807"/>
            <a:ext cx="1865376" cy="1188720"/>
          </a:xfrm>
          <a:prstGeom prst="roundRect">
            <a:avLst/>
          </a:prstGeom>
          <a:solidFill>
            <a:srgbClr val="224867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17136" y="1965960"/>
            <a:ext cx="16459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wp Domain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258568"/>
            <a:ext cx="1645920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D4E0EA"/>
                </a:solidFill>
                <a:latin typeface="Microsoft YaHei"/>
              </a:defRPr>
            </a:pPr>
            <a:r>
              <a:t>绑定 body / code / oracle / check / review</a:t>
            </a:r>
            <a:br/>
            <a:r>
              <a:t>策略产生唯一 GateDecision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6446520" y="1545336"/>
            <a:ext cx="274320" cy="384048"/>
          </a:xfrm>
          <a:prstGeom prst="chevron">
            <a:avLst/>
          </a:prstGeom>
          <a:solidFill>
            <a:srgbClr val="229B6A"/>
          </a:solidFill>
          <a:ln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93992" y="1344168"/>
            <a:ext cx="1847088" cy="713232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903720" y="1417320"/>
            <a:ext cx="162763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709928"/>
            <a:ext cx="162763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Publication → VERIFIED</a:t>
            </a:r>
          </a:p>
        </p:txBody>
      </p:sp>
      <p:sp>
        <p:nvSpPr>
          <p:cNvPr id="23" name="Chevron 22"/>
          <p:cNvSpPr/>
          <p:nvPr/>
        </p:nvSpPr>
        <p:spPr>
          <a:xfrm>
            <a:off x="6446520" y="2606040"/>
            <a:ext cx="274320" cy="384048"/>
          </a:xfrm>
          <a:prstGeom prst="chevron">
            <a:avLst/>
          </a:prstGeom>
          <a:solidFill>
            <a:srgbClr val="E8892E"/>
          </a:solidFill>
          <a:ln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93992" y="2404872"/>
            <a:ext cx="1847088" cy="713232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903720" y="2478024"/>
            <a:ext cx="162763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770632"/>
            <a:ext cx="162763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FlywheelRun +1 → 新候选</a:t>
            </a:r>
          </a:p>
        </p:txBody>
      </p:sp>
      <p:sp>
        <p:nvSpPr>
          <p:cNvPr id="27" name="Chevron 26"/>
          <p:cNvSpPr/>
          <p:nvPr/>
        </p:nvSpPr>
        <p:spPr>
          <a:xfrm>
            <a:off x="6446520" y="3666744"/>
            <a:ext cx="274320" cy="384048"/>
          </a:xfrm>
          <a:prstGeom prst="chevron">
            <a:avLst/>
          </a:prstGeom>
          <a:solidFill>
            <a:srgbClr val="D95852"/>
          </a:solidFill>
          <a:ln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93992" y="3465576"/>
            <a:ext cx="1847088" cy="713232"/>
          </a:xfrm>
          <a:prstGeom prst="roundRect">
            <a:avLst/>
          </a:prstGeom>
          <a:solidFill>
            <a:srgbClr val="173A5E"/>
          </a:solidFill>
          <a:ln w="1651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903720" y="3538728"/>
            <a:ext cx="162763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Microsoft YaHei"/>
              </a:defRPr>
            </a:pPr>
            <a:r>
              <a:t>STOPPED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31336"/>
            <a:ext cx="162763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ctr">
              <a:defRPr sz="1050" b="0" i="0">
                <a:solidFill>
                  <a:srgbClr val="C5D3E0"/>
                </a:solidFill>
                <a:latin typeface="Microsoft YaHei"/>
              </a:defRPr>
            </a:pPr>
            <a:r>
              <a:t>LOW_CONFIDENCE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0848" y="1344168"/>
            <a:ext cx="2514600" cy="2633472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2" name="Rectangle 31"/>
          <p:cNvSpPr/>
          <p:nvPr/>
        </p:nvSpPr>
        <p:spPr>
          <a:xfrm>
            <a:off x="9070848" y="1344168"/>
            <a:ext cx="73152" cy="2633472"/>
          </a:xfrm>
          <a:prstGeom prst="rect">
            <a:avLst/>
          </a:prstGeom>
          <a:solidFill>
            <a:srgbClr val="16B7C9"/>
          </a:solidFill>
          <a:ln w="12700"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9272016" y="1453895"/>
            <a:ext cx="2203704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Microsoft YaHei"/>
              </a:defRPr>
            </a:pPr>
            <a:r>
              <a:t>修复后的约束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1847088"/>
            <a:ext cx="2203704" cy="20208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250" b="0" i="0">
                <a:solidFill>
                  <a:srgbClr val="C5D3E0"/>
                </a:solidFill>
                <a:latin typeface="Microsoft YaHei"/>
              </a:defRPr>
            </a:pPr>
            <a:r>
              <a:t>• Review 产物必须先存在，才记录正常 GateDecision</a:t>
            </a:r>
            <a:br/>
            <a:r>
              <a:t>• Check / Review blocking 进入 reasonCodes</a:t>
            </a:r>
            <a:br/>
            <a:r>
              <a:t>• Graph 只执行 GateDecision，不再另算 maxIterations</a:t>
            </a:r>
            <a:br/>
            <a:r>
              <a:t>• 基础设施失败可跳过 Review，但仍由 Domain Gate STOPPED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343400"/>
            <a:ext cx="8028431" cy="768096"/>
          </a:xfrm>
          <a:prstGeom prst="round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832104" y="4517136"/>
            <a:ext cx="75438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Microsoft YaHei"/>
              </a:defRPr>
            </a:pPr>
            <a:r>
              <a:t>Correction 只描述“知识路径 → 失败证据 → 可判定修订标准”；</a:t>
            </a:r>
            <a:br/>
            <a:r>
              <a:t>它不能直接改状态，也不能绕过 fresh Code / Eval / Gate。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B9C9D8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端到端流程：LangGraph 推进执行，wpKnowledge 记录可发布事实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3976E8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 + 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代码依据：graph.ts；runtime.ts；automated-project-workflow.ts；application/src/index.ts；SQLiteFlywheelRepository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55448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200" b="1" i="0">
                <a:solidFill>
                  <a:srgbClr val="3976E8"/>
                </a:solidFill>
                <a:latin typeface="Microsoft YaHei"/>
              </a:defRPr>
            </a:pPr>
            <a: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155448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200" b="1" i="0">
                <a:solidFill>
                  <a:srgbClr val="229B6A"/>
                </a:solidFill>
                <a:latin typeface="Microsoft YaHei"/>
              </a:defRPr>
            </a:pPr>
            <a:r>
              <a:t>WPKNOWLEDGE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3447288"/>
            <a:ext cx="11100816" cy="0"/>
          </a:xfrm>
          <a:prstGeom prst="line">
            <a:avLst/>
          </a:prstGeom>
          <a:ln w="1524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1920240"/>
            <a:ext cx="117043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Orchestrate</a:t>
            </a:r>
          </a:p>
        </p:txBody>
      </p:sp>
      <p:sp>
        <p:nvSpPr>
          <p:cNvPr id="12" name="Chevron 11"/>
          <p:cNvSpPr/>
          <p:nvPr/>
        </p:nvSpPr>
        <p:spPr>
          <a:xfrm>
            <a:off x="1810512" y="2084831"/>
            <a:ext cx="201168" cy="310896"/>
          </a:xfrm>
          <a:prstGeom prst="chevron">
            <a:avLst/>
          </a:prstGeom>
          <a:solidFill>
            <a:srgbClr val="16B7C9"/>
          </a:solidFill>
          <a:ln>
            <a:solidFill>
              <a:srgbClr val="16B7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57400" y="1920240"/>
            <a:ext cx="129844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DocWorker</a:t>
            </a:r>
            <a:br/>
            <a:r>
              <a:t>+ DocGen</a:t>
            </a:r>
          </a:p>
        </p:txBody>
      </p:sp>
      <p:sp>
        <p:nvSpPr>
          <p:cNvPr id="14" name="Chevron 13"/>
          <p:cNvSpPr/>
          <p:nvPr/>
        </p:nvSpPr>
        <p:spPr>
          <a:xfrm>
            <a:off x="3429000" y="2084831"/>
            <a:ext cx="201168" cy="310896"/>
          </a:xfrm>
          <a:prstGeom prst="chevron">
            <a:avLst/>
          </a:prstGeom>
          <a:solidFill>
            <a:srgbClr val="3976E8"/>
          </a:solidFill>
          <a:ln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75887" y="1920240"/>
            <a:ext cx="129844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Code + Check</a:t>
            </a:r>
          </a:p>
        </p:txBody>
      </p:sp>
      <p:sp>
        <p:nvSpPr>
          <p:cNvPr id="16" name="Chevron 15"/>
          <p:cNvSpPr/>
          <p:nvPr/>
        </p:nvSpPr>
        <p:spPr>
          <a:xfrm>
            <a:off x="5047488" y="2084831"/>
            <a:ext cx="201168" cy="310896"/>
          </a:xfrm>
          <a:prstGeom prst="chevron">
            <a:avLst/>
          </a:prstGeom>
          <a:solidFill>
            <a:srgbClr val="229B6A"/>
          </a:solidFill>
          <a:ln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4376" y="1920240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Eval</a:t>
            </a:r>
          </a:p>
        </p:txBody>
      </p:sp>
      <p:sp>
        <p:nvSpPr>
          <p:cNvPr id="18" name="Chevron 17"/>
          <p:cNvSpPr/>
          <p:nvPr/>
        </p:nvSpPr>
        <p:spPr>
          <a:xfrm>
            <a:off x="6464808" y="2084831"/>
            <a:ext cx="201168" cy="310896"/>
          </a:xfrm>
          <a:prstGeom prst="chevron">
            <a:avLst/>
          </a:prstGeom>
          <a:solidFill>
            <a:srgbClr val="D95852"/>
          </a:solidFill>
          <a:ln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02552" y="1920240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Review</a:t>
            </a:r>
          </a:p>
        </p:txBody>
      </p:sp>
      <p:sp>
        <p:nvSpPr>
          <p:cNvPr id="20" name="Chevron 19"/>
          <p:cNvSpPr/>
          <p:nvPr/>
        </p:nvSpPr>
        <p:spPr>
          <a:xfrm>
            <a:off x="7872983" y="2084831"/>
            <a:ext cx="201168" cy="310896"/>
          </a:xfrm>
          <a:prstGeom prst="chevron">
            <a:avLst/>
          </a:prstGeom>
          <a:solidFill>
            <a:srgbClr val="7656D6"/>
          </a:solidFill>
          <a:ln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01583" y="1920240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Router</a:t>
            </a:r>
          </a:p>
        </p:txBody>
      </p:sp>
      <p:sp>
        <p:nvSpPr>
          <p:cNvPr id="22" name="Chevron 21"/>
          <p:cNvSpPr/>
          <p:nvPr/>
        </p:nvSpPr>
        <p:spPr>
          <a:xfrm>
            <a:off x="9272015" y="2084831"/>
            <a:ext cx="201168" cy="310896"/>
          </a:xfrm>
          <a:prstGeom prst="chevron">
            <a:avLst/>
          </a:prstGeom>
          <a:solidFill>
            <a:srgbClr val="E8892E"/>
          </a:solidFill>
          <a:ln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46920" y="1920240"/>
            <a:ext cx="138988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Publication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15968"/>
            <a:ext cx="117043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CREATED</a:t>
            </a:r>
            <a:br/>
            <a:r>
              <a:t>→ GENERATING</a:t>
            </a:r>
          </a:p>
        </p:txBody>
      </p:sp>
      <p:sp>
        <p:nvSpPr>
          <p:cNvPr id="25" name="Chevron 24"/>
          <p:cNvSpPr/>
          <p:nvPr/>
        </p:nvSpPr>
        <p:spPr>
          <a:xfrm>
            <a:off x="1810512" y="4480560"/>
            <a:ext cx="201168" cy="310896"/>
          </a:xfrm>
          <a:prstGeom prst="chevron">
            <a:avLst/>
          </a:prstGeom>
          <a:solidFill>
            <a:srgbClr val="3976E8"/>
          </a:solidFill>
          <a:ln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057400" y="4315968"/>
            <a:ext cx="129844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CANDIDATE</a:t>
            </a:r>
            <a:br/>
            <a:r>
              <a:t>+ CAS refs</a:t>
            </a:r>
          </a:p>
        </p:txBody>
      </p:sp>
      <p:sp>
        <p:nvSpPr>
          <p:cNvPr id="27" name="Chevron 26"/>
          <p:cNvSpPr/>
          <p:nvPr/>
        </p:nvSpPr>
        <p:spPr>
          <a:xfrm>
            <a:off x="3429000" y="4480560"/>
            <a:ext cx="201168" cy="310896"/>
          </a:xfrm>
          <a:prstGeom prst="chevron">
            <a:avLst/>
          </a:prstGeom>
          <a:solidFill>
            <a:srgbClr val="3976E8"/>
          </a:solidFill>
          <a:ln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75887" y="4315968"/>
            <a:ext cx="129844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GenerationKey</a:t>
            </a:r>
            <a:br/>
            <a:r>
              <a:t>COMMITTED</a:t>
            </a:r>
          </a:p>
        </p:txBody>
      </p:sp>
      <p:sp>
        <p:nvSpPr>
          <p:cNvPr id="29" name="Chevron 28"/>
          <p:cNvSpPr/>
          <p:nvPr/>
        </p:nvSpPr>
        <p:spPr>
          <a:xfrm>
            <a:off x="5047488" y="4480560"/>
            <a:ext cx="201168" cy="310896"/>
          </a:xfrm>
          <a:prstGeom prst="chevron">
            <a:avLst/>
          </a:prstGeom>
          <a:solidFill>
            <a:srgbClr val="7656D6"/>
          </a:solidFill>
          <a:ln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94376" y="4315968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EvaluationReport</a:t>
            </a:r>
            <a:br/>
            <a:r>
              <a:t>+ evidence</a:t>
            </a:r>
          </a:p>
        </p:txBody>
      </p:sp>
      <p:sp>
        <p:nvSpPr>
          <p:cNvPr id="31" name="Chevron 30"/>
          <p:cNvSpPr/>
          <p:nvPr/>
        </p:nvSpPr>
        <p:spPr>
          <a:xfrm>
            <a:off x="6464808" y="4480560"/>
            <a:ext cx="201168" cy="310896"/>
          </a:xfrm>
          <a:prstGeom prst="chevron">
            <a:avLst/>
          </a:prstGeom>
          <a:solidFill>
            <a:srgbClr val="D95852"/>
          </a:solidFill>
          <a:ln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02552" y="4315968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GateDecision</a:t>
            </a:r>
          </a:p>
        </p:txBody>
      </p:sp>
      <p:sp>
        <p:nvSpPr>
          <p:cNvPr id="33" name="Chevron 32"/>
          <p:cNvSpPr/>
          <p:nvPr/>
        </p:nvSpPr>
        <p:spPr>
          <a:xfrm>
            <a:off x="7872983" y="4480560"/>
            <a:ext cx="201168" cy="310896"/>
          </a:xfrm>
          <a:prstGeom prst="chevron">
            <a:avLst/>
          </a:prstGeom>
          <a:solidFill>
            <a:srgbClr val="E8892E"/>
          </a:solidFill>
          <a:ln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01583" y="4315968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PUBLISHING</a:t>
            </a:r>
          </a:p>
        </p:txBody>
      </p:sp>
      <p:sp>
        <p:nvSpPr>
          <p:cNvPr id="35" name="Chevron 34"/>
          <p:cNvSpPr/>
          <p:nvPr/>
        </p:nvSpPr>
        <p:spPr>
          <a:xfrm>
            <a:off x="9272015" y="4480560"/>
            <a:ext cx="201168" cy="310896"/>
          </a:xfrm>
          <a:prstGeom prst="chevron">
            <a:avLst/>
          </a:prstGeom>
          <a:solidFill>
            <a:srgbClr val="229B6A"/>
          </a:solidFill>
          <a:ln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46920" y="4315968"/>
            <a:ext cx="138988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162231"/>
                </a:solidFill>
                <a:latin typeface="Microsoft YaHei"/>
              </a:defRPr>
            </a:pPr>
            <a:r>
              <a:t>VERIFIED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52144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06624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25112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43016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251192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650224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341864" y="2633472"/>
            <a:ext cx="0" cy="1627632"/>
          </a:xfrm>
          <a:prstGeom prst="line">
            <a:avLst/>
          </a:prstGeom>
          <a:ln w="12700">
            <a:solidFill>
              <a:srgbClr val="A9B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025128" y="5321808"/>
            <a:ext cx="2606040" cy="475488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20" b="1">
                <a:solidFill>
                  <a:srgbClr val="FFFFFF"/>
                </a:solidFill>
                <a:latin typeface="Microsoft YaHei"/>
              </a:defRPr>
            </a:pPr>
            <a:r>
              <a:t>唯一可产生 VERIFIED 的入口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41864" y="4992624"/>
            <a:ext cx="0" cy="320040"/>
          </a:xfrm>
          <a:prstGeom prst="line">
            <a:avLst/>
          </a:prstGeom>
          <a:ln w="27940">
            <a:solidFill>
              <a:srgbClr val="229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5340096"/>
            <a:ext cx="781812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20" b="1" i="0">
                <a:solidFill>
                  <a:srgbClr val="607084"/>
                </a:solidFill>
                <a:latin typeface="Microsoft YaHei"/>
              </a:defRPr>
            </a:pPr>
            <a:r>
              <a:t>ITERATE：GateDecision → FlywheelRun.ITERATING → Graph iteration + 1 → 新一轮；</a:t>
            </a:r>
            <a:br/>
            <a:r>
              <a:t>Graph checkpoint 不能替代业务事件，业务事件也不能恢复节点局部执行。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DEMO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ohMyWorkPanel deterministic fixture：可证明路径，不可证明智能能力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代码依据：acceptance/ohmyworkpanel/*；tests/acceptance/automated-langgraph-flow.test.ts；automated-project-workflow.ts:137-182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353312"/>
            <a:ext cx="5285232" cy="420624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可以据此下结论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353312"/>
            <a:ext cx="5285232" cy="420624"/>
          </a:xfrm>
          <a:prstGeom prst="round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不能据此下结论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1938528"/>
            <a:ext cx="5285232" cy="548640"/>
          </a:xfrm>
          <a:prstGeom prst="roundRect">
            <a:avLst/>
          </a:prstGeom>
          <a:solidFill>
            <a:srgbClr val="DFF3E9"/>
          </a:solidFill>
          <a:ln w="12700">
            <a:solidFill>
              <a:srgbClr val="B8D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0">
                <a:solidFill>
                  <a:srgbClr val="162231"/>
                </a:solidFill>
                <a:latin typeface="Microsoft YaHei"/>
              </a:defRPr>
            </a:pPr>
            <a:r>
              <a:t>✓  七个 Agent 节点均经过 LangGraph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" y="2633472"/>
            <a:ext cx="5285232" cy="548640"/>
          </a:xfrm>
          <a:prstGeom prst="roundRect">
            <a:avLst/>
          </a:prstGeom>
          <a:solidFill>
            <a:srgbClr val="DFF3E9"/>
          </a:solidFill>
          <a:ln w="12700">
            <a:solidFill>
              <a:srgbClr val="B8D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0">
                <a:solidFill>
                  <a:srgbClr val="162231"/>
                </a:solidFill>
                <a:latin typeface="Microsoft YaHei"/>
              </a:defRPr>
            </a:pPr>
            <a:r>
              <a:t>✓  DocWorker fan-out 后，多个引用到达 DocGen 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3328416"/>
            <a:ext cx="5285232" cy="548640"/>
          </a:xfrm>
          <a:prstGeom prst="roundRect">
            <a:avLst/>
          </a:prstGeom>
          <a:solidFill>
            <a:srgbClr val="DFF3E9"/>
          </a:solidFill>
          <a:ln w="12700">
            <a:solidFill>
              <a:srgbClr val="B8D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✓  第一轮失败 → ITERATE → 第二轮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" y="4023360"/>
            <a:ext cx="5285232" cy="548640"/>
          </a:xfrm>
          <a:prstGeom prst="roundRect">
            <a:avLst/>
          </a:prstGeom>
          <a:solidFill>
            <a:srgbClr val="DFF3E9"/>
          </a:solidFill>
          <a:ln w="12700">
            <a:solidFill>
              <a:srgbClr val="B8D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0">
                <a:solidFill>
                  <a:srgbClr val="162231"/>
                </a:solidFill>
                <a:latin typeface="Microsoft YaHei"/>
              </a:defRPr>
            </a:pPr>
            <a:r>
              <a:t>✓  Oracle / Check / Review 引用进入最终 EvaluationReport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" y="4718304"/>
            <a:ext cx="5285232" cy="548640"/>
          </a:xfrm>
          <a:prstGeom prst="roundRect">
            <a:avLst/>
          </a:prstGeom>
          <a:solidFill>
            <a:srgbClr val="DFF3E9"/>
          </a:solidFill>
          <a:ln w="12700">
            <a:solidFill>
              <a:srgbClr val="B8D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✓  只有 wpKnowledge Publication 将版本置为 VERIFIED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938528"/>
            <a:ext cx="5285232" cy="548640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EA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0">
                <a:solidFill>
                  <a:srgbClr val="162231"/>
                </a:solidFill>
                <a:latin typeface="Microsoft YaHei"/>
              </a:defRPr>
            </a:pPr>
            <a:r>
              <a:t>×  Agent 会基于代码自主生成高质量内容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633472"/>
            <a:ext cx="5285232" cy="548640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EA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×  DocWorker 已按 AST / 拓扑 / 语义完成分块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328416"/>
            <a:ext cx="5285232" cy="548640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EA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0">
                <a:solidFill>
                  <a:srgbClr val="162231"/>
                </a:solidFill>
                <a:latin typeface="Microsoft YaHei"/>
              </a:defRPr>
            </a:pPr>
            <a:r>
              <a:t>×  promptAddon 已影响当前 fixture 的实际输出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4023360"/>
            <a:ext cx="5285232" cy="548640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EA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0">
                <a:solidFill>
                  <a:srgbClr val="162231"/>
                </a:solidFill>
                <a:latin typeface="Microsoft YaHei"/>
              </a:defRPr>
            </a:pPr>
            <a:r>
              <a:t>×  worker 真并行吞吐、乱序聚合与部分失败恢复已可靠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4718304"/>
            <a:ext cx="5285232" cy="548640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EAC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150" b="1">
                <a:solidFill>
                  <a:srgbClr val="162231"/>
                </a:solidFill>
                <a:latin typeface="Microsoft YaHei"/>
              </a:defRPr>
            </a:pPr>
            <a:r>
              <a:t>×  TrustedProjectEvaluator 等同于不可信代码沙箱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RUNTIME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FFFFFF"/>
                </a:solidFill>
                <a:latin typeface="Microsoft YaHei"/>
              </a:defRPr>
            </a:pPr>
            <a:r>
              <a:t>本地运行记录：成功项与环境问题分开描述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3976E8"/>
          </a:solidFill>
          <a:ln w="12700">
            <a:solidFill>
              <a:srgbClr val="397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IMPLEMENTED + DEMO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315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B9C9D8"/>
                </a:solidFill>
                <a:latin typeface="Microsoft YaHei"/>
              </a:defRPr>
            </a:pPr>
            <a:r>
              <a:t>核对依据：package.json / .github/workflows/ci.yml / package-lock.json；domain-knowledge/src/graph/build-graph.ts；本次本机实测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35024"/>
            <a:ext cx="2240280" cy="393192"/>
          </a:xfrm>
          <a:prstGeom prst="roundRect">
            <a:avLst/>
          </a:prstGeom>
          <a:solidFill>
            <a:srgbClr val="224867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事项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335024"/>
            <a:ext cx="4773168" cy="393192"/>
          </a:xfrm>
          <a:prstGeom prst="roundRect">
            <a:avLst/>
          </a:prstGeom>
          <a:solidFill>
            <a:srgbClr val="224867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实际观察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0375" y="1335024"/>
            <a:ext cx="4023360" cy="393192"/>
          </a:xfrm>
          <a:prstGeom prst="roundRect">
            <a:avLst/>
          </a:prstGeom>
          <a:solidFill>
            <a:srgbClr val="224867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处理 / 当前口径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2240280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1">
                <a:solidFill>
                  <a:srgbClr val="FFFFFF"/>
                </a:solidFill>
                <a:latin typeface="Microsoft YaHei"/>
              </a:defRPr>
            </a:pPr>
            <a:r>
              <a:t>Node 版本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783080"/>
            <a:ext cx="4773168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本机 Node 22.22；仓库 engines 与 CI 为 Node 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375" y="1783080"/>
            <a:ext cx="4023360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本地可跑；正式结果以 Node 24 CI 为准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23160"/>
            <a:ext cx="2240280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1">
                <a:solidFill>
                  <a:srgbClr val="FFFFFF"/>
                </a:solidFill>
                <a:latin typeface="Microsoft YaHei"/>
              </a:defRPr>
            </a:pPr>
            <a:r>
              <a:t>node:sqlite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7208" y="2423160"/>
            <a:ext cx="4773168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Node 22 测试输出 experimental warning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0375" y="2423160"/>
            <a:ext cx="4023360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属于运行时提示，不是测试失败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063239"/>
            <a:ext cx="2240280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1">
                <a:solidFill>
                  <a:srgbClr val="FFFFFF"/>
                </a:solidFill>
                <a:latin typeface="Microsoft YaHei"/>
              </a:defRPr>
            </a:pPr>
            <a:r>
              <a:t>lockfile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07208" y="3063239"/>
            <a:ext cx="4773168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首次写入腾讯镜像，GitHub CI npm ci 出现 ENOTFOUND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375" y="3063239"/>
            <a:ext cx="4023360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776dac5 已改为 registry.npmjs.org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03320"/>
            <a:ext cx="2240280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1">
                <a:solidFill>
                  <a:srgbClr val="FFFFFF"/>
                </a:solidFill>
                <a:latin typeface="Microsoft YaHei"/>
              </a:defRPr>
            </a:pPr>
            <a:r>
              <a:t>CodeAgent timeout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07208" y="3703320"/>
            <a:ext cx="4773168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domain-knowledge doc-gen 实测约 2–3 分钟，原节点 120s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0375" y="3703320"/>
            <a:ext cx="4023360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上调到 600s；wpKnowledge graph 同为 600s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343400"/>
            <a:ext cx="2240280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1">
                <a:solidFill>
                  <a:srgbClr val="FFFFFF"/>
                </a:solidFill>
                <a:latin typeface="Microsoft YaHei"/>
              </a:defRPr>
            </a:pPr>
            <a:r>
              <a:t>真实 Agent 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07208" y="4343400"/>
            <a:ext cx="4773168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wp 自动路径实例化 OhMyWorkPanel fixture executor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0375" y="4343400"/>
            <a:ext cx="4023360" cy="576072"/>
          </a:xfrm>
          <a:prstGeom prst="rect">
            <a:avLst/>
          </a:prstGeom>
          <a:solidFill>
            <a:srgbClr val="173A5E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AgentProvider / CodeAgent provider 尚未接入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983480"/>
            <a:ext cx="2240280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1">
                <a:solidFill>
                  <a:srgbClr val="FFFFFF"/>
                </a:solidFill>
                <a:latin typeface="Microsoft YaHei"/>
              </a:defRPr>
            </a:pPr>
            <a:r>
              <a:t>本次验证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07208" y="4983480"/>
            <a:ext cx="4773168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typecheck、validate:specs、npm test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0375" y="4983480"/>
            <a:ext cx="4023360" cy="576072"/>
          </a:xfrm>
          <a:prstGeom prst="rect">
            <a:avLst/>
          </a:prstGeom>
          <a:solidFill>
            <a:srgbClr val="1B4265"/>
          </a:solidFill>
          <a:ln w="12700">
            <a:solidFill>
              <a:srgbClr val="315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l">
              <a:defRPr sz="1070" b="0">
                <a:solidFill>
                  <a:srgbClr val="D6E1EA"/>
                </a:solidFill>
                <a:latin typeface="Microsoft YaHei"/>
              </a:defRPr>
            </a:pPr>
            <a:r>
              <a:t>全部通过；50 / 50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B9C9D8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B9C9D8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411480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50" b="1" i="0">
                <a:solidFill>
                  <a:srgbClr val="16B7C9"/>
                </a:solidFill>
                <a:latin typeface="Microsoft YaHe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2500" b="1" i="0">
                <a:solidFill>
                  <a:srgbClr val="10253F"/>
                </a:solidFill>
                <a:latin typeface="Microsoft YaHei"/>
              </a:defRPr>
            </a:pPr>
            <a:r>
              <a:t>下一步：先把语义证据链做实，再扩大 Agent 与运行时能力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42448" y="411480"/>
            <a:ext cx="123444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line">
            <a:avLst/>
          </a:prstGeom>
          <a:ln w="1270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19672"/>
            <a:ext cx="1074420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>
              <a:defRPr sz="800" b="0" i="0">
                <a:solidFill>
                  <a:srgbClr val="607084"/>
                </a:solidFill>
                <a:latin typeface="Microsoft YaHei"/>
              </a:defRPr>
            </a:pPr>
            <a:r>
              <a:t>评审结论汇总：PR #20 @ b6973a8；domain-knowledge 对照；DocAgent arXiv:2504.08725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39319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1463040"/>
            <a:ext cx="530352" cy="265176"/>
          </a:xfrm>
          <a:prstGeom prst="round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1335024"/>
            <a:ext cx="10378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1234440" y="1335024"/>
            <a:ext cx="64008" cy="713232"/>
          </a:xfrm>
          <a:prstGeom prst="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490472" y="1426464"/>
            <a:ext cx="2377440" cy="2377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350" b="1" i="0">
                <a:solidFill>
                  <a:srgbClr val="10253F"/>
                </a:solidFill>
                <a:latin typeface="Microsoft YaHei"/>
              </a:defRPr>
            </a:pPr>
            <a:r>
              <a:t>语义 / 拓扑分块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417320"/>
            <a:ext cx="7571231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30" b="0" i="0">
                <a:solidFill>
                  <a:srgbClr val="607084"/>
                </a:solidFill>
                <a:latin typeface="Microsoft YaHei"/>
              </a:defRPr>
            </a:pPr>
            <a:r>
              <a:t>构建 symbol + import/call/test 图；SCC 与拓扑层；定义 ChunkEvidence Schema；DocGen 真正消费所有 worker 产物。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" y="2331720"/>
            <a:ext cx="530352" cy="265176"/>
          </a:xfrm>
          <a:prstGeom prst="round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2203704"/>
            <a:ext cx="10378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1234440" y="2203704"/>
            <a:ext cx="64008" cy="713232"/>
          </a:xfrm>
          <a:prstGeom prst="rect">
            <a:avLst/>
          </a:prstGeom>
          <a:solidFill>
            <a:srgbClr val="D95852"/>
          </a:solidFill>
          <a:ln w="12700">
            <a:solidFill>
              <a:srgbClr val="D9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490472" y="2295144"/>
            <a:ext cx="2377440" cy="2377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350" b="1" i="0">
                <a:solidFill>
                  <a:srgbClr val="10253F"/>
                </a:solidFill>
                <a:latin typeface="Microsoft YaHei"/>
              </a:defRPr>
            </a:pPr>
            <a:r>
              <a:t>接入真实 Agent 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2286000"/>
            <a:ext cx="7571231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30" b="0" i="0">
                <a:solidFill>
                  <a:srgbClr val="607084"/>
                </a:solidFill>
                <a:latin typeface="Microsoft YaHei"/>
              </a:defRPr>
            </a:pPr>
            <a:r>
              <a:t>让 promptAddon 进入真实请求；固定 base prompt / tools / schema；输出做运行时校验，禁止 Agent 直接决定发布。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" y="3200400"/>
            <a:ext cx="53035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4440" y="3072384"/>
            <a:ext cx="10378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1234440" y="3072384"/>
            <a:ext cx="64008" cy="713232"/>
          </a:xfrm>
          <a:prstGeom prst="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1490472" y="3163824"/>
            <a:ext cx="2377440" cy="2377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350" b="1" i="0">
                <a:solidFill>
                  <a:srgbClr val="10253F"/>
                </a:solidFill>
                <a:latin typeface="Microsoft YaHei"/>
              </a:defRPr>
            </a:pPr>
            <a:r>
              <a:t>并行、恢复、取消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154679"/>
            <a:ext cx="7571231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30" b="0" i="0">
                <a:solidFill>
                  <a:srgbClr val="607084"/>
                </a:solidFill>
                <a:latin typeface="Microsoft YaHei"/>
              </a:defRPr>
            </a:pPr>
            <a:r>
              <a:t>补真实 overlap、乱序聚合、worker 部分失败；清理 RUNNING GenerationKey；对子进程做超时与强制终止。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" y="4069079"/>
            <a:ext cx="53035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" y="3941063"/>
            <a:ext cx="10378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1234440" y="3941063"/>
            <a:ext cx="64008" cy="713232"/>
          </a:xfrm>
          <a:prstGeom prst="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490472" y="4032503"/>
            <a:ext cx="2377440" cy="2377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350" b="1" i="0">
                <a:solidFill>
                  <a:srgbClr val="10253F"/>
                </a:solidFill>
                <a:latin typeface="Microsoft YaHei"/>
              </a:defRPr>
            </a:pPr>
            <a:r>
              <a:t>评测隔离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4023359"/>
            <a:ext cx="7571231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30" b="0" i="0">
                <a:solidFill>
                  <a:srgbClr val="607084"/>
                </a:solidFill>
                <a:latin typeface="Microsoft YaHei"/>
              </a:defRPr>
            </a:pPr>
            <a:r>
              <a:t>从 TrustedProjectEvaluator 演进到不可信代码沙箱；收紧网络、文件、CPU / 内存 / 输出预算。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" y="4937759"/>
            <a:ext cx="530352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4809744"/>
            <a:ext cx="103784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1234440" y="4809744"/>
            <a:ext cx="64008" cy="713232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500" b="0">
                <a:solidFill>
                  <a:srgbClr val="162231"/>
                </a:solidFill>
                <a:latin typeface="Microsoft YaHe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1490472" y="4901183"/>
            <a:ext cx="2377440" cy="2377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1350" b="1" i="0">
                <a:solidFill>
                  <a:srgbClr val="10253F"/>
                </a:solidFill>
                <a:latin typeface="Microsoft YaHei"/>
              </a:defRPr>
            </a:pPr>
            <a:r>
              <a:t>增量与质量闭环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7328" y="4892040"/>
            <a:ext cx="7571231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defRPr sz="1130" b="0" i="0">
                <a:solidFill>
                  <a:srgbClr val="607084"/>
                </a:solidFill>
                <a:latin typeface="Microsoft YaHei"/>
              </a:defRPr>
            </a:pPr>
            <a:r>
              <a:t>按变更影响子图复用上下文；增加覆盖、引用、冲突、一致性 Gate；用真实仓库样本建立回归集。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" y="5742432"/>
            <a:ext cx="11036808" cy="393192"/>
          </a:xfrm>
          <a:prstGeom prst="roundRect">
            <a:avLst/>
          </a:prstGeom>
          <a:solidFill>
            <a:srgbClr val="10253F"/>
          </a:solidFill>
          <a:ln w="12700">
            <a:solidFill>
              <a:srgbClr val="10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验收原则：每项能力必须用真实输入、不可变证据和失败用例证明；计划项不得借 fixture 提前标记为 implemented。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4927" y="6062472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defRPr sz="900" b="1" i="0">
                <a:solidFill>
                  <a:srgbClr val="607084"/>
                </a:solidFill>
                <a:latin typeface="Microsoft YaHei"/>
              </a:defRPr>
            </a:pPr>
            <a:r>
              <a:t>状态口径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6053328"/>
            <a:ext cx="960120" cy="265176"/>
          </a:xfrm>
          <a:prstGeom prst="roundRect">
            <a:avLst/>
          </a:prstGeom>
          <a:solidFill>
            <a:srgbClr val="229B6A"/>
          </a:solidFill>
          <a:ln w="12700">
            <a:solidFill>
              <a:srgbClr val="229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IMPLEMENTED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98864" y="6053328"/>
            <a:ext cx="621792" cy="265176"/>
          </a:xfrm>
          <a:prstGeom prst="roundRect">
            <a:avLst/>
          </a:prstGeom>
          <a:solidFill>
            <a:srgbClr val="E8892E"/>
          </a:solidFill>
          <a:ln w="12700">
            <a:solidFill>
              <a:srgbClr val="E88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DEMO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1240" y="6053328"/>
            <a:ext cx="822960" cy="265176"/>
          </a:xfrm>
          <a:prstGeom prst="round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>
            <a:norm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t>PLANNED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6496" y="606247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defRPr sz="850" b="0" i="0">
                <a:solidFill>
                  <a:srgbClr val="607084"/>
                </a:solidFill>
                <a:latin typeface="Microsoft YaHei"/>
              </a:defRPr>
            </a:pPr>
            <a:r>
              <a:t>以代码为准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当前wpKnowledge知识飞轮方案</dc:title>
  <dc:subject>wpKnowledge PR #20 代码评审与知识飞轮方案汇报</dc:subject>
  <dc:creator>wpKnowledge project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