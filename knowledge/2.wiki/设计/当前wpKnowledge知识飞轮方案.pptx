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C8D8"/>
          </a:solidFill>
          <a:ln w="12700">
            <a:solidFill>
              <a:srgbClr val="24C8D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" y="6858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WPKNOWLEDGE · KNOWLEDGE FLYWHEEL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94944" y="1124712"/>
            <a:ext cx="7772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 wpKnowledge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知识飞轮方案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22376" y="248716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 DeepSeek Harness SDK 闭环 · ohMyWorkPanel Demo · 使用与 Agent 二次开发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3232" y="3182112"/>
            <a:ext cx="10808208" cy="1581912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456432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真实闭环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987552" y="377647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VERIFIED / PASS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次唯一发布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25696" y="3456432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模型调用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4425696" y="377647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次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成功 + 1 恢复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91272" y="3456432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可审计性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891272" y="377647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 节点 · 46 事件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 工件完整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13232" y="5230368"/>
            <a:ext cx="7818120" cy="658368"/>
          </a:xfrm>
          <a:prstGeom prst="roundRect">
            <a:avLst/>
          </a:prstGeom>
          <a:solidFill>
            <a:srgbClr val="183B59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385816"/>
            <a:ext cx="7360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一句话：用真实源码生成可追溯知识，再用这份知识驱动隔离的代码重建与确定性评测。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9528048" y="5422392"/>
            <a:ext cx="1051560" cy="274320"/>
          </a:xfrm>
          <a:prstGeom prst="roundRect">
            <a:avLst/>
          </a:prstGeom>
          <a:solidFill>
            <a:srgbClr val="397CE8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0" y="5458968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2026-09-02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16768" y="5422392"/>
            <a:ext cx="768096" cy="274320"/>
          </a:xfrm>
          <a:prstGeom prst="roundRect">
            <a:avLst/>
          </a:prstGeom>
          <a:solidFill>
            <a:srgbClr val="8064DB"/>
          </a:solidFill>
          <a:ln w="12700">
            <a:solidFill>
              <a:srgbClr val="8064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0" y="5458968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 #22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13232" y="6172200"/>
            <a:ext cx="8961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91A9BC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固定样例：ohMyWorkPanel @ 3b2e6073e01b42e2a595fca4de3acaad44715ddd</a:t>
            </a:r>
            <a:endParaRPr lang="en-US" sz="8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PRODUCT OUTCOME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用户怎样使用：启动一次治理，拿到能追责的知识版本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已实现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入口：apps/runner/src/cli.ts、server.ts；业务事实：SQLite Registry + CAS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1207008" y="1417320"/>
            <a:ext cx="512064" cy="512064"/>
          </a:xfrm>
          <a:prstGeom prst="ellipse">
            <a:avLst/>
          </a:prstGeom>
          <a:solidFill>
            <a:srgbClr val="397CE8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146304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075688"/>
            <a:ext cx="1856232" cy="1143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39696"/>
            <a:ext cx="1673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固定来源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04872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仓库路径 + commit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来源不可漂移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2468880" y="2487168"/>
            <a:ext cx="228600" cy="310896"/>
          </a:xfrm>
          <a:prstGeom prst="chevron">
            <a:avLst/>
          </a:prstGeom>
          <a:solidFill>
            <a:srgbClr val="397CE8"/>
          </a:solidFill>
          <a:ln w="12700">
            <a:solidFill>
              <a:srgbClr val="397C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417320"/>
            <a:ext cx="512064" cy="512064"/>
          </a:xfrm>
          <a:prstGeom prst="ellipse">
            <a:avLst/>
          </a:prstGeom>
          <a:solidFill>
            <a:srgbClr val="24C8D8"/>
          </a:solidFill>
          <a:ln w="12700">
            <a:solidFill>
              <a:srgbClr val="24C8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46304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16352" y="2075688"/>
            <a:ext cx="1856232" cy="1143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4C8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07792" y="2139696"/>
            <a:ext cx="1673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启动 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07792" y="2404872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CLI / HTTP / Console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选择固定 profile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4736592" y="2487168"/>
            <a:ext cx="228600" cy="310896"/>
          </a:xfrm>
          <a:prstGeom prst="chevron">
            <a:avLst/>
          </a:prstGeom>
          <a:solidFill>
            <a:srgbClr val="24C8D8"/>
          </a:solidFill>
          <a:ln w="12700">
            <a:solidFill>
              <a:srgbClr val="24C8D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2432" y="1417320"/>
            <a:ext cx="512064" cy="512064"/>
          </a:xfrm>
          <a:prstGeom prst="ellipse">
            <a:avLst/>
          </a:prstGeom>
          <a:solidFill>
            <a:srgbClr val="8064DB"/>
          </a:solidFill>
          <a:ln w="12700">
            <a:solidFill>
              <a:srgbClr val="8064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42432" y="146304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84064" y="2075688"/>
            <a:ext cx="1856232" cy="1143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75504" y="2139696"/>
            <a:ext cx="1673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观察节点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75504" y="2404872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并行、失败、恢复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实时投影到前台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7004304" y="2487168"/>
            <a:ext cx="228600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0144" y="1417320"/>
            <a:ext cx="512064" cy="512064"/>
          </a:xfrm>
          <a:prstGeom prst="ellipse">
            <a:avLst/>
          </a:prstGeom>
          <a:solidFill>
            <a:srgbClr val="EA8A2F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10144" y="146304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51776" y="2075688"/>
            <a:ext cx="1856232" cy="1143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43216" y="2139696"/>
            <a:ext cx="1673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检查证据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43216" y="2404872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知识、评测、Gate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SHA-256 可核验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9272016" y="2487168"/>
            <a:ext cx="228600" cy="310896"/>
          </a:xfrm>
          <a:prstGeom prst="chevron">
            <a:avLst/>
          </a:prstGeom>
          <a:solidFill>
            <a:srgbClr val="EA8A2F"/>
          </a:solidFill>
          <a:ln w="12700">
            <a:solidFill>
              <a:srgbClr val="EA8A2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77856" y="1417320"/>
            <a:ext cx="512064" cy="512064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77856" y="146304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619488" y="2075688"/>
            <a:ext cx="1856232" cy="1143000"/>
          </a:xfrm>
          <a:prstGeom prst="roundRect">
            <a:avLst/>
          </a:prstGeom>
          <a:solidFill>
            <a:srgbClr val="DFF4E9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10928" y="2139696"/>
            <a:ext cx="16733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查询与反馈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710928" y="2404872"/>
            <a:ext cx="16733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PASS 后发布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DSH 查询 + 反馈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566928" y="3776472"/>
            <a:ext cx="5321808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3776472"/>
            <a:ext cx="64008" cy="1463040"/>
          </a:xfrm>
          <a:prstGeom prst="rect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389534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用户得到的不是一段聊天记录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86384" y="4379976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3544" y="4288536"/>
            <a:ext cx="480974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可版本化的 KnowledgeVersion 与 pinned provenance</a:t>
            </a:r>
            <a:endParaRPr lang="en-US" sz="1020" dirty="0"/>
          </a:p>
        </p:txBody>
      </p:sp>
      <p:sp>
        <p:nvSpPr>
          <p:cNvPr id="42" name="Shape 40"/>
          <p:cNvSpPr/>
          <p:nvPr/>
        </p:nvSpPr>
        <p:spPr>
          <a:xfrm>
            <a:off x="786384" y="4666488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23544" y="4575048"/>
            <a:ext cx="480974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可复验的 EvaluationReport、GateDecision 和 Publication receipt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786384" y="4953000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3544" y="4861560"/>
            <a:ext cx="480974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 runId 导出的脱敏 Demo 报告</a:t>
            </a:r>
            <a:endParaRPr lang="en-US" sz="1020" dirty="0"/>
          </a:p>
        </p:txBody>
      </p:sp>
      <p:sp>
        <p:nvSpPr>
          <p:cNvPr id="46" name="Shape 44"/>
          <p:cNvSpPr/>
          <p:nvPr/>
        </p:nvSpPr>
        <p:spPr>
          <a:xfrm>
            <a:off x="6236208" y="3776472"/>
            <a:ext cx="5321808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36208" y="3776472"/>
            <a:ext cx="64008" cy="1463040"/>
          </a:xfrm>
          <a:prstGeom prst="rect">
            <a:avLst/>
          </a:prstGeom>
          <a:solidFill>
            <a:srgbClr val="EA8A2F"/>
          </a:solidFill>
          <a:ln w="12700">
            <a:solidFill>
              <a:srgbClr val="EA8A2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46520" y="389534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两个前台，各管一件事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455664" y="4379976"/>
            <a:ext cx="64008" cy="64008"/>
          </a:xfrm>
          <a:prstGeom prst="ellipse">
            <a:avLst/>
          </a:prstGeom>
          <a:solidFill>
            <a:srgbClr val="EA8A2F"/>
          </a:solidFill>
          <a:ln w="12700">
            <a:solidFill>
              <a:srgbClr val="EA8A2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92824" y="4288536"/>
            <a:ext cx="480974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wpKnowledge Console：业务状态、证据、发布与 Agent 角色配置</a:t>
            </a:r>
            <a:endParaRPr lang="en-US" sz="1020" dirty="0"/>
          </a:p>
        </p:txBody>
      </p:sp>
      <p:sp>
        <p:nvSpPr>
          <p:cNvPr id="51" name="Shape 49"/>
          <p:cNvSpPr/>
          <p:nvPr/>
        </p:nvSpPr>
        <p:spPr>
          <a:xfrm>
            <a:off x="6455664" y="4666488"/>
            <a:ext cx="64008" cy="64008"/>
          </a:xfrm>
          <a:prstGeom prst="ellipse">
            <a:avLst/>
          </a:prstGeom>
          <a:solidFill>
            <a:srgbClr val="EA8A2F"/>
          </a:solidFill>
          <a:ln w="12700">
            <a:solidFill>
              <a:srgbClr val="EA8A2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92824" y="4575048"/>
            <a:ext cx="480974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DSH Web：Harness 会话调试；不拥有知识发布权</a:t>
            </a:r>
            <a:endParaRPr lang="en-US" sz="1020" dirty="0"/>
          </a:p>
        </p:txBody>
      </p:sp>
      <p:sp>
        <p:nvSpPr>
          <p:cNvPr id="53" name="Shape 51"/>
          <p:cNvSpPr/>
          <p:nvPr/>
        </p:nvSpPr>
        <p:spPr>
          <a:xfrm>
            <a:off x="6455664" y="4953000"/>
            <a:ext cx="64008" cy="64008"/>
          </a:xfrm>
          <a:prstGeom prst="ellipse">
            <a:avLst/>
          </a:prstGeom>
          <a:solidFill>
            <a:srgbClr val="EA8A2F"/>
          </a:solidFill>
          <a:ln w="12700">
            <a:solidFill>
              <a:srgbClr val="EA8A2F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92824" y="4861560"/>
            <a:ext cx="480974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公网 DSH 仅用于临时联调，当前没有 TLS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目标架构：wpKnowledge 管治理，domain-knowledge 管执行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已实现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3151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ARCHITECTURE.md；infrastructure/domain-knowledge；apps/runner/src/composition.ts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66928" y="129844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上层 · 知识治理事实源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636776"/>
            <a:ext cx="11000232" cy="1353312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1874520"/>
            <a:ext cx="1426464" cy="713232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938528"/>
            <a:ext cx="12435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FlywheelRun</a:t>
            </a:r>
            <a:endParaRPr lang="en-US" sz="1040" dirty="0"/>
          </a:p>
        </p:txBody>
      </p:sp>
      <p:sp>
        <p:nvSpPr>
          <p:cNvPr id="12" name="Text 10"/>
          <p:cNvSpPr/>
          <p:nvPr/>
        </p:nvSpPr>
        <p:spPr>
          <a:xfrm>
            <a:off x="896112" y="2203704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wpKnowledge authority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2560320" y="1874520"/>
            <a:ext cx="1426464" cy="713232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24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938528"/>
            <a:ext cx="12435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KnowledgeVersion</a:t>
            </a:r>
            <a:endParaRPr lang="en-US" sz="1040" dirty="0"/>
          </a:p>
        </p:txBody>
      </p:sp>
      <p:sp>
        <p:nvSpPr>
          <p:cNvPr id="15" name="Text 13"/>
          <p:cNvSpPr/>
          <p:nvPr/>
        </p:nvSpPr>
        <p:spPr>
          <a:xfrm>
            <a:off x="2651760" y="2203704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wpKnowledge authority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315968" y="1874520"/>
            <a:ext cx="1426464" cy="713232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DB5A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07408" y="1938528"/>
            <a:ext cx="12435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EvaluationReport</a:t>
            </a:r>
            <a:endParaRPr lang="en-US" sz="1040" dirty="0"/>
          </a:p>
        </p:txBody>
      </p:sp>
      <p:sp>
        <p:nvSpPr>
          <p:cNvPr id="18" name="Text 16"/>
          <p:cNvSpPr/>
          <p:nvPr/>
        </p:nvSpPr>
        <p:spPr>
          <a:xfrm>
            <a:off x="4407408" y="2203704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wpKnowledge authority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71616" y="1874520"/>
            <a:ext cx="1426464" cy="713232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3056" y="1938528"/>
            <a:ext cx="12435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GateDecision</a:t>
            </a:r>
            <a:endParaRPr lang="en-US" sz="1040" dirty="0"/>
          </a:p>
        </p:txBody>
      </p:sp>
      <p:sp>
        <p:nvSpPr>
          <p:cNvPr id="21" name="Text 19"/>
          <p:cNvSpPr/>
          <p:nvPr/>
        </p:nvSpPr>
        <p:spPr>
          <a:xfrm>
            <a:off x="6163056" y="2203704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wpKnowledge authority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7827264" y="1874520"/>
            <a:ext cx="1426464" cy="713232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18704" y="1938528"/>
            <a:ext cx="12435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Publication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7918704" y="2203704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唯一 VERIFIED 入口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582912" y="1874520"/>
            <a:ext cx="1426464" cy="713232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74352" y="1938528"/>
            <a:ext cx="12435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 / Audit</a:t>
            </a:r>
            <a:endParaRPr lang="en-US" sz="1040" dirty="0"/>
          </a:p>
        </p:txBody>
      </p:sp>
      <p:sp>
        <p:nvSpPr>
          <p:cNvPr id="27" name="Text 25"/>
          <p:cNvSpPr/>
          <p:nvPr/>
        </p:nvSpPr>
        <p:spPr>
          <a:xfrm>
            <a:off x="9674352" y="2203704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wpKnowledge authority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566928" y="327355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基础设施层 · 工作流执行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3611880"/>
            <a:ext cx="6876288" cy="1527048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3913632"/>
            <a:ext cx="1335024" cy="832104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24C8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3977640"/>
            <a:ext cx="11521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</a:t>
            </a:r>
            <a:endParaRPr lang="en-US" sz="1070" dirty="0"/>
          </a:p>
        </p:txBody>
      </p:sp>
      <p:sp>
        <p:nvSpPr>
          <p:cNvPr id="32" name="Text 30"/>
          <p:cNvSpPr/>
          <p:nvPr/>
        </p:nvSpPr>
        <p:spPr>
          <a:xfrm>
            <a:off x="896112" y="4242816"/>
            <a:ext cx="1152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拓扑 / 并行 / 循环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2423160" y="3913632"/>
            <a:ext cx="1335024" cy="832104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3977640"/>
            <a:ext cx="11521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GraphState</a:t>
            </a:r>
            <a:endParaRPr lang="en-US" sz="1070" dirty="0"/>
          </a:p>
        </p:txBody>
      </p:sp>
      <p:sp>
        <p:nvSpPr>
          <p:cNvPr id="35" name="Text 33"/>
          <p:cNvSpPr/>
          <p:nvPr/>
        </p:nvSpPr>
        <p:spPr>
          <a:xfrm>
            <a:off x="2514600" y="4242816"/>
            <a:ext cx="1152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节点执行状态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4041648" y="3913632"/>
            <a:ext cx="1335024" cy="832104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33088" y="3977640"/>
            <a:ext cx="11521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Checkpoint</a:t>
            </a:r>
            <a:endParaRPr lang="en-US" sz="1070" dirty="0"/>
          </a:p>
        </p:txBody>
      </p:sp>
      <p:sp>
        <p:nvSpPr>
          <p:cNvPr id="38" name="Text 36"/>
          <p:cNvSpPr/>
          <p:nvPr/>
        </p:nvSpPr>
        <p:spPr>
          <a:xfrm>
            <a:off x="4133088" y="4242816"/>
            <a:ext cx="1152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恢复 / attempt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5660136" y="3913632"/>
            <a:ext cx="1335024" cy="832104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51576" y="3977640"/>
            <a:ext cx="11521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Projection</a:t>
            </a:r>
            <a:endParaRPr lang="en-US" sz="1070" dirty="0"/>
          </a:p>
        </p:txBody>
      </p:sp>
      <p:sp>
        <p:nvSpPr>
          <p:cNvPr id="41" name="Text 39"/>
          <p:cNvSpPr/>
          <p:nvPr/>
        </p:nvSpPr>
        <p:spPr>
          <a:xfrm>
            <a:off x="5751576" y="4242816"/>
            <a:ext cx="1152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给前台观察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7754112" y="3611880"/>
            <a:ext cx="3813048" cy="1527048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24C8D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19288" y="38496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Provider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8028432" y="422452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DeepSeekHarnessSdkAgent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 OpenCode Go / deepseek-v4-flash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66928" y="5504688"/>
            <a:ext cx="11000232" cy="502920"/>
          </a:xfrm>
          <a:prstGeom prst="roundRect">
            <a:avLst/>
          </a:prstGeom>
          <a:solidFill>
            <a:srgbClr val="EA8A2F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5541264"/>
            <a:ext cx="108539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重要：code 是 LangGraph 的代码生成角色，不是独立安装的 CodeAgent 产品，也不是公司 CodeAgent CLI。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EXPECTED ORCHESTRATION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预期 Agent 编排：七类角色可观察，Gate 与评测不是 Agent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已实现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3151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infrastructure/domain-knowledge/src/graph.ts；agent-definitions.ts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1280160" cy="804672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24C8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57860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4378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固定职责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组装本轮计划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56232" y="2734056"/>
            <a:ext cx="228600" cy="310896"/>
          </a:xfrm>
          <a:prstGeom prst="chevron">
            <a:avLst/>
          </a:prstGeom>
          <a:solidFill>
            <a:srgbClr val="24C8D8"/>
          </a:solidFill>
          <a:ln w="12700">
            <a:solidFill>
              <a:srgbClr val="24C8D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1380744"/>
            <a:ext cx="1353312" cy="804672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9424" y="144475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DocWorker × N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2249424" y="1709928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读取分块来源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提取证据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57984" y="3886200"/>
            <a:ext cx="1353312" cy="804672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49424" y="3950208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TestGen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249424" y="4215384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读取真实源码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提出测试意图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02736" y="1618488"/>
            <a:ext cx="228600" cy="310896"/>
          </a:xfrm>
          <a:prstGeom prst="chevron">
            <a:avLst/>
          </a:prstGeom>
          <a:solidFill>
            <a:srgbClr val="397CE8"/>
          </a:solidFill>
          <a:ln w="12700">
            <a:solidFill>
              <a:srgbClr val="397C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13632" y="1380744"/>
            <a:ext cx="1298448" cy="804672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05072" y="14447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DocGen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05072" y="1709928"/>
            <a:ext cx="1115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写候选知识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接收 Correction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913632" y="3886200"/>
            <a:ext cx="1298448" cy="804672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05072" y="3950208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Oracle 校验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05072" y="4215384"/>
            <a:ext cx="1115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确定性组件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先验真值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03520" y="1618488"/>
            <a:ext cx="228600" cy="310896"/>
          </a:xfrm>
          <a:prstGeom prst="chevron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05272" y="1380744"/>
            <a:ext cx="1353312" cy="804672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96712" y="144475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code 角色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96712" y="1709928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新会话重建实现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只看知识 + 接口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040880" y="1618488"/>
            <a:ext cx="228600" cy="310896"/>
          </a:xfrm>
          <a:prstGeom prst="chevron">
            <a:avLst/>
          </a:prstGeom>
          <a:solidFill>
            <a:srgbClr val="EA8A2F"/>
          </a:solidFill>
          <a:ln w="12700">
            <a:solidFill>
              <a:srgbClr val="EA8A2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51776" y="1380744"/>
            <a:ext cx="1261872" cy="804672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43216" y="1444752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Check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43216" y="1709928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只读检查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不能修改代码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991856" y="2212848"/>
            <a:ext cx="-365760" cy="886968"/>
          </a:xfrm>
          <a:prstGeom prst="line">
            <a:avLst/>
          </a:prstGeom>
          <a:noFill/>
          <a:ln w="21590">
            <a:solidFill>
              <a:srgbClr val="EA8A2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72000" y="4690872"/>
            <a:ext cx="2788920" cy="-1261872"/>
          </a:xfrm>
          <a:prstGeom prst="line">
            <a:avLst/>
          </a:prstGeom>
          <a:noFill/>
          <a:ln w="21590">
            <a:solidFill>
              <a:srgbClr val="8064D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56832" y="3172968"/>
            <a:ext cx="1627632" cy="877824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DB5A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48272" y="3236976"/>
            <a:ext cx="14447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Evaluator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748272" y="3502152"/>
            <a:ext cx="1444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物化 CAS 代码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执行确定性命令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394192" y="3438144"/>
            <a:ext cx="228600" cy="310896"/>
          </a:xfrm>
          <a:prstGeom prst="chevron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05088" y="3172968"/>
            <a:ext cx="1298448" cy="877824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96528" y="3236976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Review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96528" y="3502152"/>
            <a:ext cx="1115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 Eval + Check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给归因 / Correction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104120" y="3438144"/>
            <a:ext cx="228600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415016" y="3172968"/>
            <a:ext cx="1261872" cy="877824"/>
          </a:xfrm>
          <a:prstGeom prst="roundRect">
            <a:avLst/>
          </a:prstGeom>
          <a:solidFill>
            <a:srgbClr val="0A1828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506456" y="3236976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 Gate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506456" y="3502152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规则判定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PASS / ITERATE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1045952" y="4096512"/>
            <a:ext cx="0" cy="1033272"/>
          </a:xfrm>
          <a:prstGeom prst="line">
            <a:avLst/>
          </a:prstGeom>
          <a:noFill/>
          <a:ln w="21590">
            <a:solidFill>
              <a:srgbClr val="EA8A2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045952" y="5129784"/>
            <a:ext cx="-9838944" cy="0"/>
          </a:xfrm>
          <a:prstGeom prst="line">
            <a:avLst/>
          </a:prstGeom>
          <a:noFill/>
          <a:ln w="21590">
            <a:solidFill>
              <a:srgbClr val="EA8A2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07008" y="5129784"/>
            <a:ext cx="0" cy="-1691640"/>
          </a:xfrm>
          <a:prstGeom prst="line">
            <a:avLst/>
          </a:prstGeom>
          <a:noFill/>
          <a:ln w="21590">
            <a:solidFill>
              <a:srgbClr val="EA8A2F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3108960" y="5266944"/>
            <a:ext cx="6126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8A2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ITERATE / ROLLBACK：回到下一轮 Orchestrator；PASS：进入唯一 Publication。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5724144"/>
            <a:ext cx="11000232" cy="393192"/>
          </a:xfrm>
          <a:prstGeom prst="roundRect">
            <a:avLst/>
          </a:prstGeom>
          <a:solidFill>
            <a:srgbClr val="183B59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" y="5760720"/>
            <a:ext cx="10853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节点上的职责、拓扑、输入输出 Schema 与工具权限固定；操作者只能追加提示词。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LIVE END TO END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一次真实 E2E：格式失败没有抹掉，恢复后仍由 Gate 决定发布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397CE8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真实证据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run 5503b6bc-0350-4b53-98cc-6fbf3a13aaa9；脱敏报告 04-SDK成功运行-脱敏报告.json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30352" y="1490472"/>
            <a:ext cx="1078992" cy="78638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554480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181965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pinned commit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1655064" y="1728216"/>
            <a:ext cx="201168" cy="310896"/>
          </a:xfrm>
          <a:prstGeom prst="chevron">
            <a:avLst/>
          </a:prstGeom>
          <a:solidFill>
            <a:srgbClr val="397CE8"/>
          </a:solidFill>
          <a:ln w="12700">
            <a:solidFill>
              <a:srgbClr val="397C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9384" y="1490472"/>
            <a:ext cx="1078992" cy="78638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4C8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20824" y="1554480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20824" y="181965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orchestrator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3054096" y="1728216"/>
            <a:ext cx="201168" cy="310896"/>
          </a:xfrm>
          <a:prstGeom prst="chevron">
            <a:avLst/>
          </a:prstGeom>
          <a:solidFill>
            <a:srgbClr val="24C8D8"/>
          </a:solidFill>
          <a:ln w="12700">
            <a:solidFill>
              <a:srgbClr val="24C8D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8416" y="1490472"/>
            <a:ext cx="1078992" cy="78638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9856" y="1554480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并行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19856" y="181965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worker + test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4453128" y="1728216"/>
            <a:ext cx="201168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27448" y="1490472"/>
            <a:ext cx="1078992" cy="78638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18888" y="1554480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18888" y="181965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doc-gen retry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5852160" y="1728216"/>
            <a:ext cx="201168" cy="310896"/>
          </a:xfrm>
          <a:prstGeom prst="chevron">
            <a:avLst/>
          </a:prstGeom>
          <a:solidFill>
            <a:srgbClr val="EA8A2F"/>
          </a:solidFill>
          <a:ln w="12700">
            <a:solidFill>
              <a:srgbClr val="EA8A2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1490472"/>
            <a:ext cx="1078992" cy="78638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1554480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重建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7920" y="181965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code role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7251192" y="1728216"/>
            <a:ext cx="201168" cy="310896"/>
          </a:xfrm>
          <a:prstGeom prst="chevron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25512" y="1490472"/>
            <a:ext cx="1078992" cy="78638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B5A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1554480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16952" y="181965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check + eval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8650224" y="1728216"/>
            <a:ext cx="201168" cy="310896"/>
          </a:xfrm>
          <a:prstGeom prst="chevron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924544" y="1490472"/>
            <a:ext cx="1078992" cy="786384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15984" y="1554480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015984" y="181965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review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10049256" y="1728216"/>
            <a:ext cx="201168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323576" y="1490472"/>
            <a:ext cx="1078992" cy="786384"/>
          </a:xfrm>
          <a:prstGeom prst="roundRect">
            <a:avLst/>
          </a:prstGeom>
          <a:solidFill>
            <a:srgbClr val="DFF4E9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15016" y="1554480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发布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415016" y="1819656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VERIFIED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4517136" y="2468880"/>
            <a:ext cx="1883664" cy="438912"/>
          </a:xfrm>
          <a:prstGeom prst="roundRect">
            <a:avLst/>
          </a:prstGeom>
          <a:solidFill>
            <a:srgbClr val="FBE7E5"/>
          </a:solidFill>
          <a:ln w="12700">
            <a:solidFill>
              <a:srgbClr val="DB5A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90288" y="250545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B5A5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DocGen #1：非 JSON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58968" y="2286000"/>
            <a:ext cx="0" cy="173736"/>
          </a:xfrm>
          <a:prstGeom prst="line">
            <a:avLst/>
          </a:prstGeom>
          <a:noFill/>
          <a:ln w="19050">
            <a:solidFill>
              <a:srgbClr val="DB5A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3282696"/>
            <a:ext cx="10991088" cy="1353312"/>
          </a:xfrm>
          <a:prstGeom prst="round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0392" y="35112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最终状态</a:t>
            </a:r>
            <a:endParaRPr lang="en-US" sz="830" dirty="0"/>
          </a:p>
        </p:txBody>
      </p:sp>
      <p:sp>
        <p:nvSpPr>
          <p:cNvPr id="44" name="Text 42"/>
          <p:cNvSpPr/>
          <p:nvPr/>
        </p:nvSpPr>
        <p:spPr>
          <a:xfrm>
            <a:off x="2020824" y="3493008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VERIFIED / PASS</a:t>
            </a:r>
            <a:endParaRPr lang="en-US" sz="1120" dirty="0"/>
          </a:p>
        </p:txBody>
      </p:sp>
      <p:sp>
        <p:nvSpPr>
          <p:cNvPr id="45" name="Text 43"/>
          <p:cNvSpPr/>
          <p:nvPr/>
        </p:nvSpPr>
        <p:spPr>
          <a:xfrm>
            <a:off x="4370832" y="35112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模型调用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5541264" y="3493008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8（7 成功 + 1 失败）</a:t>
            </a:r>
            <a:endParaRPr lang="en-US" sz="1120" dirty="0"/>
          </a:p>
        </p:txBody>
      </p:sp>
      <p:sp>
        <p:nvSpPr>
          <p:cNvPr id="47" name="Text 45"/>
          <p:cNvSpPr/>
          <p:nvPr/>
        </p:nvSpPr>
        <p:spPr>
          <a:xfrm>
            <a:off x="7891272" y="35112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节点 / 事件</a:t>
            </a:r>
            <a:endParaRPr lang="en-US" sz="830" dirty="0"/>
          </a:p>
        </p:txBody>
      </p:sp>
      <p:sp>
        <p:nvSpPr>
          <p:cNvPr id="48" name="Text 46"/>
          <p:cNvSpPr/>
          <p:nvPr/>
        </p:nvSpPr>
        <p:spPr>
          <a:xfrm>
            <a:off x="9061704" y="3493008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 / 46</a:t>
            </a:r>
            <a:endParaRPr lang="en-US" sz="1120" dirty="0"/>
          </a:p>
        </p:txBody>
      </p:sp>
      <p:sp>
        <p:nvSpPr>
          <p:cNvPr id="49" name="Text 47"/>
          <p:cNvSpPr/>
          <p:nvPr/>
        </p:nvSpPr>
        <p:spPr>
          <a:xfrm>
            <a:off x="850392" y="40325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知识质量</a:t>
            </a:r>
            <a:endParaRPr lang="en-US" sz="830" dirty="0"/>
          </a:p>
        </p:txBody>
      </p:sp>
      <p:sp>
        <p:nvSpPr>
          <p:cNvPr id="50" name="Text 48"/>
          <p:cNvSpPr/>
          <p:nvPr/>
        </p:nvSpPr>
        <p:spPr>
          <a:xfrm>
            <a:off x="2020824" y="4014216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96 / 100</a:t>
            </a:r>
            <a:endParaRPr lang="en-US" sz="1120" dirty="0"/>
          </a:p>
        </p:txBody>
      </p:sp>
      <p:sp>
        <p:nvSpPr>
          <p:cNvPr id="51" name="Text 49"/>
          <p:cNvSpPr/>
          <p:nvPr/>
        </p:nvSpPr>
        <p:spPr>
          <a:xfrm>
            <a:off x="4370832" y="40325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行为评测</a:t>
            </a:r>
            <a:endParaRPr lang="en-US" sz="830" dirty="0"/>
          </a:p>
        </p:txBody>
      </p:sp>
      <p:sp>
        <p:nvSpPr>
          <p:cNvPr id="52" name="Text 50"/>
          <p:cNvSpPr/>
          <p:nvPr/>
        </p:nvSpPr>
        <p:spPr>
          <a:xfrm>
            <a:off x="5541264" y="4014216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1 · stability 1</a:t>
            </a:r>
            <a:endParaRPr lang="en-US" sz="1120" dirty="0"/>
          </a:p>
        </p:txBody>
      </p:sp>
      <p:sp>
        <p:nvSpPr>
          <p:cNvPr id="53" name="Text 51"/>
          <p:cNvSpPr/>
          <p:nvPr/>
        </p:nvSpPr>
        <p:spPr>
          <a:xfrm>
            <a:off x="7891272" y="403250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</a:t>
            </a:r>
            <a:endParaRPr lang="en-US" sz="830" dirty="0"/>
          </a:p>
        </p:txBody>
      </p:sp>
      <p:sp>
        <p:nvSpPr>
          <p:cNvPr id="54" name="Text 52"/>
          <p:cNvSpPr/>
          <p:nvPr/>
        </p:nvSpPr>
        <p:spPr>
          <a:xfrm>
            <a:off x="9061704" y="4014216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 SHA-256</a:t>
            </a:r>
            <a:endParaRPr lang="en-US" sz="1120" dirty="0"/>
          </a:p>
        </p:txBody>
      </p:sp>
      <p:sp>
        <p:nvSpPr>
          <p:cNvPr id="55" name="Shape 53"/>
          <p:cNvSpPr/>
          <p:nvPr/>
        </p:nvSpPr>
        <p:spPr>
          <a:xfrm>
            <a:off x="566928" y="4937760"/>
            <a:ext cx="3447288" cy="969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6928" y="4937760"/>
            <a:ext cx="64008" cy="969264"/>
          </a:xfrm>
          <a:prstGeom prst="rect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50566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Checkpoint 做了什么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786384" y="5541264"/>
            <a:ext cx="64008" cy="64008"/>
          </a:xfrm>
          <a:prstGeom prst="ellipse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3544" y="5449824"/>
            <a:ext cx="2935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 runId 恢复，已提交副作用不重复</a:t>
            </a:r>
            <a:endParaRPr lang="en-US" sz="1020" dirty="0"/>
          </a:p>
        </p:txBody>
      </p:sp>
      <p:sp>
        <p:nvSpPr>
          <p:cNvPr id="60" name="Shape 58"/>
          <p:cNvSpPr/>
          <p:nvPr/>
        </p:nvSpPr>
        <p:spPr>
          <a:xfrm>
            <a:off x="4361688" y="4937760"/>
            <a:ext cx="3447288" cy="969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361688" y="4937760"/>
            <a:ext cx="64008" cy="969264"/>
          </a:xfrm>
          <a:prstGeom prst="rect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0" y="50566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Evaluator 做了什么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4581144" y="5541264"/>
            <a:ext cx="64008" cy="64008"/>
          </a:xfrm>
          <a:prstGeom prst="ellipse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18304" y="5449824"/>
            <a:ext cx="2935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只认实际命令结果，不接受 Agent 自评分</a:t>
            </a:r>
            <a:endParaRPr lang="en-US" sz="1020" dirty="0"/>
          </a:p>
        </p:txBody>
      </p:sp>
      <p:sp>
        <p:nvSpPr>
          <p:cNvPr id="65" name="Shape 63"/>
          <p:cNvSpPr/>
          <p:nvPr/>
        </p:nvSpPr>
        <p:spPr>
          <a:xfrm>
            <a:off x="8156448" y="4937760"/>
            <a:ext cx="3401568" cy="9692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56448" y="4937760"/>
            <a:ext cx="64008" cy="969264"/>
          </a:xfrm>
          <a:prstGeom prst="rect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50566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 做了什么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375904" y="5541264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513064" y="5449824"/>
            <a:ext cx="28895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绑定证据后原子发布，产生唯一 receipt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DEMO PROGRESS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 Agent Demo 进度：三次运行分别验证闭环、拒绝与恢复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397CE8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真实证据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knowledge/3.workpanel/证据/2026-09-02-DeepSeek-Harness真实Agent治理演示.md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94360" y="1362456"/>
            <a:ext cx="10972800" cy="987552"/>
          </a:xfrm>
          <a:prstGeom prst="roundRect">
            <a:avLst/>
          </a:prstGeom>
          <a:solidFill>
            <a:srgbClr val="E7F0FF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20656" y="1517904"/>
            <a:ext cx="1389888" cy="274320"/>
          </a:xfrm>
          <a:prstGeom prst="roundRect">
            <a:avLst/>
          </a:prstGeom>
          <a:solidFill>
            <a:srgbClr val="397CE8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93808" y="1554480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VERIFIED / PASS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886968" y="15179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· Headless 兼容样例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86968" y="1865376"/>
            <a:ext cx="10012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质量 65 → 98；第二轮通过 295 / 295；唯一发布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594360" y="2651760"/>
            <a:ext cx="10972800" cy="987552"/>
          </a:xfrm>
          <a:prstGeom prst="roundRect">
            <a:avLst/>
          </a:prstGeom>
          <a:solidFill>
            <a:srgbClr val="FBE7E5"/>
          </a:solidFill>
          <a:ln w="12700">
            <a:solidFill>
              <a:srgbClr val="DB5A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20656" y="2807208"/>
            <a:ext cx="1389888" cy="274320"/>
          </a:xfrm>
          <a:prstGeom prst="roundRect">
            <a:avLst/>
          </a:prstGeom>
          <a:solidFill>
            <a:srgbClr val="DB5A55"/>
          </a:solidFill>
          <a:ln w="12700">
            <a:solidFill>
              <a:srgbClr val="DB5A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93808" y="2843784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FAIL CLOSED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886968" y="28072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 · SDK 隔离失败样例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6968" y="3154680"/>
            <a:ext cx="10012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28 次 Agent 调用；45 节点；31 / 31 工件完整；越界测试文件被拒绝；0 发布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594360" y="3941064"/>
            <a:ext cx="10972800" cy="987552"/>
          </a:xfrm>
          <a:prstGeom prst="roundRect">
            <a:avLst/>
          </a:prstGeom>
          <a:solidFill>
            <a:srgbClr val="DFF4E9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20656" y="4096512"/>
            <a:ext cx="1389888" cy="2743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93808" y="4133088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VERIFIED / PASS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886968" y="4096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 · SDK 完整样例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86968" y="4443984"/>
            <a:ext cx="10012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DocGen 非 JSON 后同 Run 恢复；1 / 1 评测；12 / 12 工件；唯一发布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94360" y="5413248"/>
            <a:ext cx="10972800" cy="521208"/>
          </a:xfrm>
          <a:prstGeom prst="round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5449824"/>
            <a:ext cx="10826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一次成功不是稳定性结论；失败样例也不是废数据，它证明了系统会拒绝越界并保留现场。</a:t>
            </a:r>
            <a:endParaRPr lang="en-US" sz="11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CONSOLE EVIDENCE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前台已经能看到 LangGraph 节点，也能分辨失败与恢复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397CE8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真实证据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3151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真实只读 Console 截图；run 5503b6bc-0350-4b53-98cc-6fbf3a13aaa9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66928" y="1280160"/>
            <a:ext cx="4617720" cy="4974336"/>
          </a:xfrm>
          <a:prstGeom prst="roundRect">
            <a:avLst/>
          </a:prstGeom>
          <a:solidFill>
            <a:srgbClr val="07121E"/>
          </a:solidFill>
          <a:ln w="12700">
            <a:solidFill>
              <a:srgbClr val="31516E"/>
            </a:solidFill>
            <a:prstDash val="solid"/>
          </a:ln>
        </p:spPr>
      </p:sp>
      <p:pic>
        <p:nvPicPr>
          <p:cNvPr id="9" name="Image 0" descr="/root/projects/wpKnowledge/knowledge/3.workpanel/证据/演示素材/01-真实SDK运行-VERIFIED-深色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88" y="1408176"/>
            <a:ext cx="3960801" cy="47183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504688" y="1353312"/>
            <a:ext cx="6044184" cy="1216152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504688" y="1353312"/>
            <a:ext cx="64008" cy="1216152"/>
          </a:xfrm>
          <a:prstGeom prst="rect">
            <a:avLst/>
          </a:prstGeom>
          <a:solidFill>
            <a:srgbClr val="24C8D8"/>
          </a:solidFill>
          <a:ln w="12700">
            <a:solidFill>
              <a:srgbClr val="24C8D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15000" y="1472184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前台读的是业务投影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724144" y="1956816"/>
            <a:ext cx="64008" cy="64008"/>
          </a:xfrm>
          <a:prstGeom prst="ellipse">
            <a:avLst/>
          </a:prstGeom>
          <a:solidFill>
            <a:srgbClr val="24C8D8"/>
          </a:solidFill>
          <a:ln w="12700">
            <a:solidFill>
              <a:srgbClr val="24C8D8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61304" y="1865376"/>
            <a:ext cx="55321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节点状态由 LangGraph 执行产生，但写进 wpKnowledge Registry 后再展示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5724144" y="2263140"/>
            <a:ext cx="64008" cy="64008"/>
          </a:xfrm>
          <a:prstGeom prst="ellipse">
            <a:avLst/>
          </a:prstGeom>
          <a:solidFill>
            <a:srgbClr val="24C8D8"/>
          </a:solidFill>
          <a:ln w="12700">
            <a:solidFill>
              <a:srgbClr val="24C8D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61304" y="2171700"/>
            <a:ext cx="55321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Graph checkpoint 不直接暴露给产品 UI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5504688" y="2816352"/>
            <a:ext cx="6044184" cy="1216152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04688" y="2816352"/>
            <a:ext cx="64008" cy="1216152"/>
          </a:xfrm>
          <a:prstGeom prst="rect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5000" y="2935224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失败没有被“洗绿”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724144" y="3419856"/>
            <a:ext cx="64008" cy="64008"/>
          </a:xfrm>
          <a:prstGeom prst="ellipse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61304" y="3328416"/>
            <a:ext cx="55321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DocGen attempt 1 明确标红；attempt 2 完成后继续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5724144" y="3726180"/>
            <a:ext cx="64008" cy="64008"/>
          </a:xfrm>
          <a:prstGeom prst="ellipse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61304" y="3634740"/>
            <a:ext cx="55321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最终 PASS 来自 EvaluationReport + Domain Gate</a:t>
            </a:r>
            <a:endParaRPr lang="en-US" sz="970" dirty="0"/>
          </a:p>
        </p:txBody>
      </p:sp>
      <p:sp>
        <p:nvSpPr>
          <p:cNvPr id="24" name="Shape 21"/>
          <p:cNvSpPr/>
          <p:nvPr/>
        </p:nvSpPr>
        <p:spPr>
          <a:xfrm>
            <a:off x="5504688" y="4279392"/>
            <a:ext cx="6044184" cy="1216152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504688" y="4279392"/>
            <a:ext cx="64008" cy="1216152"/>
          </a:xfrm>
          <a:prstGeom prst="rect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15000" y="4398264"/>
            <a:ext cx="5705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可导出的审计材料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724144" y="4882896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61304" y="4791456"/>
            <a:ext cx="55321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Run、节点、事件、checkpoint、评测、发布和 Agent 调用摘要</a:t>
            </a:r>
            <a:endParaRPr lang="en-US" sz="970" dirty="0"/>
          </a:p>
        </p:txBody>
      </p:sp>
      <p:sp>
        <p:nvSpPr>
          <p:cNvPr id="29" name="Shape 26"/>
          <p:cNvSpPr/>
          <p:nvPr/>
        </p:nvSpPr>
        <p:spPr>
          <a:xfrm>
            <a:off x="5724144" y="5189220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861304" y="5097780"/>
            <a:ext cx="55321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不包含密钥、Prompt 正文、模型正文或会话日志</a:t>
            </a:r>
            <a:endParaRPr lang="en-US" sz="9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INPUT / OUTPUT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七类 Agent 角色的输入输出：职责固定，执行后端可统一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已实现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infrastructure/domain-knowledge/src/agent-definitions.ts；packages/application/src/automated-project-workflow.ts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30352" y="1298448"/>
            <a:ext cx="1527048" cy="393192"/>
          </a:xfrm>
          <a:prstGeom prst="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335024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角色</a:t>
            </a:r>
            <a:endParaRPr lang="en-US" sz="910" dirty="0"/>
          </a:p>
        </p:txBody>
      </p:sp>
      <p:sp>
        <p:nvSpPr>
          <p:cNvPr id="10" name="Shape 8"/>
          <p:cNvSpPr/>
          <p:nvPr/>
        </p:nvSpPr>
        <p:spPr>
          <a:xfrm>
            <a:off x="2057400" y="1298448"/>
            <a:ext cx="3474720" cy="393192"/>
          </a:xfrm>
          <a:prstGeom prst="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21408" y="1335024"/>
            <a:ext cx="3346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可见输入</a:t>
            </a:r>
            <a:endParaRPr lang="en-US" sz="910" dirty="0"/>
          </a:p>
        </p:txBody>
      </p:sp>
      <p:sp>
        <p:nvSpPr>
          <p:cNvPr id="12" name="Shape 10"/>
          <p:cNvSpPr/>
          <p:nvPr/>
        </p:nvSpPr>
        <p:spPr>
          <a:xfrm>
            <a:off x="5532120" y="1298448"/>
            <a:ext cx="3749040" cy="393192"/>
          </a:xfrm>
          <a:prstGeom prst="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96128" y="1335024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结构化输出</a:t>
            </a:r>
            <a:endParaRPr lang="en-US" sz="910" dirty="0"/>
          </a:p>
        </p:txBody>
      </p:sp>
      <p:sp>
        <p:nvSpPr>
          <p:cNvPr id="14" name="Shape 12"/>
          <p:cNvSpPr/>
          <p:nvPr/>
        </p:nvSpPr>
        <p:spPr>
          <a:xfrm>
            <a:off x="9281160" y="1298448"/>
            <a:ext cx="2331720" cy="393192"/>
          </a:xfrm>
          <a:prstGeom prst="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45168" y="1335024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不能做</a:t>
            </a:r>
            <a:endParaRPr lang="en-US" sz="910" dirty="0"/>
          </a:p>
        </p:txBody>
      </p:sp>
      <p:sp>
        <p:nvSpPr>
          <p:cNvPr id="16" name="Shape 14"/>
          <p:cNvSpPr/>
          <p:nvPr/>
        </p:nvSpPr>
        <p:spPr>
          <a:xfrm>
            <a:off x="530352" y="1746504"/>
            <a:ext cx="152704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178308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Orchestrator</a:t>
            </a:r>
            <a:endParaRPr lang="en-US" sz="910" dirty="0"/>
          </a:p>
        </p:txBody>
      </p:sp>
      <p:sp>
        <p:nvSpPr>
          <p:cNvPr id="18" name="Shape 16"/>
          <p:cNvSpPr/>
          <p:nvPr/>
        </p:nvSpPr>
        <p:spPr>
          <a:xfrm>
            <a:off x="2057400" y="1746504"/>
            <a:ext cx="3474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21408" y="178308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策略、轮次、执行摘要</a:t>
            </a:r>
            <a:endParaRPr lang="en-US" sz="910" dirty="0"/>
          </a:p>
        </p:txBody>
      </p:sp>
      <p:sp>
        <p:nvSpPr>
          <p:cNvPr id="20" name="Shape 18"/>
          <p:cNvSpPr/>
          <p:nvPr/>
        </p:nvSpPr>
        <p:spPr>
          <a:xfrm>
            <a:off x="5532120" y="1746504"/>
            <a:ext cx="3749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96128" y="178308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本轮计划摘要</a:t>
            </a:r>
            <a:endParaRPr lang="en-US" sz="910" dirty="0"/>
          </a:p>
        </p:txBody>
      </p:sp>
      <p:sp>
        <p:nvSpPr>
          <p:cNvPr id="22" name="Shape 20"/>
          <p:cNvSpPr/>
          <p:nvPr/>
        </p:nvSpPr>
        <p:spPr>
          <a:xfrm>
            <a:off x="9281160" y="1746504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45168" y="178308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改拓扑 / 发布</a:t>
            </a:r>
            <a:endParaRPr lang="en-US" sz="910" dirty="0"/>
          </a:p>
        </p:txBody>
      </p:sp>
      <p:sp>
        <p:nvSpPr>
          <p:cNvPr id="24" name="Shape 22"/>
          <p:cNvSpPr/>
          <p:nvPr/>
        </p:nvSpPr>
        <p:spPr>
          <a:xfrm>
            <a:off x="530352" y="2340864"/>
            <a:ext cx="1527048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237744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DocWorker</a:t>
            </a:r>
            <a:endParaRPr lang="en-US" sz="910" dirty="0"/>
          </a:p>
        </p:txBody>
      </p:sp>
      <p:sp>
        <p:nvSpPr>
          <p:cNvPr id="26" name="Shape 24"/>
          <p:cNvSpPr/>
          <p:nvPr/>
        </p:nvSpPr>
        <p:spPr>
          <a:xfrm>
            <a:off x="2057400" y="2340864"/>
            <a:ext cx="347472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21408" y="237744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被分配源码、公开接口</a:t>
            </a:r>
            <a:endParaRPr lang="en-US" sz="910" dirty="0"/>
          </a:p>
        </p:txBody>
      </p:sp>
      <p:sp>
        <p:nvSpPr>
          <p:cNvPr id="28" name="Shape 26"/>
          <p:cNvSpPr/>
          <p:nvPr/>
        </p:nvSpPr>
        <p:spPr>
          <a:xfrm>
            <a:off x="5532120" y="2340864"/>
            <a:ext cx="374904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96128" y="237744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片段 + provenance</a:t>
            </a:r>
            <a:endParaRPr lang="en-US" sz="910" dirty="0"/>
          </a:p>
        </p:txBody>
      </p:sp>
      <p:sp>
        <p:nvSpPr>
          <p:cNvPr id="30" name="Shape 28"/>
          <p:cNvSpPr/>
          <p:nvPr/>
        </p:nvSpPr>
        <p:spPr>
          <a:xfrm>
            <a:off x="9281160" y="2340864"/>
            <a:ext cx="233172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45168" y="237744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跨块猜测 / Gate</a:t>
            </a:r>
            <a:endParaRPr lang="en-US" sz="910" dirty="0"/>
          </a:p>
        </p:txBody>
      </p:sp>
      <p:sp>
        <p:nvSpPr>
          <p:cNvPr id="32" name="Shape 30"/>
          <p:cNvSpPr/>
          <p:nvPr/>
        </p:nvSpPr>
        <p:spPr>
          <a:xfrm>
            <a:off x="530352" y="2935224"/>
            <a:ext cx="152704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297180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DocGen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2057400" y="2935224"/>
            <a:ext cx="3474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21408" y="297180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来源快照、片段、Correction</a:t>
            </a:r>
            <a:endParaRPr lang="en-US" sz="910" dirty="0"/>
          </a:p>
        </p:txBody>
      </p:sp>
      <p:sp>
        <p:nvSpPr>
          <p:cNvPr id="36" name="Shape 34"/>
          <p:cNvSpPr/>
          <p:nvPr/>
        </p:nvSpPr>
        <p:spPr>
          <a:xfrm>
            <a:off x="5532120" y="2935224"/>
            <a:ext cx="3749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96128" y="297180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知识正文 + 元数据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9281160" y="2935224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45168" y="297180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发布 / 自评通过</a:t>
            </a:r>
            <a:endParaRPr lang="en-US" sz="910" dirty="0"/>
          </a:p>
        </p:txBody>
      </p:sp>
      <p:sp>
        <p:nvSpPr>
          <p:cNvPr id="40" name="Shape 38"/>
          <p:cNvSpPr/>
          <p:nvPr/>
        </p:nvSpPr>
        <p:spPr>
          <a:xfrm>
            <a:off x="530352" y="3529584"/>
            <a:ext cx="1527048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" y="35661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TestGen</a:t>
            </a:r>
            <a:endParaRPr lang="en-US" sz="910" dirty="0"/>
          </a:p>
        </p:txBody>
      </p:sp>
      <p:sp>
        <p:nvSpPr>
          <p:cNvPr id="42" name="Shape 40"/>
          <p:cNvSpPr/>
          <p:nvPr/>
        </p:nvSpPr>
        <p:spPr>
          <a:xfrm>
            <a:off x="2057400" y="3529584"/>
            <a:ext cx="347472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1408" y="356616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参考源码、公开接口</a:t>
            </a:r>
            <a:endParaRPr lang="en-US" sz="910" dirty="0"/>
          </a:p>
        </p:txBody>
      </p:sp>
      <p:sp>
        <p:nvSpPr>
          <p:cNvPr id="44" name="Shape 42"/>
          <p:cNvSpPr/>
          <p:nvPr/>
        </p:nvSpPr>
        <p:spPr>
          <a:xfrm>
            <a:off x="5532120" y="3529584"/>
            <a:ext cx="374904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96128" y="356616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候选命令 / oracle 意图</a:t>
            </a:r>
            <a:endParaRPr lang="en-US" sz="910" dirty="0"/>
          </a:p>
        </p:txBody>
      </p:sp>
      <p:sp>
        <p:nvSpPr>
          <p:cNvPr id="46" name="Shape 44"/>
          <p:cNvSpPr/>
          <p:nvPr/>
        </p:nvSpPr>
        <p:spPr>
          <a:xfrm>
            <a:off x="9281160" y="3529584"/>
            <a:ext cx="233172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345168" y="356616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读取候选知识</a:t>
            </a:r>
            <a:endParaRPr lang="en-US" sz="910" dirty="0"/>
          </a:p>
        </p:txBody>
      </p:sp>
      <p:sp>
        <p:nvSpPr>
          <p:cNvPr id="48" name="Shape 46"/>
          <p:cNvSpPr/>
          <p:nvPr/>
        </p:nvSpPr>
        <p:spPr>
          <a:xfrm>
            <a:off x="530352" y="4123944"/>
            <a:ext cx="152704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4360" y="416052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code 角色</a:t>
            </a:r>
            <a:endParaRPr lang="en-US" sz="910" dirty="0"/>
          </a:p>
        </p:txBody>
      </p:sp>
      <p:sp>
        <p:nvSpPr>
          <p:cNvPr id="50" name="Shape 48"/>
          <p:cNvSpPr/>
          <p:nvPr/>
        </p:nvSpPr>
        <p:spPr>
          <a:xfrm>
            <a:off x="2057400" y="4123944"/>
            <a:ext cx="3474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21408" y="416052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候选知识、公开接口、允许路径</a:t>
            </a:r>
            <a:endParaRPr lang="en-US" sz="910" dirty="0"/>
          </a:p>
        </p:txBody>
      </p:sp>
      <p:sp>
        <p:nvSpPr>
          <p:cNvPr id="52" name="Shape 50"/>
          <p:cNvSpPr/>
          <p:nvPr/>
        </p:nvSpPr>
        <p:spPr>
          <a:xfrm>
            <a:off x="5532120" y="4123944"/>
            <a:ext cx="3749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96128" y="416052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生成文件列表</a:t>
            </a:r>
            <a:endParaRPr lang="en-US" sz="910" dirty="0"/>
          </a:p>
        </p:txBody>
      </p:sp>
      <p:sp>
        <p:nvSpPr>
          <p:cNvPr id="54" name="Shape 52"/>
          <p:cNvSpPr/>
          <p:nvPr/>
        </p:nvSpPr>
        <p:spPr>
          <a:xfrm>
            <a:off x="9281160" y="4123944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345168" y="416052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读参考实现 / 测试</a:t>
            </a:r>
            <a:endParaRPr lang="en-US" sz="910" dirty="0"/>
          </a:p>
        </p:txBody>
      </p:sp>
      <p:sp>
        <p:nvSpPr>
          <p:cNvPr id="56" name="Shape 54"/>
          <p:cNvSpPr/>
          <p:nvPr/>
        </p:nvSpPr>
        <p:spPr>
          <a:xfrm>
            <a:off x="530352" y="4718304"/>
            <a:ext cx="1527048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4360" y="475488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Check</a:t>
            </a:r>
            <a:endParaRPr lang="en-US" sz="910" dirty="0"/>
          </a:p>
        </p:txBody>
      </p:sp>
      <p:sp>
        <p:nvSpPr>
          <p:cNvPr id="58" name="Shape 56"/>
          <p:cNvSpPr/>
          <p:nvPr/>
        </p:nvSpPr>
        <p:spPr>
          <a:xfrm>
            <a:off x="2057400" y="4718304"/>
            <a:ext cx="347472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121408" y="475488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内联生成代码、判据</a:t>
            </a:r>
            <a:endParaRPr lang="en-US" sz="910" dirty="0"/>
          </a:p>
        </p:txBody>
      </p:sp>
      <p:sp>
        <p:nvSpPr>
          <p:cNvPr id="60" name="Shape 58"/>
          <p:cNvSpPr/>
          <p:nvPr/>
        </p:nvSpPr>
        <p:spPr>
          <a:xfrm>
            <a:off x="5532120" y="4718304"/>
            <a:ext cx="374904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96128" y="475488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blocking + findings</a:t>
            </a:r>
            <a:endParaRPr lang="en-US" sz="910" dirty="0"/>
          </a:p>
        </p:txBody>
      </p:sp>
      <p:sp>
        <p:nvSpPr>
          <p:cNvPr id="62" name="Shape 60"/>
          <p:cNvSpPr/>
          <p:nvPr/>
        </p:nvSpPr>
        <p:spPr>
          <a:xfrm>
            <a:off x="9281160" y="4718304"/>
            <a:ext cx="2331720" cy="530352"/>
          </a:xfrm>
          <a:prstGeom prst="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45168" y="475488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改代码 / 发布</a:t>
            </a:r>
            <a:endParaRPr lang="en-US" sz="910" dirty="0"/>
          </a:p>
        </p:txBody>
      </p:sp>
      <p:sp>
        <p:nvSpPr>
          <p:cNvPr id="64" name="Shape 62"/>
          <p:cNvSpPr/>
          <p:nvPr/>
        </p:nvSpPr>
        <p:spPr>
          <a:xfrm>
            <a:off x="530352" y="5312664"/>
            <a:ext cx="152704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4360" y="534924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Review</a:t>
            </a:r>
            <a:endParaRPr lang="en-US" sz="910" dirty="0"/>
          </a:p>
        </p:txBody>
      </p:sp>
      <p:sp>
        <p:nvSpPr>
          <p:cNvPr id="66" name="Shape 64"/>
          <p:cNvSpPr/>
          <p:nvPr/>
        </p:nvSpPr>
        <p:spPr>
          <a:xfrm>
            <a:off x="2057400" y="5312664"/>
            <a:ext cx="3474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21408" y="5349240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知识、Eval、Check</a:t>
            </a:r>
            <a:endParaRPr lang="en-US" sz="910" dirty="0"/>
          </a:p>
        </p:txBody>
      </p:sp>
      <p:sp>
        <p:nvSpPr>
          <p:cNvPr id="68" name="Shape 66"/>
          <p:cNvSpPr/>
          <p:nvPr/>
        </p:nvSpPr>
        <p:spPr>
          <a:xfrm>
            <a:off x="5532120" y="5312664"/>
            <a:ext cx="3749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596128" y="534924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PASS 建议或 Correction</a:t>
            </a:r>
            <a:endParaRPr lang="en-US" sz="910" dirty="0"/>
          </a:p>
        </p:txBody>
      </p:sp>
      <p:sp>
        <p:nvSpPr>
          <p:cNvPr id="70" name="Shape 68"/>
          <p:cNvSpPr/>
          <p:nvPr/>
        </p:nvSpPr>
        <p:spPr>
          <a:xfrm>
            <a:off x="9281160" y="5312664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45168" y="534924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直接改状态</a:t>
            </a:r>
            <a:endParaRPr lang="en-US" sz="910" dirty="0"/>
          </a:p>
        </p:txBody>
      </p:sp>
      <p:sp>
        <p:nvSpPr>
          <p:cNvPr id="72" name="Shape 70"/>
          <p:cNvSpPr/>
          <p:nvPr/>
        </p:nvSpPr>
        <p:spPr>
          <a:xfrm>
            <a:off x="530352" y="6035040"/>
            <a:ext cx="11082528" cy="301752"/>
          </a:xfrm>
          <a:prstGeom prst="roundRect">
            <a:avLst/>
          </a:prstGeom>
          <a:solidFill>
            <a:srgbClr val="FFF0DB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03504" y="6071616"/>
            <a:ext cx="10936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所有角色本次都由 DeepSeekHarnessSdkAgent 执行；“角色不同”不等于“安装了七个不同 Agent 产品”。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DOCUMENT GENERATION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文档生成如何分块：当前单 worker 已实跑，语义 fan-out 仍要补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EA8A2F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边界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graph.ts 的 Send fan-out；automated-project-workflow.ts 的 assignedSourcePaths；当前 Demo workers=1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76072" y="12893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397CE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当前真实路径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576072" y="1728216"/>
            <a:ext cx="1417320" cy="7955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1792224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SourceSnapshot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" y="20574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 commit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manifest + provenance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103120" y="1965960"/>
            <a:ext cx="228600" cy="310896"/>
          </a:xfrm>
          <a:prstGeom prst="chevron">
            <a:avLst/>
          </a:prstGeom>
          <a:solidFill>
            <a:srgbClr val="397CE8"/>
          </a:solidFill>
          <a:ln w="12700">
            <a:solidFill>
              <a:srgbClr val="397C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14016" y="1728216"/>
            <a:ext cx="1463040" cy="7955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4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05456" y="1792224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DocWorker ×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05456" y="20574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 sourcePaths 索引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分配来源文件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977640" y="1965960"/>
            <a:ext cx="228600" cy="310896"/>
          </a:xfrm>
          <a:prstGeom prst="chevron">
            <a:avLst/>
          </a:prstGeom>
          <a:solidFill>
            <a:srgbClr val="24C8D8"/>
          </a:solidFill>
          <a:ln w="12700">
            <a:solidFill>
              <a:srgbClr val="24C8D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88536" y="1728216"/>
            <a:ext cx="1463040" cy="7955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9976" y="1792224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DocGen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79976" y="20574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汇总片段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 5,165B 正文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61304" y="1965960"/>
            <a:ext cx="228600" cy="310896"/>
          </a:xfrm>
          <a:prstGeom prst="chevron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1728216"/>
            <a:ext cx="1463040" cy="795528"/>
          </a:xfrm>
          <a:prstGeom prst="roundRect">
            <a:avLst/>
          </a:prstGeom>
          <a:solidFill>
            <a:srgbClr val="DFF4E9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1792224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Quality Gate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20574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96 / 100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结构与可验证性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28432" y="1335024"/>
            <a:ext cx="3529584" cy="1545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28432" y="1335024"/>
            <a:ext cx="64008" cy="1545336"/>
          </a:xfrm>
          <a:prstGeom prst="rect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8744" y="1453896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当前能证明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47888" y="1938528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85048" y="1847088"/>
            <a:ext cx="3017520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 的 fan-out / join 路径存在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8247888" y="2252472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85048" y="2161032"/>
            <a:ext cx="3017520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worker 产物以 ArtifactRef 汇入 DocGen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8247888" y="2566416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85048" y="2474976"/>
            <a:ext cx="3017520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质量不足会跳过代码生成并进入下一轮</a:t>
            </a:r>
            <a:endParaRPr lang="en-US" sz="940" dirty="0"/>
          </a:p>
        </p:txBody>
      </p:sp>
      <p:sp>
        <p:nvSpPr>
          <p:cNvPr id="33" name="Text 31"/>
          <p:cNvSpPr/>
          <p:nvPr/>
        </p:nvSpPr>
        <p:spPr>
          <a:xfrm>
            <a:off x="576072" y="32186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8064D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大仓库目标</a:t>
            </a:r>
            <a:endParaRPr lang="en-US" sz="1030" dirty="0"/>
          </a:p>
        </p:txBody>
      </p:sp>
      <p:sp>
        <p:nvSpPr>
          <p:cNvPr id="34" name="Shape 32"/>
          <p:cNvSpPr/>
          <p:nvPr/>
        </p:nvSpPr>
        <p:spPr>
          <a:xfrm>
            <a:off x="576072" y="3694176"/>
            <a:ext cx="1810512" cy="841248"/>
          </a:xfrm>
          <a:prstGeom prst="roundRect">
            <a:avLst/>
          </a:prstGeom>
          <a:solidFill>
            <a:srgbClr val="EEE9FC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" y="3758184"/>
            <a:ext cx="1627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建图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67512" y="40233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symbol / import / call / test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2450592" y="3959352"/>
            <a:ext cx="219456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798064" y="3694176"/>
            <a:ext cx="1810512" cy="841248"/>
          </a:xfrm>
          <a:prstGeom prst="roundRect">
            <a:avLst/>
          </a:prstGeom>
          <a:solidFill>
            <a:srgbClr val="EEE9FC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89504" y="3758184"/>
            <a:ext cx="1627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收缩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889504" y="40233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SCC 保留循环语义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4672584" y="3959352"/>
            <a:ext cx="219456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0056" y="3694176"/>
            <a:ext cx="1810512" cy="841248"/>
          </a:xfrm>
          <a:prstGeom prst="roundRect">
            <a:avLst/>
          </a:prstGeom>
          <a:solidFill>
            <a:srgbClr val="EEE9FC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111496" y="3758184"/>
            <a:ext cx="1627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分层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111496" y="40233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按拓扑序生成稳定块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6894576" y="3959352"/>
            <a:ext cx="219456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42048" y="3694176"/>
            <a:ext cx="1810512" cy="841248"/>
          </a:xfrm>
          <a:prstGeom prst="roundRect">
            <a:avLst/>
          </a:prstGeom>
          <a:solidFill>
            <a:srgbClr val="EEE9FC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3488" y="3758184"/>
            <a:ext cx="1627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证据包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333488" y="40233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事实 + 引用 + unresolved</a:t>
            </a:r>
            <a:endParaRPr lang="en-US" sz="870" dirty="0"/>
          </a:p>
        </p:txBody>
      </p:sp>
      <p:sp>
        <p:nvSpPr>
          <p:cNvPr id="49" name="Shape 47"/>
          <p:cNvSpPr/>
          <p:nvPr/>
        </p:nvSpPr>
        <p:spPr>
          <a:xfrm>
            <a:off x="9116568" y="3959352"/>
            <a:ext cx="219456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64040" y="3694176"/>
            <a:ext cx="1810512" cy="841248"/>
          </a:xfrm>
          <a:prstGeom prst="roundRect">
            <a:avLst/>
          </a:prstGeom>
          <a:solidFill>
            <a:srgbClr val="EEE9FC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555480" y="3758184"/>
            <a:ext cx="16276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增量聚合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9555480" y="402336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只重做受影响子图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576072" y="4928616"/>
            <a:ext cx="10981944" cy="859536"/>
          </a:xfrm>
          <a:prstGeom prst="round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0392" y="5166360"/>
            <a:ext cx="10442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禁止按字符或 token 任意截断。块必须能独立解释，跨块依赖必须显式引用；超预算时保留接口、摘要和 provenance，正文延迟生成。</a:t>
            </a:r>
            <a:endParaRPr lang="en-US" sz="11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CODE + EVALUATION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代码生成与评测：两条隔离链路只在确定性 Evaluator 汇合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已实现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3151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AgentWorkspaceProvider；isolation-launcher.mjs；TrustedProjectEvaluator；allowedGeneratedPaths 动态 Schema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66928" y="128016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23A36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候选链 · 不读参考实现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76072" y="1737360"/>
            <a:ext cx="1481328" cy="768096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1801368"/>
            <a:ext cx="12984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候选知识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" y="20665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CAS bodyRef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157984" y="1965960"/>
            <a:ext cx="228600" cy="310896"/>
          </a:xfrm>
          <a:prstGeom prst="chevron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78024" y="1737360"/>
            <a:ext cx="1664208" cy="768096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9464" y="180136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code 角色会话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2569464" y="2066544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只见知识 + 公开接口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Bubblewrap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4242816" y="1965960"/>
            <a:ext cx="228600" cy="310896"/>
          </a:xfrm>
          <a:prstGeom prst="chevron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62856" y="1737360"/>
            <a:ext cx="1609344" cy="768096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54296" y="1801368"/>
            <a:ext cx="14264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Generated files</a:t>
            </a:r>
            <a:endParaRPr lang="en-US" sz="1070" dirty="0"/>
          </a:p>
        </p:txBody>
      </p:sp>
      <p:sp>
        <p:nvSpPr>
          <p:cNvPr id="19" name="Text 17"/>
          <p:cNvSpPr/>
          <p:nvPr/>
        </p:nvSpPr>
        <p:spPr>
          <a:xfrm>
            <a:off x="4654296" y="2066544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动态路径 enum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CAS Artifact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310896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8064D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Oracle 链 · 不读候选知识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576072" y="3566160"/>
            <a:ext cx="1481328" cy="768096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397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" y="3630168"/>
            <a:ext cx="12984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参考源码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7512" y="38953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pinned commit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57984" y="3794760"/>
            <a:ext cx="228600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78024" y="3566160"/>
            <a:ext cx="1664208" cy="768096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9464" y="3630168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TestGen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569464" y="3895344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源码 + 公开接口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不能读候选知识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242816" y="3794760"/>
            <a:ext cx="228600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62856" y="3566160"/>
            <a:ext cx="1609344" cy="768096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54296" y="3630168"/>
            <a:ext cx="14264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Oracle validation</a:t>
            </a:r>
            <a:endParaRPr lang="en-US" sz="1040" dirty="0"/>
          </a:p>
        </p:txBody>
      </p:sp>
      <p:sp>
        <p:nvSpPr>
          <p:cNvPr id="31" name="Text 29"/>
          <p:cNvSpPr/>
          <p:nvPr/>
        </p:nvSpPr>
        <p:spPr>
          <a:xfrm>
            <a:off x="4654296" y="3895344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先跑参考实现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确认测试真值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99632" y="2121408"/>
            <a:ext cx="1051560" cy="914400"/>
          </a:xfrm>
          <a:prstGeom prst="line">
            <a:avLst/>
          </a:prstGeom>
          <a:noFill/>
          <a:ln w="22860">
            <a:solidFill>
              <a:srgbClr val="23A36D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199632" y="3950208"/>
            <a:ext cx="1051560" cy="-914400"/>
          </a:xfrm>
          <a:prstGeom prst="line">
            <a:avLst/>
          </a:prstGeom>
          <a:noFill/>
          <a:ln w="22860">
            <a:solidFill>
              <a:srgbClr val="8064D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296912" y="2542032"/>
            <a:ext cx="1874520" cy="1005840"/>
          </a:xfrm>
          <a:prstGeom prst="roundRect">
            <a:avLst/>
          </a:prstGeom>
          <a:solidFill>
            <a:srgbClr val="183B59"/>
          </a:solidFill>
          <a:ln w="16510">
            <a:solidFill>
              <a:srgbClr val="DB5A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88352" y="2606040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TrustedProjectEvaluator</a:t>
            </a:r>
            <a:endParaRPr lang="en-US" sz="1120" dirty="0"/>
          </a:p>
        </p:txBody>
      </p:sp>
      <p:sp>
        <p:nvSpPr>
          <p:cNvPr id="36" name="Text 34"/>
          <p:cNvSpPr/>
          <p:nvPr/>
        </p:nvSpPr>
        <p:spPr>
          <a:xfrm>
            <a:off x="7388352" y="2871216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独立副本中物化代码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执行受信命令，采集证据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9281160" y="2880360"/>
            <a:ext cx="228600" cy="310896"/>
          </a:xfrm>
          <a:prstGeom prst="chevron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601200" y="2542032"/>
            <a:ext cx="1947672" cy="1005840"/>
          </a:xfrm>
          <a:prstGeom prst="roundRect">
            <a:avLst/>
          </a:prstGeom>
          <a:solidFill>
            <a:srgbClr val="112A42"/>
          </a:solidFill>
          <a:ln w="16510">
            <a:solidFill>
              <a:srgbClr val="DB5A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92640" y="2606040"/>
            <a:ext cx="1764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EvaluationReport</a:t>
            </a:r>
            <a:endParaRPr lang="en-US" sz="1120" dirty="0"/>
          </a:p>
        </p:txBody>
      </p:sp>
      <p:sp>
        <p:nvSpPr>
          <p:cNvPr id="40" name="Text 38"/>
          <p:cNvSpPr/>
          <p:nvPr/>
        </p:nvSpPr>
        <p:spPr>
          <a:xfrm>
            <a:off x="9692640" y="2871216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tests 1 / 1 · stability 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critical failures 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6072" y="4956048"/>
            <a:ext cx="10972800" cy="685800"/>
          </a:xfrm>
          <a:prstGeom prst="roundRect">
            <a:avLst/>
          </a:prstGeom>
          <a:solidFill>
            <a:srgbClr val="EA8A2F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59536" y="512064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Bubblewrap 证明模型会话看不到参考源码；它不证明生成代码可安全执行。当前 Evaluator 只允许受信项目，敌对代码沙箱仍未完成。</a:t>
            </a:r>
            <a:endParaRPr lang="en-US" sz="10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REVIEW LOOP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Review 与知识迭代：Agent 提建议，确定性 Gate 才能改状态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已实现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automated-project-workflow.ts；packages/domain/src/index.ts；SQLiteFlywheelRepository 发布事务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76072" y="2002536"/>
            <a:ext cx="1554480" cy="859536"/>
          </a:xfrm>
          <a:prstGeom prst="roundRect">
            <a:avLst/>
          </a:prstGeom>
          <a:solidFill>
            <a:srgbClr val="FBE7E5"/>
          </a:solidFill>
          <a:ln w="16510">
            <a:solidFill>
              <a:srgbClr val="DB5A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6654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EvaluationReport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7512" y="233172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测试事实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不可变 evidenceRef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0280" y="2267712"/>
            <a:ext cx="237744" cy="310896"/>
          </a:xfrm>
          <a:prstGeom prst="chevron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78608" y="2002536"/>
            <a:ext cx="1481328" cy="859536"/>
          </a:xfrm>
          <a:prstGeom prst="roundRect">
            <a:avLst/>
          </a:prstGeom>
          <a:solidFill>
            <a:srgbClr val="FFF0DB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2066544"/>
            <a:ext cx="12984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Check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70048" y="2331720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静态阻塞项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只读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69664" y="2267712"/>
            <a:ext cx="237744" cy="310896"/>
          </a:xfrm>
          <a:prstGeom prst="chevron">
            <a:avLst/>
          </a:prstGeom>
          <a:solidFill>
            <a:srgbClr val="EA8A2F"/>
          </a:solidFill>
          <a:ln w="12700">
            <a:solidFill>
              <a:srgbClr val="EA8A2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1856232"/>
            <a:ext cx="1847088" cy="1152144"/>
          </a:xfrm>
          <a:prstGeom prst="roundRect">
            <a:avLst/>
          </a:prstGeom>
          <a:solidFill>
            <a:srgbClr val="EEE9FC"/>
          </a:solidFill>
          <a:ln w="16510">
            <a:solidFill>
              <a:srgbClr val="8064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1920240"/>
            <a:ext cx="16642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Review 角色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99432" y="2185416"/>
            <a:ext cx="16642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综合知识、Eval、Check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 PASS 建议或 Correction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不直接决定发布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6464808" y="2267712"/>
            <a:ext cx="237744" cy="310896"/>
          </a:xfrm>
          <a:prstGeom prst="chevron">
            <a:avLst/>
          </a:prstGeom>
          <a:solidFill>
            <a:srgbClr val="8064DB"/>
          </a:solidFill>
          <a:ln w="12700">
            <a:solidFill>
              <a:srgbClr val="8064D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03136" y="1856232"/>
            <a:ext cx="1901952" cy="1152144"/>
          </a:xfrm>
          <a:prstGeom prst="roundRect">
            <a:avLst/>
          </a:prstGeom>
          <a:solidFill>
            <a:srgbClr val="DFF4E9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94576" y="1920240"/>
            <a:ext cx="17190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wpKnowledge Gate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94576" y="2185416"/>
            <a:ext cx="17190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规则绑定 inputRefs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产生唯一 GateDecision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189720" y="1225296"/>
            <a:ext cx="2340864" cy="758952"/>
          </a:xfrm>
          <a:prstGeom prst="roundRect">
            <a:avLst/>
          </a:prstGeom>
          <a:solidFill>
            <a:srgbClr val="DFF4E9"/>
          </a:solidFill>
          <a:ln w="16510">
            <a:solidFill>
              <a:srgbClr val="23A36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81160" y="1289304"/>
            <a:ext cx="2157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PASS</a:t>
            </a:r>
            <a:endParaRPr lang="en-US" sz="1130" dirty="0"/>
          </a:p>
        </p:txBody>
      </p:sp>
      <p:sp>
        <p:nvSpPr>
          <p:cNvPr id="25" name="Text 23"/>
          <p:cNvSpPr/>
          <p:nvPr/>
        </p:nvSpPr>
        <p:spPr>
          <a:xfrm>
            <a:off x="9281160" y="1554480"/>
            <a:ext cx="215798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原子 Publication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版本 → VERIFIED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189720" y="2359152"/>
            <a:ext cx="2340864" cy="758952"/>
          </a:xfrm>
          <a:prstGeom prst="roundRect">
            <a:avLst/>
          </a:prstGeom>
          <a:solidFill>
            <a:srgbClr val="FFF0DB"/>
          </a:solidFill>
          <a:ln w="16510">
            <a:solidFill>
              <a:srgbClr val="EA8A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81160" y="2423160"/>
            <a:ext cx="2157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ITERATE</a:t>
            </a:r>
            <a:endParaRPr lang="en-US" sz="1130" dirty="0"/>
          </a:p>
        </p:txBody>
      </p:sp>
      <p:sp>
        <p:nvSpPr>
          <p:cNvPr id="28" name="Text 26"/>
          <p:cNvSpPr/>
          <p:nvPr/>
        </p:nvSpPr>
        <p:spPr>
          <a:xfrm>
            <a:off x="9281160" y="2688336"/>
            <a:ext cx="215798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Correction → DocGen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重写知识再重建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189720" y="3493008"/>
            <a:ext cx="2340864" cy="758952"/>
          </a:xfrm>
          <a:prstGeom prst="roundRect">
            <a:avLst/>
          </a:prstGeom>
          <a:solidFill>
            <a:srgbClr val="FBE7E5"/>
          </a:solidFill>
          <a:ln w="16510">
            <a:solidFill>
              <a:srgbClr val="DB5A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81160" y="3557016"/>
            <a:ext cx="2157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STOPPED</a:t>
            </a:r>
            <a:endParaRPr lang="en-US" sz="1130" dirty="0"/>
          </a:p>
        </p:txBody>
      </p:sp>
      <p:sp>
        <p:nvSpPr>
          <p:cNvPr id="31" name="Text 29"/>
          <p:cNvSpPr/>
          <p:nvPr/>
        </p:nvSpPr>
        <p:spPr>
          <a:xfrm>
            <a:off x="9281160" y="3822192"/>
            <a:ext cx="215798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预算耗尽或基础设施失败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保留证据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741664" y="2432304"/>
            <a:ext cx="384048" cy="-713232"/>
          </a:xfrm>
          <a:prstGeom prst="line">
            <a:avLst/>
          </a:prstGeom>
          <a:noFill/>
          <a:ln w="16510">
            <a:solidFill>
              <a:srgbClr val="23A36D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41664" y="2432304"/>
            <a:ext cx="384048" cy="0"/>
          </a:xfrm>
          <a:prstGeom prst="line">
            <a:avLst/>
          </a:prstGeom>
          <a:noFill/>
          <a:ln w="16510">
            <a:solidFill>
              <a:srgbClr val="EA8A2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741664" y="2432304"/>
            <a:ext cx="384048" cy="1078992"/>
          </a:xfrm>
          <a:prstGeom prst="line">
            <a:avLst/>
          </a:prstGeom>
          <a:noFill/>
          <a:ln w="16510">
            <a:solidFill>
              <a:srgbClr val="DB5A55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76072" y="4023360"/>
            <a:ext cx="8129016" cy="1408176"/>
          </a:xfrm>
          <a:prstGeom prst="round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428853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Correction 的最小合同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980944" y="4261104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correctionId</a:t>
            </a:r>
            <a:endParaRPr lang="en-US" sz="1040" dirty="0"/>
          </a:p>
        </p:txBody>
      </p:sp>
      <p:sp>
        <p:nvSpPr>
          <p:cNvPr id="38" name="Text 36"/>
          <p:cNvSpPr/>
          <p:nvPr/>
        </p:nvSpPr>
        <p:spPr>
          <a:xfrm>
            <a:off x="4389120" y="42611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knowledgePath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5879592" y="42611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criterion</a:t>
            </a:r>
            <a:endParaRPr lang="en-US" sz="1040" dirty="0"/>
          </a:p>
        </p:txBody>
      </p:sp>
      <p:sp>
        <p:nvSpPr>
          <p:cNvPr id="40" name="Text 38"/>
          <p:cNvSpPr/>
          <p:nvPr/>
        </p:nvSpPr>
        <p:spPr>
          <a:xfrm>
            <a:off x="7123176" y="4261104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risk</a:t>
            </a:r>
            <a:endParaRPr lang="en-US" sz="1040" dirty="0"/>
          </a:p>
        </p:txBody>
      </p:sp>
      <p:sp>
        <p:nvSpPr>
          <p:cNvPr id="41" name="Text 39"/>
          <p:cNvSpPr/>
          <p:nvPr/>
        </p:nvSpPr>
        <p:spPr>
          <a:xfrm>
            <a:off x="868680" y="4727448"/>
            <a:ext cx="7306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指出知识哪里错、怎样验、风险是什么；不把直接修改代码当成知识治理。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RUNTIME ISSUES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本地运行遇到的问题：真实路径暴露了七个工程缺口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397CE8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真实证据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3151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三次 ohMyWorkPanel live Run、Agent 审计与恢复记录；修复均有对应测试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57784" y="1261872"/>
            <a:ext cx="585216" cy="384048"/>
          </a:xfrm>
          <a:prstGeom prst="rect">
            <a:avLst/>
          </a:prstGeom>
          <a:solidFill>
            <a:srgbClr val="183B59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29844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#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solidFill>
            <a:srgbClr val="183B59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129844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2971800" y="1261872"/>
            <a:ext cx="3904488" cy="384048"/>
          </a:xfrm>
          <a:prstGeom prst="rect">
            <a:avLst/>
          </a:prstGeom>
          <a:solidFill>
            <a:srgbClr val="183B59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35808" y="1298448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真实观察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876288" y="1261872"/>
            <a:ext cx="4663440" cy="384048"/>
          </a:xfrm>
          <a:prstGeom prst="rect">
            <a:avLst/>
          </a:prstGeom>
          <a:solidFill>
            <a:srgbClr val="183B59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0296" y="1298448"/>
            <a:ext cx="4535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收口方式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557784" y="1700784"/>
            <a:ext cx="585216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1737360"/>
            <a:ext cx="457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1143000" y="1700784"/>
            <a:ext cx="1828800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07008" y="1737360"/>
            <a:ext cx="17007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pnpm 路径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2971800" y="1700784"/>
            <a:ext cx="3904488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35808" y="1737360"/>
            <a:ext cx="3776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隔离环境只看见链接，找不到真实脚本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6876288" y="1700784"/>
            <a:ext cx="4663440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0296" y="1737360"/>
            <a:ext cx="45354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解析真实工具路径，再带入受信评测环境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57784" y="2304288"/>
            <a:ext cx="585216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2340864"/>
            <a:ext cx="457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1143000" y="2304288"/>
            <a:ext cx="1828800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7008" y="2340864"/>
            <a:ext cx="17007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并行状态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971800" y="2304288"/>
            <a:ext cx="3904488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35808" y="2340864"/>
            <a:ext cx="3776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失败分支被晚完成的兄弟节点写回 RUNNING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876288" y="2304288"/>
            <a:ext cx="4663440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0296" y="2340864"/>
            <a:ext cx="45354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runtime 对并行终态做失败归一化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57784" y="2907792"/>
            <a:ext cx="585216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" y="2944368"/>
            <a:ext cx="457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1143000" y="2907792"/>
            <a:ext cx="1828800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07008" y="2944368"/>
            <a:ext cx="17007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DSH session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2971800" y="2907792"/>
            <a:ext cx="3904488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5808" y="2944368"/>
            <a:ext cx="3776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复用 session 偶发得到空结果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6876288" y="2907792"/>
            <a:ext cx="4663440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0296" y="2944368"/>
            <a:ext cx="45354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每次 Provider 尝试使用独立 session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557784" y="3511296"/>
            <a:ext cx="585216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3547872"/>
            <a:ext cx="457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1143000" y="3511296"/>
            <a:ext cx="1828800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07008" y="3547872"/>
            <a:ext cx="17007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 Schema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2971800" y="3511296"/>
            <a:ext cx="3904488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5808" y="3547872"/>
            <a:ext cx="3776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模型返回诊断文本、占位字段或非法 JSON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6876288" y="3511296"/>
            <a:ext cx="4663440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0296" y="3547872"/>
            <a:ext cx="45354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闭合 Schema + 最多 2 次格式重试；其他错误不重试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557784" y="4114800"/>
            <a:ext cx="585216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1792" y="4151376"/>
            <a:ext cx="457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D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880" dirty="0"/>
          </a:p>
        </p:txBody>
      </p:sp>
      <p:sp>
        <p:nvSpPr>
          <p:cNvPr id="50" name="Shape 48"/>
          <p:cNvSpPr/>
          <p:nvPr/>
        </p:nvSpPr>
        <p:spPr>
          <a:xfrm>
            <a:off x="1143000" y="4114800"/>
            <a:ext cx="1828800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207008" y="4151376"/>
            <a:ext cx="17007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FD3D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路径越界</a:t>
            </a:r>
            <a:endParaRPr lang="en-US" sz="880" dirty="0"/>
          </a:p>
        </p:txBody>
      </p:sp>
      <p:sp>
        <p:nvSpPr>
          <p:cNvPr id="52" name="Shape 50"/>
          <p:cNvSpPr/>
          <p:nvPr/>
        </p:nvSpPr>
        <p:spPr>
          <a:xfrm>
            <a:off x="2971800" y="4114800"/>
            <a:ext cx="3904488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35808" y="4151376"/>
            <a:ext cx="3776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FD3D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code 角色额外生成 mentions.test.ts</a:t>
            </a:r>
            <a:endParaRPr lang="en-US" sz="880" dirty="0"/>
          </a:p>
        </p:txBody>
      </p:sp>
      <p:sp>
        <p:nvSpPr>
          <p:cNvPr id="54" name="Shape 52"/>
          <p:cNvSpPr/>
          <p:nvPr/>
        </p:nvSpPr>
        <p:spPr>
          <a:xfrm>
            <a:off x="6876288" y="4114800"/>
            <a:ext cx="4663440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940296" y="4151376"/>
            <a:ext cx="45354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FFD3D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allowedGeneratedPaths 进入动态 enum，并保留应用层二次校验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557784" y="4718304"/>
            <a:ext cx="585216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21792" y="4754880"/>
            <a:ext cx="457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880" dirty="0"/>
          </a:p>
        </p:txBody>
      </p:sp>
      <p:sp>
        <p:nvSpPr>
          <p:cNvPr id="58" name="Shape 56"/>
          <p:cNvSpPr/>
          <p:nvPr/>
        </p:nvSpPr>
        <p:spPr>
          <a:xfrm>
            <a:off x="1143000" y="4718304"/>
            <a:ext cx="1828800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207008" y="4754880"/>
            <a:ext cx="17007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证据位置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2971800" y="4718304"/>
            <a:ext cx="3904488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35808" y="4754880"/>
            <a:ext cx="3776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Check/Review 误以为工作区缺少生成代码</a:t>
            </a:r>
            <a:endParaRPr lang="en-US" sz="880" dirty="0"/>
          </a:p>
        </p:txBody>
      </p:sp>
      <p:sp>
        <p:nvSpPr>
          <p:cNvPr id="62" name="Shape 60"/>
          <p:cNvSpPr/>
          <p:nvPr/>
        </p:nvSpPr>
        <p:spPr>
          <a:xfrm>
            <a:off x="6876288" y="4718304"/>
            <a:ext cx="4663440" cy="539496"/>
          </a:xfrm>
          <a:prstGeom prst="rect">
            <a:avLst/>
          </a:prstGeom>
          <a:solidFill>
            <a:srgbClr val="163651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40296" y="4754880"/>
            <a:ext cx="45354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 CAS 内联上下文，EvaluationReport 是执行事实源</a:t>
            </a:r>
            <a:endParaRPr lang="en-US" sz="880" dirty="0"/>
          </a:p>
        </p:txBody>
      </p:sp>
      <p:sp>
        <p:nvSpPr>
          <p:cNvPr id="64" name="Shape 62"/>
          <p:cNvSpPr/>
          <p:nvPr/>
        </p:nvSpPr>
        <p:spPr>
          <a:xfrm>
            <a:off x="557784" y="5321808"/>
            <a:ext cx="585216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1792" y="5358384"/>
            <a:ext cx="457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880" dirty="0"/>
          </a:p>
        </p:txBody>
      </p:sp>
      <p:sp>
        <p:nvSpPr>
          <p:cNvPr id="66" name="Shape 64"/>
          <p:cNvSpPr/>
          <p:nvPr/>
        </p:nvSpPr>
        <p:spPr>
          <a:xfrm>
            <a:off x="1143000" y="5321808"/>
            <a:ext cx="1828800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207008" y="5358384"/>
            <a:ext cx="17007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安全边界</a:t>
            </a:r>
            <a:endParaRPr lang="en-US" sz="880" dirty="0"/>
          </a:p>
        </p:txBody>
      </p:sp>
      <p:sp>
        <p:nvSpPr>
          <p:cNvPr id="68" name="Shape 66"/>
          <p:cNvSpPr/>
          <p:nvPr/>
        </p:nvSpPr>
        <p:spPr>
          <a:xfrm>
            <a:off x="2971800" y="5321808"/>
            <a:ext cx="3904488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035808" y="5358384"/>
            <a:ext cx="3776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角色隔离容易被误写成敌对代码沙箱</a:t>
            </a:r>
            <a:endParaRPr lang="en-US" sz="880" dirty="0"/>
          </a:p>
        </p:txBody>
      </p:sp>
      <p:sp>
        <p:nvSpPr>
          <p:cNvPr id="70" name="Shape 68"/>
          <p:cNvSpPr/>
          <p:nvPr/>
        </p:nvSpPr>
        <p:spPr>
          <a:xfrm>
            <a:off x="6876288" y="5321808"/>
            <a:ext cx="4663440" cy="539496"/>
          </a:xfrm>
          <a:prstGeom prst="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940296" y="5358384"/>
            <a:ext cx="45354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4E0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能力分开展示；不可信执行仍 fail closed</a:t>
            </a:r>
            <a:endParaRPr lang="en-US" sz="880" dirty="0"/>
          </a:p>
        </p:txBody>
      </p:sp>
      <p:sp>
        <p:nvSpPr>
          <p:cNvPr id="72" name="Shape 70"/>
          <p:cNvSpPr/>
          <p:nvPr/>
        </p:nvSpPr>
        <p:spPr>
          <a:xfrm>
            <a:off x="557784" y="6044184"/>
            <a:ext cx="10981944" cy="292608"/>
          </a:xfrm>
          <a:prstGeom prst="roundRect">
            <a:avLst/>
          </a:prstGeom>
          <a:solidFill>
            <a:srgbClr val="DB5A55"/>
          </a:solidFill>
          <a:ln w="12700">
            <a:solidFill>
              <a:srgbClr val="DB5A5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0936" y="6080760"/>
            <a:ext cx="10835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工程记录保留失败：否则无法证明恢复、白名单和确定性 Gate 为什么必要。</a:t>
            </a:r>
            <a:endParaRPr lang="en-US" sz="9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USER GUIDE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从用户视角操作：五个动作完成一次可复查治理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已实现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docs/GETTING_STARTED.md；deploy/deepseek-harness/README.md；CLI workflow-run / workflow-report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21792" y="1380744"/>
            <a:ext cx="475488" cy="475488"/>
          </a:xfrm>
          <a:prstGeom prst="ellipse">
            <a:avLst/>
          </a:prstGeom>
          <a:solidFill>
            <a:srgbClr val="397CE8"/>
          </a:solidFill>
          <a:ln w="12700">
            <a:solidFill>
              <a:srgbClr val="397C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426464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61872" y="1289304"/>
            <a:ext cx="10213848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17904" y="138074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准备来源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81528" y="1371600"/>
            <a:ext cx="8092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 ohMyWorkPanel 检出到固定 commit；配置来源 allowlist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21792" y="2313432"/>
            <a:ext cx="475488" cy="475488"/>
          </a:xfrm>
          <a:prstGeom prst="ellipse">
            <a:avLst/>
          </a:prstGeom>
          <a:solidFill>
            <a:srgbClr val="24C8D8"/>
          </a:solidFill>
          <a:ln w="12700">
            <a:solidFill>
              <a:srgbClr val="24C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359152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261872" y="2221992"/>
            <a:ext cx="10213848" cy="676656"/>
          </a:xfrm>
          <a:prstGeom prst="round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17904" y="2313432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 Provider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81528" y="2304288"/>
            <a:ext cx="8092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fixture 用于回归；deepseek-harness 用官方 SDK + Bubblewrap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621792" y="3246120"/>
            <a:ext cx="475488" cy="475488"/>
          </a:xfrm>
          <a:prstGeom prst="ellipse">
            <a:avLst/>
          </a:prstGeom>
          <a:solidFill>
            <a:srgbClr val="8064DB"/>
          </a:solidFill>
          <a:ln w="12700">
            <a:solidFill>
              <a:srgbClr val="8064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329184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61872" y="3154680"/>
            <a:ext cx="10213848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3246120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启动治理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81528" y="3236976"/>
            <a:ext cx="8092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0738A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npm run knowledge -- workflow-run --repository &lt;path&gt; --workers 1 --max-iterations 3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1792" y="4178808"/>
            <a:ext cx="475488" cy="475488"/>
          </a:xfrm>
          <a:prstGeom prst="ellipse">
            <a:avLst/>
          </a:prstGeom>
          <a:solidFill>
            <a:srgbClr val="EA8A2F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4224528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261872" y="4087368"/>
            <a:ext cx="10213848" cy="676656"/>
          </a:xfrm>
          <a:prstGeom prst="roundRect">
            <a:avLst/>
          </a:prstGeom>
          <a:solidFill>
            <a:srgbClr val="EAF1F6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17904" y="4178808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查看过程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081528" y="4169664"/>
            <a:ext cx="8092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Console 看节点、attempt、事件、评测与 Gate；DSH Web 只调试 Harness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621792" y="5111496"/>
            <a:ext cx="475488" cy="47548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" y="5157216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261872" y="5020056"/>
            <a:ext cx="10213848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17904" y="511149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导出证据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081528" y="5102352"/>
            <a:ext cx="8092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0738A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npm run knowledge -- workflow-report --run '&lt;run-id&gt;' --output './demo-report.json'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21792" y="5989320"/>
            <a:ext cx="10853928" cy="320040"/>
          </a:xfrm>
          <a:prstGeom prst="roundRect">
            <a:avLst/>
          </a:prstGeom>
          <a:solidFill>
            <a:srgbClr val="FFF0DB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6025896"/>
            <a:ext cx="10707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凭据只进运行时环境；不要写进仓库、PPT、Issue、示例 .env 或命令历史。</a:t>
            </a:r>
            <a:endParaRPr lang="en-US" sz="9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CUSTOMIZATION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A182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二次开发：允许调语气和策略，不允许换掉节点合同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EA8A2F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边界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Agents 页面；AgentCatalogService；agent-definitions.ts；仅 customizableFields=[promptAddon]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66928" y="1289304"/>
            <a:ext cx="3694176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pic>
        <p:nvPicPr>
          <p:cNvPr id="9" name="Image 0" descr="/root/projects/wpKnowledge/knowledge/3.workpanel/证据/演示素材/02-Agent有限定制-浅色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012" y="1426464"/>
            <a:ext cx="3186008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553712" y="1307592"/>
            <a:ext cx="324612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53712" y="1307592"/>
            <a:ext cx="64008" cy="1956816"/>
          </a:xfrm>
          <a:prstGeom prst="rect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64024" y="1426464"/>
            <a:ext cx="2907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可以改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773168" y="1911096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10328" y="1819656"/>
            <a:ext cx="27340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每个固定角色的 promptAddon（0–4000 字）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4773168" y="2249424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10328" y="2157984"/>
            <a:ext cx="27340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后续执行生效，revision 与审计可追踪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4773168" y="2587752"/>
            <a:ext cx="64008" cy="64008"/>
          </a:xfrm>
          <a:prstGeom prst="ellipse">
            <a:avLst/>
          </a:prstGeom>
          <a:solidFill>
            <a:srgbClr val="23A36D"/>
          </a:solidFill>
          <a:ln w="12700">
            <a:solidFill>
              <a:srgbClr val="23A36D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10328" y="2496312"/>
            <a:ext cx="27340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例如强调中文术语、引用格式、风险检查重点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8074152" y="1307592"/>
            <a:ext cx="3474720" cy="19568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74152" y="1307592"/>
            <a:ext cx="64008" cy="1956816"/>
          </a:xfrm>
          <a:prstGeom prst="rect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14264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不能从前台改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293608" y="1911096"/>
            <a:ext cx="64008" cy="64008"/>
          </a:xfrm>
          <a:prstGeom prst="ellipse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30768" y="1819656"/>
            <a:ext cx="29626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agentId、节点职责、拓扑和路由</a:t>
            </a:r>
            <a:endParaRPr lang="en-US" sz="970" dirty="0"/>
          </a:p>
        </p:txBody>
      </p:sp>
      <p:sp>
        <p:nvSpPr>
          <p:cNvPr id="24" name="Shape 21"/>
          <p:cNvSpPr/>
          <p:nvPr/>
        </p:nvSpPr>
        <p:spPr>
          <a:xfrm>
            <a:off x="8293608" y="2249424"/>
            <a:ext cx="64008" cy="64008"/>
          </a:xfrm>
          <a:prstGeom prst="ellipse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30768" y="2157984"/>
            <a:ext cx="29626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输入输出 JSON Schema、工具与文件权限</a:t>
            </a:r>
            <a:endParaRPr lang="en-US" sz="970" dirty="0"/>
          </a:p>
        </p:txBody>
      </p:sp>
      <p:sp>
        <p:nvSpPr>
          <p:cNvPr id="26" name="Shape 23"/>
          <p:cNvSpPr/>
          <p:nvPr/>
        </p:nvSpPr>
        <p:spPr>
          <a:xfrm>
            <a:off x="8293608" y="2587752"/>
            <a:ext cx="64008" cy="64008"/>
          </a:xfrm>
          <a:prstGeom prst="ellipse">
            <a:avLst/>
          </a:prstGeom>
          <a:solidFill>
            <a:srgbClr val="DB5A55"/>
          </a:solidFill>
          <a:ln w="12700">
            <a:solidFill>
              <a:srgbClr val="DB5A55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30768" y="2496312"/>
            <a:ext cx="29626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60738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Gate、Evaluator 和 Publication authority</a:t>
            </a:r>
            <a:endParaRPr lang="en-US" sz="970" dirty="0"/>
          </a:p>
        </p:txBody>
      </p:sp>
      <p:sp>
        <p:nvSpPr>
          <p:cNvPr id="28" name="Shape 25"/>
          <p:cNvSpPr/>
          <p:nvPr/>
        </p:nvSpPr>
        <p:spPr>
          <a:xfrm>
            <a:off x="4553712" y="3584448"/>
            <a:ext cx="6995160" cy="1316736"/>
          </a:xfrm>
          <a:prstGeom prst="roundRect">
            <a:avLst/>
          </a:prstGeom>
          <a:solidFill>
            <a:srgbClr val="0A1828"/>
          </a:solidFill>
          <a:ln w="12700">
            <a:solidFill>
              <a:srgbClr val="0A182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28032" y="381304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安全的定制流程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336792" y="3776472"/>
            <a:ext cx="491032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查看固定合同 → 写一段可验证的追加提示 → 在新 Run 试跑 → 对比 Eval / Gate → 保留或清空回滚</a:t>
            </a:r>
            <a:endParaRPr lang="en-US" sz="1020" dirty="0"/>
          </a:p>
        </p:txBody>
      </p:sp>
      <p:sp>
        <p:nvSpPr>
          <p:cNvPr id="31" name="Shape 28"/>
          <p:cNvSpPr/>
          <p:nvPr/>
        </p:nvSpPr>
        <p:spPr>
          <a:xfrm>
            <a:off x="4553712" y="5184648"/>
            <a:ext cx="6995160" cy="649224"/>
          </a:xfrm>
          <a:prstGeom prst="roundRect">
            <a:avLst/>
          </a:prstGeom>
          <a:solidFill>
            <a:srgbClr val="FFF0DB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828032" y="5340096"/>
            <a:ext cx="6464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23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如果要改节点职责、I/O 或权限，这不再是“提示词定制”，而是核心合同变更：必须先改 Spec，再改实现、测试和 PR。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468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ROADMAP + EVIDENCE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457200"/>
            <a:ext cx="9738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下一步：先扩大证据面，再谈生产化与通用项目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561320" y="411480"/>
            <a:ext cx="1051560" cy="274320"/>
          </a:xfrm>
          <a:prstGeom prst="roundRect">
            <a:avLst/>
          </a:prstGeom>
          <a:solidFill>
            <a:srgbClr val="8064DB"/>
          </a:solidFill>
          <a:ln w="12700">
            <a:solidFill>
              <a:srgbClr val="8064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44805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下一步</a:t>
            </a:r>
            <a:endParaRPr lang="en-US" sz="820" dirty="0"/>
          </a:p>
        </p:txBody>
      </p:sp>
      <p:sp>
        <p:nvSpPr>
          <p:cNvPr id="6" name="Shape 4"/>
          <p:cNvSpPr/>
          <p:nvPr/>
        </p:nvSpPr>
        <p:spPr>
          <a:xfrm>
            <a:off x="512064" y="1060704"/>
            <a:ext cx="11100816" cy="0"/>
          </a:xfrm>
          <a:prstGeom prst="line">
            <a:avLst/>
          </a:prstGeom>
          <a:noFill/>
          <a:ln w="12700">
            <a:solidFill>
              <a:srgbClr val="3151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6492240"/>
            <a:ext cx="10424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追踪矩阵：KF-SYS-025 已实现；KF-SYS-003 / NFR-009 仍部分完成；NFR-007 未完成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566928" y="1453896"/>
            <a:ext cx="566928" cy="274320"/>
          </a:xfrm>
          <a:prstGeom prst="roundRect">
            <a:avLst/>
          </a:prstGeom>
          <a:solidFill>
            <a:srgbClr val="DB5A55"/>
          </a:solidFill>
          <a:ln w="12700">
            <a:solidFill>
              <a:srgbClr val="DB5A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9047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98448" y="1280160"/>
            <a:ext cx="10222992" cy="685800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37160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 live Run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84448" y="1353312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 commit 多次执行，统计成功率、耗时、Token 与失败类型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2313432"/>
            <a:ext cx="566928" cy="274320"/>
          </a:xfrm>
          <a:prstGeom prst="roundRect">
            <a:avLst/>
          </a:prstGeom>
          <a:solidFill>
            <a:srgbClr val="DB5A55"/>
          </a:solidFill>
          <a:ln w="12700">
            <a:solidFill>
              <a:srgbClr val="DB5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5000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298448" y="2139696"/>
            <a:ext cx="10222992" cy="685800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72768" y="2231136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SDK 评测覆盖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584448" y="2212848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 1 / 1 扩成前端全测、构建和 Rust 测试；保留 Headless 295 / 295 对照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3172968"/>
            <a:ext cx="566928" cy="274320"/>
          </a:xfrm>
          <a:prstGeom prst="roundRect">
            <a:avLst/>
          </a:prstGeom>
          <a:solidFill>
            <a:srgbClr val="EA8A2F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20954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298448" y="2999232"/>
            <a:ext cx="10222992" cy="685800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30906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语义分块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584448" y="3072384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symbol / dependency graph、SCC、动态 worker、增量合并与覆盖 Gate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4032504"/>
            <a:ext cx="566928" cy="274320"/>
          </a:xfrm>
          <a:prstGeom prst="roundRect">
            <a:avLst/>
          </a:prstGeom>
          <a:solidFill>
            <a:srgbClr val="EA8A2F"/>
          </a:solidFill>
          <a:ln w="12700">
            <a:solidFill>
              <a:srgbClr val="EA8A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69080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98448" y="3858768"/>
            <a:ext cx="10222992" cy="685800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72768" y="395020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敌对代码沙箱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84448" y="393192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CPU / 内存 / 网络 / 系统调用 / 输出预算；未完成前只跑受信项目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4892040"/>
            <a:ext cx="566928" cy="274320"/>
          </a:xfrm>
          <a:prstGeom prst="roundRect">
            <a:avLst/>
          </a:prstGeom>
          <a:solidFill>
            <a:srgbClr val="8064DB"/>
          </a:solidFill>
          <a:ln w="12700">
            <a:solidFill>
              <a:srgbClr val="8064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928616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298448" y="4718304"/>
            <a:ext cx="10222992" cy="685800"/>
          </a:xfrm>
          <a:prstGeom prst="roundRect">
            <a:avLst/>
          </a:prstGeom>
          <a:solidFill>
            <a:srgbClr val="112A42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72768" y="4809744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通用项目向导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584448" y="4791456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AFC2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把固定 profile 演进为显式策略、来源、语言插件和评测配置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" y="5742432"/>
            <a:ext cx="10972800" cy="457200"/>
          </a:xfrm>
          <a:prstGeom prst="roundRect">
            <a:avLst/>
          </a:prstGeom>
          <a:solidFill>
            <a:srgbClr val="183B59"/>
          </a:solidFill>
          <a:ln w="12700">
            <a:solidFill>
              <a:srgbClr val="3151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2104" y="5852160"/>
            <a:ext cx="104424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24C8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证据入口：三次运行记录 · 两份脱敏 JSON · 深/浅色 Console 截图 · 可编辑 PPT 源文件</a:t>
            </a:r>
            <a:endParaRPr lang="en-US" sz="1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510528"/>
            <a:ext cx="32004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0738A"/>
                </a:solidFill>
                <a:latin typeface="Noto Sans CJK SC"/>
                <a:ea typeface="Noto Sans CJK SC"/>
                <a:cs typeface="Noto Sans CJK S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linlisWorkTeam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当前wpKnowledge知识飞轮方案</dc:title>
  <dc:subject>wpKnowledge 知识飞轮真实 DSH SDK 演示、使用与 Agent 二次开发</dc:subject>
  <dc:creator>wpKnowledge project team</dc:creator>
  <cp:lastModifiedBy>wpKnowledge project team</cp:lastModifiedBy>
  <cp:revision>1</cp:revision>
  <dcterms:created xsi:type="dcterms:W3CDTF">2026-09-02T08:30:56Z</dcterms:created>
  <dcterms:modified xsi:type="dcterms:W3CDTF">2026-09-02T08:30:56Z</dcterms:modified>
</cp:coreProperties>
</file>